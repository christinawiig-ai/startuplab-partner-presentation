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FORSIDE. Bytt bilde: høyreklikk på bildet &gt; Endre bilde &gt; Fra en fil. Velg et bilde med et rolig parti nede til venstre, ellers konkurrerer motivet med tittelen. Vil du flytte det røde ordet: marker ordet og sett skriftfargen til rød (FF3333).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Fire rader er dimensjonert for plassen. Trenger du fem, marker alle radene og minsk avstanden mellom dem til ca. 0,8 tommer først, ellers havner den nederste raden oppå logoen.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SEKSJONSSKILLE. Bruk mellom hoveddeler så publikum får en pause og vet hvor de er. Maks to korte linjer, ellers mister plakaten kraften.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STORT TALL. Ett tall per slide. Skal publikum huske to tall, bruk to slides. Teksten til høyre er der for å oppgi kilde og forbehold, ikke for et nytt poeng.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TALLREKKE. Tre tall er maks. Rund av: publikum husker 4 000, ikke 4 037. Hold hver verdi kort, lange verdier brekker over to linjer og dytter etiketten 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HELFLATE-BILDE. Sløret over bildet er en egen firkant: klikk den og juster gjennomsiktigheten hvis ditt bilde er lysere eller mørkere enn dette.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TEKST OG BILDE. Bildet går helt ut til kanten med vilje, ikke krymp det inn i en ramme. Vil du ha bildet på venstre side: flytt bildet til x = 0 og tekstblokken til høyre halvdel.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PROGRAMKORT. Fem kort er maks på bredden. Trenger du fire, slett ett kort og dra de andre utover så mellomrommene blir like. Bytter du ut et bilde, kjør prepare-media.py på det først: den legger alle kortbildene i samme lysstyrke og fargestyrke, ellers spriker raden.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PUNKTGRID. Seks er taket. Hold hver beskrivelse til to linjer, ellers kolliderer nederste rad med logoen.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KAPITTELSKILLE. To ting å endre per kapittel: det store tallet til høyre, og hvilket tall i rekken som er rødt (marker det og sett rød FF3333, og sett det forrige tilbake til grå 9BA1A5). Kickeren står bare «Kapittel», så du slipper å endre den også. Vil du heller ha temaet for delen der, skriv det inn. Har du flere eller færre enn fem kapitler, legg til eller slett tall i rekken.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TEKST OG BILDERUTENETT. Fire liggende bilder i 2x2 med forklaringen samlet på venstre side, i stedet for bildetekst under hvert bilde. Bytt bilde: høyreklikk &gt; Endre bilde, utsnittet beholdes. Vil du ha bildene til venstre og teksten til høyre: marker alle fire bildene og dra dem over, og flytt tekstblokken motsatt vei. Kjør prepare-media.py på nye bilder, så får de samme lysstyrke som de 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UTSAGN. Én setning, maks tre linjer. Dette er sliden du lar henge i stillhet et par sekunder før du snakker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SITAT. Hold sitatet under 25 ord, ellers slutter salen å lese før du er ferdig å snakke. Både sitatet og navnet er plassholdere: bytt dem før du presenterer. Sirkelen er rundt maskert, så et innsatt portrett beholder 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BILDERAD. Bildeteksten ligger under bildet, ikke oppå det, nettopp for å være lesbar fra bakerste rad. Overskriften i hvitt er 20 pt, forklaringen 18 pt. Bytt bilde: høyreklikk &gt; Endre bilde, utsnittet beholdes. Vil du ha fire bilder i stedet for tre: marker et bilde med tekstene under, kopier settet, og sett bildebredden til 2,6 tommer på alle fire. Hold forklaringen til to linjer, ellers treffer den logoen. Kjør prepare-media.py på nye bilder, så legges de i samme lysstyrke som de 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PROSESS. Det røde tallet viser hvor i løpet du er. Flytt den røde fargen til neste steg hvis du gjenbruker sliden lenger ut i presentasjonen.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FOLK. Fire portretter spenner fra marg til marg. Bytt portrett: høyreklikk &gt; Endre bilde, den runde masken følger med. Den grå sirkelen er en ledig plass. Sjekk at rollene stemmer før du presenterer.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 Slik legger du inn filmen: Sett inn &gt; Video &gt; Denne enheten. Dra filmen så den dekker hele flaten, høyreklikk &gt; Send bakover slik at tittelen og avspillingsmerket blir liggende oppå. Under Avspilling velger du Start automatisk hvis den skal gå av seg selv. Slett den røde sirkelen og trekanten når den ekte filmen er på plass.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 La den stå på skjermen mens du tar spørsmål. Legg til e-post eller kontaktperson på linjen under nettadressen hvis salen skal kunne følge opp.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Code\Work\startuplab-partner-presentation\pptx-templates\media\cove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505">
              <a:alpha val="54000"/>
            </a:srgbClr>
          </a:solidFill>
          <a:ln/>
        </p:spPr>
      </p:sp>
      <p:sp>
        <p:nvSpPr>
          <p:cNvPr id="4" name="Text 1"/>
          <p:cNvSpPr/>
          <p:nvPr/>
        </p:nvSpPr>
        <p:spPr>
          <a:xfrm>
            <a:off x="777240" y="3611880"/>
            <a:ext cx="8229600"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STARTUPLAB · PARTNER GATHERING</a:t>
            </a:r>
            <a:endParaRPr lang="en-US" sz="1600" dirty="0"/>
          </a:p>
        </p:txBody>
      </p:sp>
      <p:sp>
        <p:nvSpPr>
          <p:cNvPr id="5" name="Text 2"/>
          <p:cNvSpPr/>
          <p:nvPr/>
        </p:nvSpPr>
        <p:spPr>
          <a:xfrm>
            <a:off x="777240" y="4005072"/>
            <a:ext cx="9692640" cy="1600200"/>
          </a:xfrm>
          <a:prstGeom prst="rect">
            <a:avLst/>
          </a:prstGeom>
          <a:noFill/>
          <a:ln/>
        </p:spPr>
        <p:txBody>
          <a:bodyPr wrap="square" lIns="0" tIns="0" rIns="0" bIns="0" rtlCol="0" anchor="t"/>
          <a:lstStyle/>
          <a:p>
            <a:pPr indent="0" marL="0">
              <a:lnSpc>
                <a:spcPct val="92000"/>
              </a:lnSpc>
              <a:buNone/>
            </a:pPr>
            <a:r>
              <a:rPr lang="en-US" sz="5400" dirty="0">
                <a:solidFill>
                  <a:srgbClr val="FFFFFF"/>
                </a:solidFill>
                <a:latin typeface="Replica LL TT Heavy" pitchFamily="34" charset="0"/>
                <a:ea typeface="Replica LL TT Heavy" pitchFamily="34" charset="-122"/>
                <a:cs typeface="Replica LL TT Heavy" pitchFamily="34" charset="-120"/>
              </a:rPr>
              <a:t>Bygger det </a:t>
            </a:r>
            <a:pPr indent="0" marL="0">
              <a:lnSpc>
                <a:spcPct val="92000"/>
              </a:lnSpc>
              <a:buNone/>
            </a:pPr>
            <a:r>
              <a:rPr lang="en-US" sz="5400" dirty="0">
                <a:solidFill>
                  <a:srgbClr val="FF3333"/>
                </a:solidFill>
                <a:latin typeface="Replica LL TT Heavy" pitchFamily="34" charset="0"/>
                <a:ea typeface="Replica LL TT Heavy" pitchFamily="34" charset="-122"/>
                <a:cs typeface="Replica LL TT Heavy" pitchFamily="34" charset="-120"/>
              </a:rPr>
              <a:t>neste</a:t>
            </a:r>
            <a:pPr indent="0" marL="0">
              <a:lnSpc>
                <a:spcPct val="92000"/>
              </a:lnSpc>
              <a:buNone/>
            </a:pPr>
            <a:r>
              <a:rPr lang="en-US" sz="5400" dirty="0">
                <a:solidFill>
                  <a:srgbClr val="FFFFFF"/>
                </a:solidFill>
                <a:latin typeface="Replica LL TT Heavy" pitchFamily="34" charset="0"/>
                <a:ea typeface="Replica LL TT Heavy" pitchFamily="34" charset="-122"/>
                <a:cs typeface="Replica LL TT Heavy" pitchFamily="34" charset="-120"/>
              </a:rPr>
              <a:t> kapittelet</a:t>
            </a:r>
            <a:endParaRPr lang="en-US" sz="5400" dirty="0"/>
          </a:p>
        </p:txBody>
      </p:sp>
      <p:pic>
        <p:nvPicPr>
          <p:cNvPr id="6" name="Image 1" descr="C:\Code\Work\startuplab-partner-presentation\pptx-templates\media\logo-white.png">    </p:cNvPr>
          <p:cNvPicPr>
            <a:picLocks noChangeAspect="1"/>
          </p:cNvPicPr>
          <p:nvPr/>
        </p:nvPicPr>
        <p:blipFill>
          <a:blip r:embed="rId2"/>
          <a:stretch>
            <a:fillRect/>
          </a:stretch>
        </p:blipFill>
        <p:spPr>
          <a:xfrm>
            <a:off x="777240" y="6035040"/>
            <a:ext cx="843006" cy="310896"/>
          </a:xfrm>
          <a:prstGeom prst="rect">
            <a:avLst/>
          </a:prstGeom>
        </p:spPr>
      </p:pic>
      <p:sp>
        <p:nvSpPr>
          <p:cNvPr id="7" name="Text 3"/>
          <p:cNvSpPr/>
          <p:nvPr/>
        </p:nvSpPr>
        <p:spPr>
          <a:xfrm>
            <a:off x="7299655" y="6016752"/>
            <a:ext cx="4114800" cy="402336"/>
          </a:xfrm>
          <a:prstGeom prst="rect">
            <a:avLst/>
          </a:prstGeom>
          <a:noFill/>
          <a:ln/>
        </p:spPr>
        <p:txBody>
          <a:bodyPr wrap="square" lIns="0" tIns="0" rIns="0" bIns="0" rtlCol="0" anchor="ctr"/>
          <a:lstStyle/>
          <a:p>
            <a:pPr algn="r" indent="0" marL="0">
              <a:buNone/>
            </a:pPr>
            <a:r>
              <a:rPr lang="en-US" sz="1800" dirty="0">
                <a:solidFill>
                  <a:srgbClr val="FFFFFF"/>
                </a:solidFill>
                <a:latin typeface="Inter" pitchFamily="34" charset="0"/>
                <a:ea typeface="Inter" pitchFamily="34" charset="-122"/>
                <a:cs typeface="Inter" pitchFamily="34" charset="-120"/>
              </a:rPr>
              <a:t>Oslo · januar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AGENDA</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Dagens program</a:t>
            </a:r>
            <a:endParaRPr lang="en-US" sz="4000" dirty="0"/>
          </a:p>
        </p:txBody>
      </p:sp>
      <p:sp>
        <p:nvSpPr>
          <p:cNvPr id="4" name="Text 2"/>
          <p:cNvSpPr/>
          <p:nvPr/>
        </p:nvSpPr>
        <p:spPr>
          <a:xfrm>
            <a:off x="777240" y="2286000"/>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01</a:t>
            </a:r>
            <a:endParaRPr lang="en-US" sz="2800" dirty="0"/>
          </a:p>
        </p:txBody>
      </p:sp>
      <p:sp>
        <p:nvSpPr>
          <p:cNvPr id="5" name="Text 3"/>
          <p:cNvSpPr/>
          <p:nvPr/>
        </p:nvSpPr>
        <p:spPr>
          <a:xfrm>
            <a:off x="1737360" y="2286000"/>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Velkommen og formål</a:t>
            </a:r>
            <a:endParaRPr lang="en-US" sz="2600" dirty="0"/>
          </a:p>
        </p:txBody>
      </p:sp>
      <p:sp>
        <p:nvSpPr>
          <p:cNvPr id="6" name="Text 4"/>
          <p:cNvSpPr/>
          <p:nvPr/>
        </p:nvSpPr>
        <p:spPr>
          <a:xfrm>
            <a:off x="7635240" y="2286000"/>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Ove · 10 min</a:t>
            </a:r>
            <a:endParaRPr lang="en-US" sz="2000" dirty="0"/>
          </a:p>
        </p:txBody>
      </p:sp>
      <p:sp>
        <p:nvSpPr>
          <p:cNvPr id="7" name="Text 5"/>
          <p:cNvSpPr/>
          <p:nvPr/>
        </p:nvSpPr>
        <p:spPr>
          <a:xfrm>
            <a:off x="777240" y="3182112"/>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02</a:t>
            </a:r>
            <a:endParaRPr lang="en-US" sz="2800" dirty="0"/>
          </a:p>
        </p:txBody>
      </p:sp>
      <p:sp>
        <p:nvSpPr>
          <p:cNvPr id="8" name="Text 6"/>
          <p:cNvSpPr/>
          <p:nvPr/>
        </p:nvSpPr>
        <p:spPr>
          <a:xfrm>
            <a:off x="1737360" y="3182112"/>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Året som gikk</a:t>
            </a:r>
            <a:endParaRPr lang="en-US" sz="2600" dirty="0"/>
          </a:p>
        </p:txBody>
      </p:sp>
      <p:sp>
        <p:nvSpPr>
          <p:cNvPr id="9" name="Text 7"/>
          <p:cNvSpPr/>
          <p:nvPr/>
        </p:nvSpPr>
        <p:spPr>
          <a:xfrm>
            <a:off x="7635240" y="3182112"/>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Christina · 15 min</a:t>
            </a:r>
            <a:endParaRPr lang="en-US" sz="2000" dirty="0"/>
          </a:p>
        </p:txBody>
      </p:sp>
      <p:sp>
        <p:nvSpPr>
          <p:cNvPr id="10" name="Text 8"/>
          <p:cNvSpPr/>
          <p:nvPr/>
        </p:nvSpPr>
        <p:spPr>
          <a:xfrm>
            <a:off x="777240" y="4078224"/>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03</a:t>
            </a:r>
            <a:endParaRPr lang="en-US" sz="2800" dirty="0"/>
          </a:p>
        </p:txBody>
      </p:sp>
      <p:sp>
        <p:nvSpPr>
          <p:cNvPr id="11" name="Text 9"/>
          <p:cNvSpPr/>
          <p:nvPr/>
        </p:nvSpPr>
        <p:spPr>
          <a:xfrm>
            <a:off x="1737360" y="4078224"/>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Nye industriprogrammer</a:t>
            </a:r>
            <a:endParaRPr lang="en-US" sz="2600" dirty="0"/>
          </a:p>
        </p:txBody>
      </p:sp>
      <p:sp>
        <p:nvSpPr>
          <p:cNvPr id="12" name="Text 10"/>
          <p:cNvSpPr/>
          <p:nvPr/>
        </p:nvSpPr>
        <p:spPr>
          <a:xfrm>
            <a:off x="7635240" y="4078224"/>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Ola · 15 min</a:t>
            </a:r>
            <a:endParaRPr lang="en-US" sz="2000" dirty="0"/>
          </a:p>
        </p:txBody>
      </p:sp>
      <p:sp>
        <p:nvSpPr>
          <p:cNvPr id="13" name="Text 11"/>
          <p:cNvSpPr/>
          <p:nvPr/>
        </p:nvSpPr>
        <p:spPr>
          <a:xfrm>
            <a:off x="777240" y="4974336"/>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04</a:t>
            </a:r>
            <a:endParaRPr lang="en-US" sz="2800" dirty="0"/>
          </a:p>
        </p:txBody>
      </p:sp>
      <p:sp>
        <p:nvSpPr>
          <p:cNvPr id="14" name="Text 12"/>
          <p:cNvSpPr/>
          <p:nvPr/>
        </p:nvSpPr>
        <p:spPr>
          <a:xfrm>
            <a:off x="1737360" y="4974336"/>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Arbeidsøkt i grupper</a:t>
            </a:r>
            <a:endParaRPr lang="en-US" sz="2600" dirty="0"/>
          </a:p>
        </p:txBody>
      </p:sp>
      <p:sp>
        <p:nvSpPr>
          <p:cNvPr id="15" name="Text 13"/>
          <p:cNvSpPr/>
          <p:nvPr/>
        </p:nvSpPr>
        <p:spPr>
          <a:xfrm>
            <a:off x="7635240" y="4974336"/>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Alle · 45 min</a:t>
            </a:r>
            <a:endParaRPr lang="en-US" sz="20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3333"/>
        </a:solidFill>
      </p:bgPr>
    </p:bg>
    <p:spTree>
      <p:nvGrpSpPr>
        <p:cNvPr id="1" name=""/>
        <p:cNvGrpSpPr/>
        <p:nvPr/>
      </p:nvGrpSpPr>
      <p:grpSpPr>
        <a:xfrm>
          <a:off x="0" y="0"/>
          <a:ext cx="0" cy="0"/>
          <a:chOff x="0" y="0"/>
          <a:chExt cx="0" cy="0"/>
        </a:xfrm>
      </p:grpSpPr>
      <p:sp>
        <p:nvSpPr>
          <p:cNvPr id="2" name="Text 0"/>
          <p:cNvSpPr/>
          <p:nvPr/>
        </p:nvSpPr>
        <p:spPr>
          <a:xfrm>
            <a:off x="777240" y="2148840"/>
            <a:ext cx="10637215"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DEL TO</a:t>
            </a:r>
            <a:endParaRPr lang="en-US" sz="1600" dirty="0"/>
          </a:p>
        </p:txBody>
      </p:sp>
      <p:sp>
        <p:nvSpPr>
          <p:cNvPr id="3" name="Text 1"/>
          <p:cNvSpPr/>
          <p:nvPr/>
        </p:nvSpPr>
        <p:spPr>
          <a:xfrm>
            <a:off x="777240" y="2542032"/>
            <a:ext cx="10637215" cy="2377440"/>
          </a:xfrm>
          <a:prstGeom prst="rect">
            <a:avLst/>
          </a:prstGeom>
          <a:noFill/>
          <a:ln/>
        </p:spPr>
        <p:txBody>
          <a:bodyPr wrap="square" lIns="0" tIns="0" rIns="0" bIns="0" rtlCol="0" anchor="t"/>
          <a:lstStyle/>
          <a:p>
            <a:pPr indent="0" marL="0">
              <a:lnSpc>
                <a:spcPct val="85000"/>
              </a:lnSpc>
              <a:buNone/>
            </a:pPr>
            <a:r>
              <a:rPr lang="en-US" sz="9200" dirty="0">
                <a:solidFill>
                  <a:srgbClr val="FFFFFF"/>
                </a:solidFill>
                <a:latin typeface="Replica LL TT Heavy" pitchFamily="34" charset="0"/>
                <a:ea typeface="Replica LL TT Heavy" pitchFamily="34" charset="-122"/>
                <a:cs typeface="Replica LL TT Heavy" pitchFamily="34" charset="-120"/>
              </a:rPr>
              <a:t>2025</a:t>
            </a:r>
            <a:endParaRPr lang="en-US" sz="9200" dirty="0"/>
          </a:p>
          <a:p>
            <a:pPr indent="0" marL="0">
              <a:lnSpc>
                <a:spcPct val="85000"/>
              </a:lnSpc>
              <a:buNone/>
            </a:pPr>
            <a:r>
              <a:rPr lang="en-US" sz="9200" dirty="0">
                <a:solidFill>
                  <a:srgbClr val="FFFFFF"/>
                </a:solidFill>
                <a:latin typeface="Replica LL TT Heavy" pitchFamily="34" charset="0"/>
                <a:ea typeface="Replica LL TT Heavy" pitchFamily="34" charset="-122"/>
                <a:cs typeface="Replica LL TT Heavy" pitchFamily="34" charset="-120"/>
              </a:rPr>
              <a:t>I KORTE TREKK</a:t>
            </a:r>
            <a:endParaRPr lang="en-US" sz="9200" dirty="0"/>
          </a:p>
        </p:txBody>
      </p:sp>
      <p:pic>
        <p:nvPicPr>
          <p:cNvPr id="4"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1828800"/>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SIDEN 2012</a:t>
            </a:r>
            <a:endParaRPr lang="en-US" sz="1600" dirty="0"/>
          </a:p>
        </p:txBody>
      </p:sp>
      <p:sp>
        <p:nvSpPr>
          <p:cNvPr id="3" name="Text 1"/>
          <p:cNvSpPr/>
          <p:nvPr/>
        </p:nvSpPr>
        <p:spPr>
          <a:xfrm>
            <a:off x="777240" y="2121408"/>
            <a:ext cx="5852160" cy="1920240"/>
          </a:xfrm>
          <a:prstGeom prst="rect">
            <a:avLst/>
          </a:prstGeom>
          <a:noFill/>
          <a:ln/>
        </p:spPr>
        <p:txBody>
          <a:bodyPr wrap="square" lIns="0" tIns="0" rIns="0" bIns="0" rtlCol="0" anchor="t"/>
          <a:lstStyle/>
          <a:p>
            <a:pPr indent="0" marL="0">
              <a:lnSpc>
                <a:spcPct val="80000"/>
              </a:lnSpc>
              <a:buNone/>
            </a:pPr>
            <a:r>
              <a:rPr lang="en-US" sz="15000" dirty="0">
                <a:solidFill>
                  <a:srgbClr val="FF3333"/>
                </a:solidFill>
                <a:latin typeface="Replica LL TT Heavy" pitchFamily="34" charset="0"/>
                <a:ea typeface="Replica LL TT Heavy" pitchFamily="34" charset="-122"/>
                <a:cs typeface="Replica LL TT Heavy" pitchFamily="34" charset="-120"/>
              </a:rPr>
              <a:t>200+</a:t>
            </a:r>
            <a:endParaRPr lang="en-US" sz="15000" dirty="0"/>
          </a:p>
        </p:txBody>
      </p:sp>
      <p:sp>
        <p:nvSpPr>
          <p:cNvPr id="4" name="Text 2"/>
          <p:cNvSpPr/>
          <p:nvPr/>
        </p:nvSpPr>
        <p:spPr>
          <a:xfrm>
            <a:off x="777240" y="3950208"/>
            <a:ext cx="5669280" cy="1051560"/>
          </a:xfrm>
          <a:prstGeom prst="rect">
            <a:avLst/>
          </a:prstGeom>
          <a:noFill/>
          <a:ln/>
        </p:spPr>
        <p:txBody>
          <a:bodyPr wrap="square" lIns="0" tIns="0" rIns="0" bIns="0" rtlCol="0" anchor="t"/>
          <a:lstStyle/>
          <a:p>
            <a:pPr indent="0" marL="0">
              <a:lnSpc>
                <a:spcPct val="105000"/>
              </a:lnSpc>
              <a:buNone/>
            </a:pPr>
            <a:r>
              <a:rPr lang="en-US" sz="2700" b="1" dirty="0">
                <a:solidFill>
                  <a:srgbClr val="FFFFFF"/>
                </a:solidFill>
                <a:latin typeface="Replica LL TT" pitchFamily="34" charset="0"/>
                <a:ea typeface="Replica LL TT" pitchFamily="34" charset="-122"/>
                <a:cs typeface="Replica LL TT" pitchFamily="34" charset="-120"/>
              </a:rPr>
              <a:t>investeringer i norske</a:t>
            </a:r>
            <a:endParaRPr lang="en-US" sz="2700" dirty="0"/>
          </a:p>
          <a:p>
            <a:pPr indent="0" marL="0">
              <a:lnSpc>
                <a:spcPct val="105000"/>
              </a:lnSpc>
              <a:buNone/>
            </a:pPr>
            <a:r>
              <a:rPr lang="en-US" sz="2700" b="1" dirty="0">
                <a:solidFill>
                  <a:srgbClr val="FFFFFF"/>
                </a:solidFill>
                <a:latin typeface="Replica LL TT" pitchFamily="34" charset="0"/>
                <a:ea typeface="Replica LL TT" pitchFamily="34" charset="-122"/>
                <a:cs typeface="Replica LL TT" pitchFamily="34" charset="-120"/>
              </a:rPr>
              <a:t>tidligfaseselskaper</a:t>
            </a:r>
            <a:endParaRPr lang="en-US" sz="2700" dirty="0"/>
          </a:p>
        </p:txBody>
      </p:sp>
      <p:sp>
        <p:nvSpPr>
          <p:cNvPr id="5" name="Text 3"/>
          <p:cNvSpPr/>
          <p:nvPr/>
        </p:nvSpPr>
        <p:spPr>
          <a:xfrm>
            <a:off x="7223760" y="2121408"/>
            <a:ext cx="4160520" cy="2103120"/>
          </a:xfrm>
          <a:prstGeom prst="rect">
            <a:avLst/>
          </a:prstGeom>
          <a:noFill/>
          <a:ln/>
        </p:spPr>
        <p:txBody>
          <a:bodyPr wrap="square" lIns="0" tIns="0" rIns="0" bIns="0" rtlCol="0" anchor="t"/>
          <a:lstStyle/>
          <a:p>
            <a:pPr indent="0" marL="0">
              <a:lnSpc>
                <a:spcPct val="135000"/>
              </a:lnSpc>
              <a:buNone/>
            </a:pPr>
            <a:r>
              <a:rPr lang="en-US" sz="2000" dirty="0">
                <a:solidFill>
                  <a:srgbClr val="9BA1A5"/>
                </a:solidFill>
                <a:latin typeface="Inter" pitchFamily="34" charset="0"/>
                <a:ea typeface="Inter" pitchFamily="34" charset="-122"/>
                <a:cs typeface="Inter" pitchFamily="34" charset="-120"/>
              </a:rPr>
              <a:t>Porteføljen har passert 12,2 milliarder kroner i samlet omsetning. Tallet hentes fra Northbase og oppdateres hvert kvartal.</a:t>
            </a:r>
            <a:endParaRPr lang="en-US" sz="2000" dirty="0"/>
          </a:p>
        </p:txBody>
      </p:sp>
      <p:pic>
        <p:nvPicPr>
          <p:cNvPr id="6"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STARTUPLAB I TALL</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Tretten år, oppsummert i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tre tall</a:t>
            </a:r>
            <a:endParaRPr lang="en-US" sz="4000" dirty="0"/>
          </a:p>
        </p:txBody>
      </p:sp>
      <p:sp>
        <p:nvSpPr>
          <p:cNvPr id="4" name="Text 2"/>
          <p:cNvSpPr/>
          <p:nvPr/>
        </p:nvSpPr>
        <p:spPr>
          <a:xfrm>
            <a:off x="777240"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4 000+</a:t>
            </a:r>
            <a:endParaRPr lang="en-US" sz="5600" dirty="0"/>
          </a:p>
        </p:txBody>
      </p:sp>
      <p:sp>
        <p:nvSpPr>
          <p:cNvPr id="5" name="Text 3"/>
          <p:cNvSpPr/>
          <p:nvPr/>
        </p:nvSpPr>
        <p:spPr>
          <a:xfrm>
            <a:off x="777240"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selskaper i nettverket</a:t>
            </a:r>
            <a:endParaRPr lang="en-US" sz="2200" dirty="0"/>
          </a:p>
        </p:txBody>
      </p:sp>
      <p:sp>
        <p:nvSpPr>
          <p:cNvPr id="6" name="Text 4"/>
          <p:cNvSpPr/>
          <p:nvPr/>
        </p:nvSpPr>
        <p:spPr>
          <a:xfrm>
            <a:off x="4566818"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200+</a:t>
            </a:r>
            <a:endParaRPr lang="en-US" sz="5600" dirty="0"/>
          </a:p>
        </p:txBody>
      </p:sp>
      <p:sp>
        <p:nvSpPr>
          <p:cNvPr id="7" name="Text 5"/>
          <p:cNvSpPr/>
          <p:nvPr/>
        </p:nvSpPr>
        <p:spPr>
          <a:xfrm>
            <a:off x="4566818"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investeringer gjort</a:t>
            </a:r>
            <a:endParaRPr lang="en-US" sz="2200" dirty="0"/>
          </a:p>
        </p:txBody>
      </p:sp>
      <p:sp>
        <p:nvSpPr>
          <p:cNvPr id="8" name="Text 6"/>
          <p:cNvSpPr/>
          <p:nvPr/>
        </p:nvSpPr>
        <p:spPr>
          <a:xfrm>
            <a:off x="8356397"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12,2 mrd</a:t>
            </a:r>
            <a:endParaRPr lang="en-US" sz="5600" dirty="0"/>
          </a:p>
        </p:txBody>
      </p:sp>
      <p:sp>
        <p:nvSpPr>
          <p:cNvPr id="9" name="Text 7"/>
          <p:cNvSpPr/>
          <p:nvPr/>
        </p:nvSpPr>
        <p:spPr>
          <a:xfrm>
            <a:off x="8356397"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kroner i omsetning</a:t>
            </a:r>
            <a:endParaRPr lang="en-US" sz="2200" dirty="0"/>
          </a:p>
        </p:txBody>
      </p:sp>
      <p:pic>
        <p:nvPicPr>
          <p:cNvPr id="10"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Code\Work\startuplab-partner-presentation\pptx-templates\media\fullbleed.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505">
              <a:alpha val="62000"/>
            </a:srgbClr>
          </a:solidFill>
          <a:ln/>
        </p:spPr>
      </p:sp>
      <p:sp>
        <p:nvSpPr>
          <p:cNvPr id="4" name="Text 1"/>
          <p:cNvSpPr/>
          <p:nvPr/>
        </p:nvSpPr>
        <p:spPr>
          <a:xfrm>
            <a:off x="777240" y="3931920"/>
            <a:ext cx="8229600"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STARTUPLAB SUMMIT</a:t>
            </a:r>
            <a:endParaRPr lang="en-US" sz="1600" dirty="0"/>
          </a:p>
        </p:txBody>
      </p:sp>
      <p:sp>
        <p:nvSpPr>
          <p:cNvPr id="5" name="Text 2"/>
          <p:cNvSpPr/>
          <p:nvPr/>
        </p:nvSpPr>
        <p:spPr>
          <a:xfrm>
            <a:off x="777240" y="4325112"/>
            <a:ext cx="8961120" cy="137160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Der partnere og gründere</a:t>
            </a:r>
            <a:endParaRPr lang="en-US" sz="4000" dirty="0"/>
          </a:p>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faktisk møtes</a:t>
            </a:r>
            <a:endParaRPr lang="en-US" sz="4000" dirty="0"/>
          </a:p>
        </p:txBody>
      </p:sp>
      <p:pic>
        <p:nvPicPr>
          <p:cNvPr id="6" name="Image 1" descr="C:\Code\Work\startuplab-partner-presentation\pptx-templates\media\logo-white.png">    </p:cNvPr>
          <p:cNvPicPr>
            <a:picLocks noChangeAspect="1"/>
          </p:cNvPicPr>
          <p:nvPr/>
        </p:nvPicPr>
        <p:blipFill>
          <a:blip r:embed="rId2"/>
          <a:stretch>
            <a:fillRect/>
          </a:stretch>
        </p:blipFill>
        <p:spPr>
          <a:xfrm>
            <a:off x="777240" y="6035040"/>
            <a:ext cx="84300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Code\Work\startuplab-partner-presentation\pptx-templates\media\split.jpg">    </p:cNvPr>
          <p:cNvPicPr>
            <a:picLocks noChangeAspect="1"/>
          </p:cNvPicPr>
          <p:nvPr/>
        </p:nvPicPr>
        <p:blipFill>
          <a:blip r:embed="rId1"/>
          <a:srcRect l="0" r="0" t="0" b="0"/>
          <a:stretch/>
        </p:blipFill>
        <p:spPr>
          <a:xfrm>
            <a:off x="6355080" y="0"/>
            <a:ext cx="5836615" cy="6858000"/>
          </a:xfrm>
          <a:prstGeom prst="rect">
            <a:avLst/>
          </a:prstGeom>
        </p:spPr>
      </p:pic>
      <p:sp>
        <p:nvSpPr>
          <p:cNvPr id="3" name="Text 0"/>
          <p:cNvSpPr/>
          <p:nvPr/>
        </p:nvSpPr>
        <p:spPr>
          <a:xfrm>
            <a:off x="777240" y="1783080"/>
            <a:ext cx="484632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SLIK JOBBER VI</a:t>
            </a:r>
            <a:endParaRPr lang="en-US" sz="1600" dirty="0"/>
          </a:p>
        </p:txBody>
      </p:sp>
      <p:sp>
        <p:nvSpPr>
          <p:cNvPr id="4" name="Text 1"/>
          <p:cNvSpPr/>
          <p:nvPr/>
        </p:nvSpPr>
        <p:spPr>
          <a:xfrm>
            <a:off x="777240" y="2176272"/>
            <a:ext cx="4937760" cy="1371600"/>
          </a:xfrm>
          <a:prstGeom prst="rect">
            <a:avLst/>
          </a:prstGeom>
          <a:noFill/>
          <a:ln/>
        </p:spPr>
        <p:txBody>
          <a:bodyPr wrap="square" lIns="0" tIns="0" rIns="0" bIns="0" rtlCol="0" anchor="t"/>
          <a:lstStyle/>
          <a:p>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Fra første møte</a:t>
            </a:r>
            <a:endParaRPr lang="en-US" sz="3400" dirty="0"/>
          </a:p>
          <a:p>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til signert </a:t>
            </a:r>
            <a:pPr indent="0" marL="0">
              <a:lnSpc>
                <a:spcPct val="102000"/>
              </a:lnSpc>
              <a:buNone/>
            </a:pPr>
            <a:r>
              <a:rPr lang="en-US" sz="3400" b="1" dirty="0">
                <a:solidFill>
                  <a:srgbClr val="FF3333"/>
                </a:solidFill>
                <a:latin typeface="Replica LL TT" pitchFamily="34" charset="0"/>
                <a:ea typeface="Replica LL TT" pitchFamily="34" charset="-122"/>
                <a:cs typeface="Replica LL TT" pitchFamily="34" charset="-120"/>
              </a:rPr>
              <a:t>pilot</a:t>
            </a:r>
            <a:endParaRPr lang="en-US" sz="3400" dirty="0"/>
          </a:p>
        </p:txBody>
      </p:sp>
      <p:sp>
        <p:nvSpPr>
          <p:cNvPr id="5" name="Text 2"/>
          <p:cNvSpPr/>
          <p:nvPr/>
        </p:nvSpPr>
        <p:spPr>
          <a:xfrm>
            <a:off x="777240" y="3794760"/>
            <a:ext cx="4800600" cy="1645920"/>
          </a:xfrm>
          <a:prstGeom prst="rect">
            <a:avLst/>
          </a:prstGeom>
          <a:noFill/>
          <a:ln/>
        </p:spPr>
        <p:txBody>
          <a:bodyPr wrap="square" lIns="0" tIns="0" rIns="0" bIns="0" rtlCol="0" anchor="t"/>
          <a:lstStyle/>
          <a:p>
            <a:pPr indent="0" marL="0">
              <a:lnSpc>
                <a:spcPct val="140000"/>
              </a:lnSpc>
              <a:buNone/>
            </a:pPr>
            <a:r>
              <a:rPr lang="en-US" sz="2000" dirty="0">
                <a:solidFill>
                  <a:srgbClr val="131415"/>
                </a:solidFill>
                <a:latin typeface="Inter" pitchFamily="34" charset="0"/>
                <a:ea typeface="Inter" pitchFamily="34" charset="-122"/>
                <a:cs typeface="Inter" pitchFamily="34" charset="-120"/>
              </a:rPr>
              <a:t>Vi matcher partnerens konkrete utfordring mot selskaper vi allerede kjenner, og følger prosessen hele veien til en avtale som står på egne bein.</a:t>
            </a:r>
            <a:endParaRPr lang="en-US" sz="2000" dirty="0"/>
          </a:p>
        </p:txBody>
      </p:sp>
      <p:pic>
        <p:nvPicPr>
          <p:cNvPr id="6" name="Image 1" descr="C:\Code\Work\startuplab-partner-presentation\pptx-templates\media\logo-red.png">    </p:cNvPr>
          <p:cNvPicPr>
            <a:picLocks noChangeAspect="1"/>
          </p:cNvPicPr>
          <p:nvPr/>
        </p:nvPicPr>
        <p:blipFill>
          <a:blip r:embed="rId2"/>
          <a:stretch>
            <a:fillRect/>
          </a:stretch>
        </p:blipFill>
        <p:spPr>
          <a:xfrm>
            <a:off x="777240" y="6035040"/>
            <a:ext cx="84300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INDUSTRIPROGRAMMER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Fem sektorer, ett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nettverk</a:t>
            </a:r>
            <a:endParaRPr lang="en-US" sz="4000" dirty="0"/>
          </a:p>
        </p:txBody>
      </p:sp>
      <p:pic>
        <p:nvPicPr>
          <p:cNvPr id="4" name="Image 0" descr="C:\Code\Work\startuplab-partner-presentation\pptx-templates\media\card-energy-rund.png">    </p:cNvPr>
          <p:cNvPicPr>
            <a:picLocks noChangeAspect="1"/>
          </p:cNvPicPr>
          <p:nvPr/>
        </p:nvPicPr>
        <p:blipFill>
          <a:blip r:embed="rId1"/>
          <a:stretch>
            <a:fillRect/>
          </a:stretch>
        </p:blipFill>
        <p:spPr>
          <a:xfrm>
            <a:off x="777240" y="2240280"/>
            <a:ext cx="1922617" cy="2926080"/>
          </a:xfrm>
          <a:prstGeom prst="rect">
            <a:avLst/>
          </a:prstGeom>
        </p:spPr>
      </p:pic>
      <p:sp>
        <p:nvSpPr>
          <p:cNvPr id="5" name="Shape 2"/>
          <p:cNvSpPr/>
          <p:nvPr/>
        </p:nvSpPr>
        <p:spPr>
          <a:xfrm>
            <a:off x="777240" y="2240280"/>
            <a:ext cx="1922617" cy="2926080"/>
          </a:xfrm>
          <a:prstGeom prst="rect">
            <a:avLst/>
          </a:prstGeom>
          <a:solidFill>
            <a:srgbClr val="050505">
              <a:alpha val="28000"/>
            </a:srgbClr>
          </a:solidFill>
          <a:ln/>
        </p:spPr>
      </p:sp>
      <p:sp>
        <p:nvSpPr>
          <p:cNvPr id="6" name="Text 3"/>
          <p:cNvSpPr/>
          <p:nvPr/>
        </p:nvSpPr>
        <p:spPr>
          <a:xfrm>
            <a:off x="777240"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Energy</a:t>
            </a:r>
            <a:endParaRPr lang="en-US" sz="1900" dirty="0"/>
          </a:p>
        </p:txBody>
      </p:sp>
      <p:pic>
        <p:nvPicPr>
          <p:cNvPr id="7" name="Image 1" descr="C:\Code\Work\startuplab-partner-presentation\pptx-templates\media\card-ocean-rund.png">    </p:cNvPr>
          <p:cNvPicPr>
            <a:picLocks noChangeAspect="1"/>
          </p:cNvPicPr>
          <p:nvPr/>
        </p:nvPicPr>
        <p:blipFill>
          <a:blip r:embed="rId2"/>
          <a:stretch>
            <a:fillRect/>
          </a:stretch>
        </p:blipFill>
        <p:spPr>
          <a:xfrm>
            <a:off x="2955889" y="2240280"/>
            <a:ext cx="1922617" cy="2926080"/>
          </a:xfrm>
          <a:prstGeom prst="rect">
            <a:avLst/>
          </a:prstGeom>
        </p:spPr>
      </p:pic>
      <p:sp>
        <p:nvSpPr>
          <p:cNvPr id="8" name="Shape 4"/>
          <p:cNvSpPr/>
          <p:nvPr/>
        </p:nvSpPr>
        <p:spPr>
          <a:xfrm>
            <a:off x="2955889" y="2240280"/>
            <a:ext cx="1922617" cy="2926080"/>
          </a:xfrm>
          <a:prstGeom prst="rect">
            <a:avLst/>
          </a:prstGeom>
          <a:solidFill>
            <a:srgbClr val="050505">
              <a:alpha val="28000"/>
            </a:srgbClr>
          </a:solidFill>
          <a:ln/>
        </p:spPr>
      </p:sp>
      <p:sp>
        <p:nvSpPr>
          <p:cNvPr id="9" name="Text 5"/>
          <p:cNvSpPr/>
          <p:nvPr/>
        </p:nvSpPr>
        <p:spPr>
          <a:xfrm>
            <a:off x="2955889"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Ocean</a:t>
            </a:r>
            <a:endParaRPr lang="en-US" sz="1900" dirty="0"/>
          </a:p>
        </p:txBody>
      </p:sp>
      <p:pic>
        <p:nvPicPr>
          <p:cNvPr id="10" name="Image 2" descr="C:\Code\Work\startuplab-partner-presentation\pptx-templates\media\card-hardware-rund.png">    </p:cNvPr>
          <p:cNvPicPr>
            <a:picLocks noChangeAspect="1"/>
          </p:cNvPicPr>
          <p:nvPr/>
        </p:nvPicPr>
        <p:blipFill>
          <a:blip r:embed="rId3"/>
          <a:stretch>
            <a:fillRect/>
          </a:stretch>
        </p:blipFill>
        <p:spPr>
          <a:xfrm>
            <a:off x="5134539" y="2240280"/>
            <a:ext cx="1922617" cy="2926080"/>
          </a:xfrm>
          <a:prstGeom prst="rect">
            <a:avLst/>
          </a:prstGeom>
        </p:spPr>
      </p:pic>
      <p:sp>
        <p:nvSpPr>
          <p:cNvPr id="11" name="Shape 6"/>
          <p:cNvSpPr/>
          <p:nvPr/>
        </p:nvSpPr>
        <p:spPr>
          <a:xfrm>
            <a:off x="5134539" y="2240280"/>
            <a:ext cx="1922617" cy="2926080"/>
          </a:xfrm>
          <a:prstGeom prst="rect">
            <a:avLst/>
          </a:prstGeom>
          <a:solidFill>
            <a:srgbClr val="050505">
              <a:alpha val="28000"/>
            </a:srgbClr>
          </a:solidFill>
          <a:ln/>
        </p:spPr>
      </p:sp>
      <p:sp>
        <p:nvSpPr>
          <p:cNvPr id="12" name="Text 7"/>
          <p:cNvSpPr/>
          <p:nvPr/>
        </p:nvSpPr>
        <p:spPr>
          <a:xfrm>
            <a:off x="5134539"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Hardware</a:t>
            </a:r>
            <a:endParaRPr lang="en-US" sz="1900" dirty="0"/>
          </a:p>
        </p:txBody>
      </p:sp>
      <p:pic>
        <p:nvPicPr>
          <p:cNvPr id="13" name="Image 3" descr="C:\Code\Work\startuplab-partner-presentation\pptx-templates\media\card-construction-rund.png">    </p:cNvPr>
          <p:cNvPicPr>
            <a:picLocks noChangeAspect="1"/>
          </p:cNvPicPr>
          <p:nvPr/>
        </p:nvPicPr>
        <p:blipFill>
          <a:blip r:embed="rId4"/>
          <a:stretch>
            <a:fillRect/>
          </a:stretch>
        </p:blipFill>
        <p:spPr>
          <a:xfrm>
            <a:off x="7313188" y="2240280"/>
            <a:ext cx="1922617" cy="2926080"/>
          </a:xfrm>
          <a:prstGeom prst="rect">
            <a:avLst/>
          </a:prstGeom>
        </p:spPr>
      </p:pic>
      <p:sp>
        <p:nvSpPr>
          <p:cNvPr id="14" name="Shape 8"/>
          <p:cNvSpPr/>
          <p:nvPr/>
        </p:nvSpPr>
        <p:spPr>
          <a:xfrm>
            <a:off x="7313188" y="2240280"/>
            <a:ext cx="1922617" cy="2926080"/>
          </a:xfrm>
          <a:prstGeom prst="rect">
            <a:avLst/>
          </a:prstGeom>
          <a:solidFill>
            <a:srgbClr val="050505">
              <a:alpha val="28000"/>
            </a:srgbClr>
          </a:solidFill>
          <a:ln/>
        </p:spPr>
      </p:sp>
      <p:sp>
        <p:nvSpPr>
          <p:cNvPr id="15" name="Text 9"/>
          <p:cNvSpPr/>
          <p:nvPr/>
        </p:nvSpPr>
        <p:spPr>
          <a:xfrm>
            <a:off x="7313188"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Construction</a:t>
            </a:r>
            <a:endParaRPr lang="en-US" sz="1900" dirty="0"/>
          </a:p>
        </p:txBody>
      </p:sp>
      <p:pic>
        <p:nvPicPr>
          <p:cNvPr id="16" name="Image 4" descr="C:\Code\Work\startuplab-partner-presentation\pptx-templates\media\card-defence-rund.png">    </p:cNvPr>
          <p:cNvPicPr>
            <a:picLocks noChangeAspect="1"/>
          </p:cNvPicPr>
          <p:nvPr/>
        </p:nvPicPr>
        <p:blipFill>
          <a:blip r:embed="rId5"/>
          <a:stretch>
            <a:fillRect/>
          </a:stretch>
        </p:blipFill>
        <p:spPr>
          <a:xfrm>
            <a:off x="9491838" y="2240280"/>
            <a:ext cx="1922617" cy="2926080"/>
          </a:xfrm>
          <a:prstGeom prst="rect">
            <a:avLst/>
          </a:prstGeom>
        </p:spPr>
      </p:pic>
      <p:sp>
        <p:nvSpPr>
          <p:cNvPr id="17" name="Shape 10"/>
          <p:cNvSpPr/>
          <p:nvPr/>
        </p:nvSpPr>
        <p:spPr>
          <a:xfrm>
            <a:off x="9491838" y="2240280"/>
            <a:ext cx="1922617" cy="2926080"/>
          </a:xfrm>
          <a:prstGeom prst="rect">
            <a:avLst/>
          </a:prstGeom>
          <a:solidFill>
            <a:srgbClr val="050505">
              <a:alpha val="28000"/>
            </a:srgbClr>
          </a:solidFill>
          <a:ln/>
        </p:spPr>
      </p:sp>
      <p:sp>
        <p:nvSpPr>
          <p:cNvPr id="18" name="Text 11"/>
          <p:cNvSpPr/>
          <p:nvPr/>
        </p:nvSpPr>
        <p:spPr>
          <a:xfrm>
            <a:off x="9491838"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Defence</a:t>
            </a:r>
            <a:endParaRPr lang="en-US" sz="1900" dirty="0"/>
          </a:p>
        </p:txBody>
      </p:sp>
      <p:pic>
        <p:nvPicPr>
          <p:cNvPr id="19" name="Image 5" descr="C:\Code\Work\startuplab-partner-presentation\pptx-templates\media\logo-white.png">    </p:cNvPr>
          <p:cNvPicPr>
            <a:picLocks noChangeAspect="1"/>
          </p:cNvPicPr>
          <p:nvPr/>
        </p:nvPicPr>
        <p:blipFill>
          <a:blip r:embed="rId6"/>
          <a:stretch>
            <a:fillRect/>
          </a:stretch>
        </p:blipFill>
        <p:spPr>
          <a:xfrm>
            <a:off x="777240" y="6035040"/>
            <a:ext cx="84300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HVA PARTNERSKAPET GIR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Seks konkrete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leveranser</a:t>
            </a:r>
            <a:endParaRPr lang="en-US" sz="4000" dirty="0"/>
          </a:p>
        </p:txBody>
      </p:sp>
      <p:sp>
        <p:nvSpPr>
          <p:cNvPr id="4" name="Text 2"/>
          <p:cNvSpPr/>
          <p:nvPr/>
        </p:nvSpPr>
        <p:spPr>
          <a:xfrm>
            <a:off x="777240"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01</a:t>
            </a:r>
            <a:endParaRPr lang="en-US" sz="2200" dirty="0"/>
          </a:p>
        </p:txBody>
      </p:sp>
      <p:sp>
        <p:nvSpPr>
          <p:cNvPr id="5" name="Text 3"/>
          <p:cNvSpPr/>
          <p:nvPr/>
        </p:nvSpPr>
        <p:spPr>
          <a:xfrm>
            <a:off x="777240"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Matchmaking</a:t>
            </a:r>
            <a:endParaRPr lang="en-US" sz="2300" dirty="0"/>
          </a:p>
        </p:txBody>
      </p:sp>
      <p:sp>
        <p:nvSpPr>
          <p:cNvPr id="6" name="Text 4"/>
          <p:cNvSpPr/>
          <p:nvPr/>
        </p:nvSpPr>
        <p:spPr>
          <a:xfrm>
            <a:off x="777240"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Kuraterte møter med selskaper som treffer.</a:t>
            </a:r>
            <a:endParaRPr lang="en-US" sz="1800" dirty="0"/>
          </a:p>
        </p:txBody>
      </p:sp>
      <p:sp>
        <p:nvSpPr>
          <p:cNvPr id="7" name="Text 5"/>
          <p:cNvSpPr/>
          <p:nvPr/>
        </p:nvSpPr>
        <p:spPr>
          <a:xfrm>
            <a:off x="4490618"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02</a:t>
            </a:r>
            <a:endParaRPr lang="en-US" sz="2200" dirty="0"/>
          </a:p>
        </p:txBody>
      </p:sp>
      <p:sp>
        <p:nvSpPr>
          <p:cNvPr id="8" name="Text 6"/>
          <p:cNvSpPr/>
          <p:nvPr/>
        </p:nvSpPr>
        <p:spPr>
          <a:xfrm>
            <a:off x="4490618"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Pilotstøtte</a:t>
            </a:r>
            <a:endParaRPr lang="en-US" sz="2300" dirty="0"/>
          </a:p>
        </p:txBody>
      </p:sp>
      <p:sp>
        <p:nvSpPr>
          <p:cNvPr id="9" name="Text 7"/>
          <p:cNvSpPr/>
          <p:nvPr/>
        </p:nvSpPr>
        <p:spPr>
          <a:xfrm>
            <a:off x="4490618"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rigger og følger opp piloten til evaluering.</a:t>
            </a:r>
            <a:endParaRPr lang="en-US" sz="1800" dirty="0"/>
          </a:p>
        </p:txBody>
      </p:sp>
      <p:sp>
        <p:nvSpPr>
          <p:cNvPr id="10" name="Text 8"/>
          <p:cNvSpPr/>
          <p:nvPr/>
        </p:nvSpPr>
        <p:spPr>
          <a:xfrm>
            <a:off x="8203997"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03</a:t>
            </a:r>
            <a:endParaRPr lang="en-US" sz="2200" dirty="0"/>
          </a:p>
        </p:txBody>
      </p:sp>
      <p:sp>
        <p:nvSpPr>
          <p:cNvPr id="11" name="Text 9"/>
          <p:cNvSpPr/>
          <p:nvPr/>
        </p:nvSpPr>
        <p:spPr>
          <a:xfrm>
            <a:off x="8203997"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Innsikt</a:t>
            </a:r>
            <a:endParaRPr lang="en-US" sz="2300" dirty="0"/>
          </a:p>
        </p:txBody>
      </p:sp>
      <p:sp>
        <p:nvSpPr>
          <p:cNvPr id="12" name="Text 10"/>
          <p:cNvSpPr/>
          <p:nvPr/>
        </p:nvSpPr>
        <p:spPr>
          <a:xfrm>
            <a:off x="8203997"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Kvartalsvise rapporter fra porteføljen.</a:t>
            </a:r>
            <a:endParaRPr lang="en-US" sz="1800" dirty="0"/>
          </a:p>
        </p:txBody>
      </p:sp>
      <p:sp>
        <p:nvSpPr>
          <p:cNvPr id="13" name="Text 11"/>
          <p:cNvSpPr/>
          <p:nvPr/>
        </p:nvSpPr>
        <p:spPr>
          <a:xfrm>
            <a:off x="777240"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04</a:t>
            </a:r>
            <a:endParaRPr lang="en-US" sz="2200" dirty="0"/>
          </a:p>
        </p:txBody>
      </p:sp>
      <p:sp>
        <p:nvSpPr>
          <p:cNvPr id="14" name="Text 12"/>
          <p:cNvSpPr/>
          <p:nvPr/>
        </p:nvSpPr>
        <p:spPr>
          <a:xfrm>
            <a:off x="777240"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Nettverk</a:t>
            </a:r>
            <a:endParaRPr lang="en-US" sz="2300" dirty="0"/>
          </a:p>
        </p:txBody>
      </p:sp>
      <p:sp>
        <p:nvSpPr>
          <p:cNvPr id="15" name="Text 13"/>
          <p:cNvSpPr/>
          <p:nvPr/>
        </p:nvSpPr>
        <p:spPr>
          <a:xfrm>
            <a:off x="777240"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Tilgang til 4 000+ gründere og fagmiljøer.</a:t>
            </a:r>
            <a:endParaRPr lang="en-US" sz="1800" dirty="0"/>
          </a:p>
        </p:txBody>
      </p:sp>
      <p:sp>
        <p:nvSpPr>
          <p:cNvPr id="16" name="Text 14"/>
          <p:cNvSpPr/>
          <p:nvPr/>
        </p:nvSpPr>
        <p:spPr>
          <a:xfrm>
            <a:off x="4490618"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05</a:t>
            </a:r>
            <a:endParaRPr lang="en-US" sz="2200" dirty="0"/>
          </a:p>
        </p:txBody>
      </p:sp>
      <p:sp>
        <p:nvSpPr>
          <p:cNvPr id="17" name="Text 15"/>
          <p:cNvSpPr/>
          <p:nvPr/>
        </p:nvSpPr>
        <p:spPr>
          <a:xfrm>
            <a:off x="4490618"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Synlighet</a:t>
            </a:r>
            <a:endParaRPr lang="en-US" sz="2300" dirty="0"/>
          </a:p>
        </p:txBody>
      </p:sp>
      <p:sp>
        <p:nvSpPr>
          <p:cNvPr id="18" name="Text 16"/>
          <p:cNvSpPr/>
          <p:nvPr/>
        </p:nvSpPr>
        <p:spPr>
          <a:xfrm>
            <a:off x="4490618"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Profilering på våre arrangementer og kanaler.</a:t>
            </a:r>
            <a:endParaRPr lang="en-US" sz="1800" dirty="0"/>
          </a:p>
        </p:txBody>
      </p:sp>
      <p:sp>
        <p:nvSpPr>
          <p:cNvPr id="19" name="Text 17"/>
          <p:cNvSpPr/>
          <p:nvPr/>
        </p:nvSpPr>
        <p:spPr>
          <a:xfrm>
            <a:off x="8203997"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06</a:t>
            </a:r>
            <a:endParaRPr lang="en-US" sz="2200" dirty="0"/>
          </a:p>
        </p:txBody>
      </p:sp>
      <p:sp>
        <p:nvSpPr>
          <p:cNvPr id="20" name="Text 18"/>
          <p:cNvSpPr/>
          <p:nvPr/>
        </p:nvSpPr>
        <p:spPr>
          <a:xfrm>
            <a:off x="8203997"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Kompetanse</a:t>
            </a:r>
            <a:endParaRPr lang="en-US" sz="2300" dirty="0"/>
          </a:p>
        </p:txBody>
      </p:sp>
      <p:sp>
        <p:nvSpPr>
          <p:cNvPr id="21" name="Text 19"/>
          <p:cNvSpPr/>
          <p:nvPr/>
        </p:nvSpPr>
        <p:spPr>
          <a:xfrm>
            <a:off x="8203997"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Workshops og kurs for teamene deres.</a:t>
            </a:r>
            <a:endParaRPr lang="en-US" sz="1800" dirty="0"/>
          </a:p>
        </p:txBody>
      </p:sp>
      <p:pic>
        <p:nvPicPr>
          <p:cNvPr id="22"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6309360" y="137160"/>
            <a:ext cx="6766560" cy="5852160"/>
          </a:xfrm>
          <a:prstGeom prst="rect">
            <a:avLst/>
          </a:prstGeom>
          <a:noFill/>
          <a:ln/>
        </p:spPr>
        <p:txBody>
          <a:bodyPr wrap="square" lIns="0" tIns="0" rIns="0" bIns="0" rtlCol="0" anchor="ctr"/>
          <a:lstStyle/>
          <a:p>
            <a:pPr indent="0" marL="0">
              <a:buNone/>
            </a:pPr>
            <a:r>
              <a:rPr lang="en-US" sz="40000" dirty="0">
                <a:ln w="19050">
                  <a:solidFill>
                    <a:srgbClr val="FFE5EA"/>
                  </a:solidFill>
                </a:ln>
                <a:solidFill>
                  <a:srgbClr val="24272A"/>
                </a:solidFill>
                <a:latin typeface="Replica LL TT Heavy" pitchFamily="34" charset="0"/>
                <a:ea typeface="Replica LL TT Heavy" pitchFamily="34" charset="-122"/>
                <a:cs typeface="Replica LL TT Heavy" pitchFamily="34" charset="-120"/>
              </a:rPr>
              <a:t>02</a:t>
            </a:r>
            <a:endParaRPr lang="en-US" sz="40000" dirty="0"/>
          </a:p>
        </p:txBody>
      </p:sp>
      <p:sp>
        <p:nvSpPr>
          <p:cNvPr id="3" name="Text 1"/>
          <p:cNvSpPr/>
          <p:nvPr/>
        </p:nvSpPr>
        <p:spPr>
          <a:xfrm>
            <a:off x="777240" y="2468880"/>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KAPITTEL</a:t>
            </a:r>
            <a:endParaRPr lang="en-US" sz="1600" dirty="0"/>
          </a:p>
        </p:txBody>
      </p:sp>
      <p:sp>
        <p:nvSpPr>
          <p:cNvPr id="4" name="Text 2"/>
          <p:cNvSpPr/>
          <p:nvPr/>
        </p:nvSpPr>
        <p:spPr>
          <a:xfrm>
            <a:off x="777240" y="2834640"/>
            <a:ext cx="6035040" cy="1097280"/>
          </a:xfrm>
          <a:prstGeom prst="rect">
            <a:avLst/>
          </a:prstGeom>
          <a:noFill/>
          <a:ln/>
        </p:spPr>
        <p:txBody>
          <a:bodyPr wrap="square" lIns="0" tIns="0" rIns="0" bIns="0" rtlCol="0" anchor="t"/>
          <a:lstStyle/>
          <a:p>
            <a:pPr indent="0" marL="0">
              <a:buNone/>
            </a:pPr>
            <a:r>
              <a:rPr lang="en-US" sz="6000" dirty="0">
                <a:solidFill>
                  <a:srgbClr val="FFFFFF"/>
                </a:solidFill>
                <a:latin typeface="Replica LL TT Heavy" pitchFamily="34" charset="0"/>
                <a:ea typeface="Replica LL TT Heavy" pitchFamily="34" charset="-122"/>
                <a:cs typeface="Replica LL TT Heavy" pitchFamily="34" charset="-120"/>
              </a:rPr>
              <a:t>Velkommen</a:t>
            </a:r>
            <a:endParaRPr lang="en-US" sz="6000" dirty="0"/>
          </a:p>
        </p:txBody>
      </p:sp>
      <p:sp>
        <p:nvSpPr>
          <p:cNvPr id="5" name="Text 3"/>
          <p:cNvSpPr/>
          <p:nvPr/>
        </p:nvSpPr>
        <p:spPr>
          <a:xfrm>
            <a:off x="777240" y="4251960"/>
            <a:ext cx="6400800" cy="502920"/>
          </a:xfrm>
          <a:prstGeom prst="rect">
            <a:avLst/>
          </a:prstGeom>
          <a:noFill/>
          <a:ln/>
        </p:spPr>
        <p:txBody>
          <a:bodyPr wrap="square" lIns="0" tIns="0" rIns="0" bIns="0" rtlCol="0" anchor="ctr"/>
          <a:lstStyle/>
          <a:p>
            <a:pPr indent="0" marL="0">
              <a:buNone/>
            </a:pPr>
            <a:r>
              <a:rPr lang="en-US" sz="2600" dirty="0">
                <a:solidFill>
                  <a:srgbClr val="9BA1A5"/>
                </a:solidFill>
                <a:latin typeface="Replica LL TT Heavy" pitchFamily="34" charset="0"/>
                <a:ea typeface="Replica LL TT Heavy" pitchFamily="34" charset="-122"/>
                <a:cs typeface="Replica LL TT Heavy" pitchFamily="34" charset="-120"/>
              </a:rPr>
              <a:t>01</a:t>
            </a:r>
            <a:pPr indent="0" marL="0">
              <a:buNone/>
            </a:pPr>
            <a:r>
              <a:rPr lang="en-US" sz="2600" dirty="0">
                <a:solidFill>
                  <a:srgbClr val="000000"/>
                </a:solidFill>
                <a:latin typeface="Replica LL TT Heavy" pitchFamily="34" charset="0"/>
                <a:ea typeface="Replica LL TT Heavy" pitchFamily="34" charset="-122"/>
                <a:cs typeface="Replica LL TT Heavy" pitchFamily="34" charset="-120"/>
              </a:rPr>
              <a:t>   </a:t>
            </a:r>
            <a:pPr indent="0" marL="0">
              <a:buNone/>
            </a:pPr>
            <a:r>
              <a:rPr lang="en-US" sz="2600" dirty="0">
                <a:solidFill>
                  <a:srgbClr val="FF3333"/>
                </a:solidFill>
                <a:latin typeface="Replica LL TT Heavy" pitchFamily="34" charset="0"/>
                <a:ea typeface="Replica LL TT Heavy" pitchFamily="34" charset="-122"/>
                <a:cs typeface="Replica LL TT Heavy" pitchFamily="34" charset="-120"/>
              </a:rPr>
              <a:t>02</a:t>
            </a:r>
            <a:pPr indent="0" marL="0">
              <a:buNone/>
            </a:pPr>
            <a:r>
              <a:rPr lang="en-US" sz="2600" dirty="0">
                <a:solidFill>
                  <a:srgbClr val="000000"/>
                </a:solidFill>
                <a:latin typeface="Replica LL TT Heavy" pitchFamily="34" charset="0"/>
                <a:ea typeface="Replica LL TT Heavy" pitchFamily="34" charset="-122"/>
                <a:cs typeface="Replica LL TT Heavy" pitchFamily="34" charset="-120"/>
              </a:rPr>
              <a:t>   </a:t>
            </a:r>
            <a:pPr indent="0" marL="0">
              <a:buNone/>
            </a:pPr>
            <a:r>
              <a:rPr lang="en-US" sz="2600" dirty="0">
                <a:solidFill>
                  <a:srgbClr val="9BA1A5"/>
                </a:solidFill>
                <a:latin typeface="Replica LL TT Heavy" pitchFamily="34" charset="0"/>
                <a:ea typeface="Replica LL TT Heavy" pitchFamily="34" charset="-122"/>
                <a:cs typeface="Replica LL TT Heavy" pitchFamily="34" charset="-120"/>
              </a:rPr>
              <a:t>03</a:t>
            </a:r>
            <a:pPr indent="0" marL="0">
              <a:buNone/>
            </a:pPr>
            <a:r>
              <a:rPr lang="en-US" sz="2600" dirty="0">
                <a:solidFill>
                  <a:srgbClr val="000000"/>
                </a:solidFill>
                <a:latin typeface="Replica LL TT Heavy" pitchFamily="34" charset="0"/>
                <a:ea typeface="Replica LL TT Heavy" pitchFamily="34" charset="-122"/>
                <a:cs typeface="Replica LL TT Heavy" pitchFamily="34" charset="-120"/>
              </a:rPr>
              <a:t>   </a:t>
            </a:r>
            <a:pPr indent="0" marL="0">
              <a:buNone/>
            </a:pPr>
            <a:r>
              <a:rPr lang="en-US" sz="2600" dirty="0">
                <a:solidFill>
                  <a:srgbClr val="9BA1A5"/>
                </a:solidFill>
                <a:latin typeface="Replica LL TT Heavy" pitchFamily="34" charset="0"/>
                <a:ea typeface="Replica LL TT Heavy" pitchFamily="34" charset="-122"/>
                <a:cs typeface="Replica LL TT Heavy" pitchFamily="34" charset="-120"/>
              </a:rPr>
              <a:t>04</a:t>
            </a:r>
            <a:pPr indent="0" marL="0">
              <a:buNone/>
            </a:pPr>
            <a:r>
              <a:rPr lang="en-US" sz="2600" dirty="0">
                <a:solidFill>
                  <a:srgbClr val="000000"/>
                </a:solidFill>
                <a:latin typeface="Replica LL TT Heavy" pitchFamily="34" charset="0"/>
                <a:ea typeface="Replica LL TT Heavy" pitchFamily="34" charset="-122"/>
                <a:cs typeface="Replica LL TT Heavy" pitchFamily="34" charset="-120"/>
              </a:rPr>
              <a:t>   </a:t>
            </a:r>
            <a:pPr indent="0" marL="0">
              <a:buNone/>
            </a:pPr>
            <a:r>
              <a:rPr lang="en-US" sz="2600" dirty="0">
                <a:solidFill>
                  <a:srgbClr val="9BA1A5"/>
                </a:solidFill>
                <a:latin typeface="Replica LL TT Heavy" pitchFamily="34" charset="0"/>
                <a:ea typeface="Replica LL TT Heavy" pitchFamily="34" charset="-122"/>
                <a:cs typeface="Replica LL TT Heavy" pitchFamily="34" charset="-120"/>
              </a:rPr>
              <a:t>05</a:t>
            </a:r>
            <a:endParaRPr lang="en-US" sz="2600" dirty="0"/>
          </a:p>
        </p:txBody>
      </p:sp>
      <p:pic>
        <p:nvPicPr>
          <p:cNvPr id="6"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783080"/>
            <a:ext cx="438912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ÅRET SOM GIKK</a:t>
            </a:r>
            <a:endParaRPr lang="en-US" sz="1600" dirty="0"/>
          </a:p>
        </p:txBody>
      </p:sp>
      <p:sp>
        <p:nvSpPr>
          <p:cNvPr id="3" name="Text 1"/>
          <p:cNvSpPr/>
          <p:nvPr/>
        </p:nvSpPr>
        <p:spPr>
          <a:xfrm>
            <a:off x="777240" y="2176272"/>
            <a:ext cx="4297680" cy="1371600"/>
          </a:xfrm>
          <a:prstGeom prst="rect">
            <a:avLst/>
          </a:prstGeom>
          <a:noFill/>
          <a:ln/>
        </p:spPr>
        <p:txBody>
          <a:bodyPr wrap="square" lIns="0" tIns="0" rIns="0" bIns="0" rtlCol="0" anchor="t"/>
          <a:lstStyle/>
          <a:p>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Fire ting vi gjorde</a:t>
            </a:r>
            <a:endParaRPr lang="en-US" sz="3400" dirty="0"/>
          </a:p>
          <a:p>
            <a:pPr indent="0" marL="0">
              <a:lnSpc>
                <a:spcPct val="102000"/>
              </a:lnSpc>
              <a:buNone/>
            </a:pPr>
            <a:r>
              <a:rPr lang="en-US" sz="3400" b="1" dirty="0">
                <a:solidFill>
                  <a:srgbClr val="FF3333"/>
                </a:solidFill>
                <a:latin typeface="Replica LL TT" pitchFamily="34" charset="0"/>
                <a:ea typeface="Replica LL TT" pitchFamily="34" charset="-122"/>
                <a:cs typeface="Replica LL TT" pitchFamily="34" charset="-120"/>
              </a:rPr>
              <a:t>mest</a:t>
            </a:r>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 av</a:t>
            </a:r>
            <a:endParaRPr lang="en-US" sz="3400" dirty="0"/>
          </a:p>
        </p:txBody>
      </p:sp>
      <p:sp>
        <p:nvSpPr>
          <p:cNvPr id="4" name="Text 2"/>
          <p:cNvSpPr/>
          <p:nvPr/>
        </p:nvSpPr>
        <p:spPr>
          <a:xfrm>
            <a:off x="777240" y="3794760"/>
            <a:ext cx="4206240" cy="1463040"/>
          </a:xfrm>
          <a:prstGeom prst="rect">
            <a:avLst/>
          </a:prstGeom>
          <a:noFill/>
          <a:ln/>
        </p:spPr>
        <p:txBody>
          <a:bodyPr wrap="square" lIns="0" tIns="0" rIns="0" bIns="0" rtlCol="0" anchor="t"/>
          <a:lstStyle/>
          <a:p>
            <a:pPr indent="0" marL="0">
              <a:lnSpc>
                <a:spcPct val="140000"/>
              </a:lnSpc>
              <a:buNone/>
            </a:pPr>
            <a:r>
              <a:rPr lang="en-US" sz="2000" dirty="0">
                <a:solidFill>
                  <a:srgbClr val="131415"/>
                </a:solidFill>
                <a:latin typeface="Inter" pitchFamily="34" charset="0"/>
                <a:ea typeface="Inter" pitchFamily="34" charset="-122"/>
                <a:cs typeface="Inter" pitchFamily="34" charset="-120"/>
              </a:rPr>
              <a:t>Samlinger, befaringer og matchmaking gjennom hele året. 42 arrangementer i alt.</a:t>
            </a:r>
            <a:endParaRPr lang="en-US" sz="2000" dirty="0"/>
          </a:p>
        </p:txBody>
      </p:sp>
      <p:pic>
        <p:nvPicPr>
          <p:cNvPr id="5" name="Image 0" descr="C:\Code\Work\startuplab-partner-presentation\pptx-templates\media\grid-1-rund.png">    </p:cNvPr>
          <p:cNvPicPr>
            <a:picLocks noChangeAspect="1"/>
          </p:cNvPicPr>
          <p:nvPr/>
        </p:nvPicPr>
        <p:blipFill>
          <a:blip r:embed="rId1"/>
          <a:stretch>
            <a:fillRect/>
          </a:stretch>
        </p:blipFill>
        <p:spPr>
          <a:xfrm>
            <a:off x="5577840" y="1783080"/>
            <a:ext cx="2781148" cy="1854098"/>
          </a:xfrm>
          <a:prstGeom prst="rect">
            <a:avLst/>
          </a:prstGeom>
        </p:spPr>
      </p:pic>
      <p:pic>
        <p:nvPicPr>
          <p:cNvPr id="6" name="Image 1" descr="C:\Code\Work\startuplab-partner-presentation\pptx-templates\media\grid-2-rund.png">    </p:cNvPr>
          <p:cNvPicPr>
            <a:picLocks noChangeAspect="1"/>
          </p:cNvPicPr>
          <p:nvPr/>
        </p:nvPicPr>
        <p:blipFill>
          <a:blip r:embed="rId2"/>
          <a:stretch>
            <a:fillRect/>
          </a:stretch>
        </p:blipFill>
        <p:spPr>
          <a:xfrm>
            <a:off x="8633308" y="1783080"/>
            <a:ext cx="2781148" cy="1854098"/>
          </a:xfrm>
          <a:prstGeom prst="rect">
            <a:avLst/>
          </a:prstGeom>
        </p:spPr>
      </p:pic>
      <p:pic>
        <p:nvPicPr>
          <p:cNvPr id="7" name="Image 2" descr="C:\Code\Work\startuplab-partner-presentation\pptx-templates\media\grid-3-rund.png">    </p:cNvPr>
          <p:cNvPicPr>
            <a:picLocks noChangeAspect="1"/>
          </p:cNvPicPr>
          <p:nvPr/>
        </p:nvPicPr>
        <p:blipFill>
          <a:blip r:embed="rId3"/>
          <a:stretch>
            <a:fillRect/>
          </a:stretch>
        </p:blipFill>
        <p:spPr>
          <a:xfrm>
            <a:off x="5577840" y="3911498"/>
            <a:ext cx="2781148" cy="1854098"/>
          </a:xfrm>
          <a:prstGeom prst="rect">
            <a:avLst/>
          </a:prstGeom>
        </p:spPr>
      </p:pic>
      <p:pic>
        <p:nvPicPr>
          <p:cNvPr id="8" name="Image 3" descr="C:\Code\Work\startuplab-partner-presentation\pptx-templates\media\grid-4-rund.png">    </p:cNvPr>
          <p:cNvPicPr>
            <a:picLocks noChangeAspect="1"/>
          </p:cNvPicPr>
          <p:nvPr/>
        </p:nvPicPr>
        <p:blipFill>
          <a:blip r:embed="rId4"/>
          <a:stretch>
            <a:fillRect/>
          </a:stretch>
        </p:blipFill>
        <p:spPr>
          <a:xfrm>
            <a:off x="8633308" y="3911498"/>
            <a:ext cx="2781148" cy="1854098"/>
          </a:xfrm>
          <a:prstGeom prst="rect">
            <a:avLst/>
          </a:prstGeom>
        </p:spPr>
      </p:pic>
      <p:pic>
        <p:nvPicPr>
          <p:cNvPr id="9" name="Image 4" descr="C:\Code\Work\startuplab-partner-presentation\pptx-templates\media\logo-red.png">    </p:cNvPr>
          <p:cNvPicPr>
            <a:picLocks noChangeAspect="1"/>
          </p:cNvPicPr>
          <p:nvPr/>
        </p:nvPicPr>
        <p:blipFill>
          <a:blip r:embed="rId5"/>
          <a:stretch>
            <a:fillRect/>
          </a:stretch>
        </p:blipFill>
        <p:spPr>
          <a:xfrm>
            <a:off x="777240" y="6035040"/>
            <a:ext cx="84300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1965960"/>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VÅRT STANDPUNKT</a:t>
            </a:r>
            <a:endParaRPr lang="en-US" sz="1600" dirty="0"/>
          </a:p>
        </p:txBody>
      </p:sp>
      <p:sp>
        <p:nvSpPr>
          <p:cNvPr id="3" name="Text 1"/>
          <p:cNvSpPr/>
          <p:nvPr/>
        </p:nvSpPr>
        <p:spPr>
          <a:xfrm>
            <a:off x="777240" y="2377440"/>
            <a:ext cx="10424160" cy="2651760"/>
          </a:xfrm>
          <a:prstGeom prst="rect">
            <a:avLst/>
          </a:prstGeom>
          <a:noFill/>
          <a:ln/>
        </p:spPr>
        <p:txBody>
          <a:bodyPr wrap="square" lIns="0" tIns="0" rIns="0" bIns="0" rtlCol="0" anchor="t"/>
          <a:lstStyle/>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Vi bygger ikke</a:t>
            </a:r>
            <a:endParaRPr lang="en-US" sz="5200" dirty="0"/>
          </a:p>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pilotprosjekter.</a:t>
            </a:r>
            <a:endParaRPr lang="en-US" sz="5200" dirty="0"/>
          </a:p>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Vi bygger </a:t>
            </a:r>
            <a:pPr indent="0" marL="0">
              <a:lnSpc>
                <a:spcPct val="98000"/>
              </a:lnSpc>
              <a:buNone/>
            </a:pPr>
            <a:r>
              <a:rPr lang="en-US" sz="5200" dirty="0">
                <a:solidFill>
                  <a:srgbClr val="FF3333"/>
                </a:solidFill>
                <a:latin typeface="Replica LL TT Heavy" pitchFamily="34" charset="0"/>
                <a:ea typeface="Replica LL TT Heavy" pitchFamily="34" charset="-122"/>
                <a:cs typeface="Replica LL TT Heavy" pitchFamily="34" charset="-120"/>
              </a:rPr>
              <a:t>selskaper</a:t>
            </a:r>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a:t>
            </a:r>
            <a:endParaRPr lang="en-US" sz="5200" dirty="0"/>
          </a:p>
        </p:txBody>
      </p:sp>
      <p:pic>
        <p:nvPicPr>
          <p:cNvPr id="4"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777240" y="1600200"/>
            <a:ext cx="7406640" cy="2194560"/>
          </a:xfrm>
          <a:prstGeom prst="rect">
            <a:avLst/>
          </a:prstGeom>
          <a:noFill/>
          <a:ln/>
        </p:spPr>
        <p:txBody>
          <a:bodyPr wrap="square" lIns="0" tIns="0" rIns="0" bIns="0" rtlCol="0" anchor="t"/>
          <a:lstStyle/>
          <a:p>
            <a:pPr indent="0" marL="0">
              <a:lnSpc>
                <a:spcPct val="115000"/>
              </a:lnSpc>
              <a:buNone/>
            </a:pPr>
            <a:r>
              <a:rPr lang="en-US" sz="3400" b="1" dirty="0">
                <a:solidFill>
                  <a:srgbClr val="131415"/>
                </a:solidFill>
                <a:latin typeface="Replica LL TT" pitchFamily="34" charset="0"/>
                <a:ea typeface="Replica LL TT" pitchFamily="34" charset="-122"/>
                <a:cs typeface="Replica LL TT" pitchFamily="34" charset="-120"/>
              </a:rPr>
              <a:t>«Startuplab er ikke bare et kontor. Det er et fellesskap som forstår hva det vil si å bygge fra null.»</a:t>
            </a:r>
            <a:endParaRPr lang="en-US" sz="3400" dirty="0"/>
          </a:p>
        </p:txBody>
      </p:sp>
      <p:sp>
        <p:nvSpPr>
          <p:cNvPr id="3" name="Text 1"/>
          <p:cNvSpPr/>
          <p:nvPr/>
        </p:nvSpPr>
        <p:spPr>
          <a:xfrm>
            <a:off x="777240" y="3977640"/>
            <a:ext cx="6400800" cy="402336"/>
          </a:xfrm>
          <a:prstGeom prst="rect">
            <a:avLst/>
          </a:prstGeom>
          <a:noFill/>
          <a:ln/>
        </p:spPr>
        <p:txBody>
          <a:bodyPr wrap="square" lIns="0" tIns="0" rIns="0" bIns="0" rtlCol="0" anchor="ctr"/>
          <a:lstStyle/>
          <a:p>
            <a:pPr indent="0" marL="0">
              <a:buNone/>
            </a:pPr>
            <a:r>
              <a:rPr lang="en-US" sz="2200" b="1" dirty="0">
                <a:solidFill>
                  <a:srgbClr val="131415"/>
                </a:solidFill>
                <a:latin typeface="Replica LL TT" pitchFamily="34" charset="0"/>
                <a:ea typeface="Replica LL TT" pitchFamily="34" charset="-122"/>
                <a:cs typeface="Replica LL TT" pitchFamily="34" charset="-120"/>
              </a:rPr>
              <a:t>Navn Navnesen</a:t>
            </a:r>
            <a:endParaRPr lang="en-US" sz="2200" dirty="0"/>
          </a:p>
        </p:txBody>
      </p:sp>
      <p:sp>
        <p:nvSpPr>
          <p:cNvPr id="4" name="Text 2"/>
          <p:cNvSpPr/>
          <p:nvPr/>
        </p:nvSpPr>
        <p:spPr>
          <a:xfrm>
            <a:off x="777240" y="4407408"/>
            <a:ext cx="6400800" cy="38404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Rolle, Selskap</a:t>
            </a:r>
            <a:endParaRPr lang="en-US" sz="2000" dirty="0"/>
          </a:p>
        </p:txBody>
      </p:sp>
      <p:sp>
        <p:nvSpPr>
          <p:cNvPr id="5" name="Shape 3"/>
          <p:cNvSpPr/>
          <p:nvPr/>
        </p:nvSpPr>
        <p:spPr>
          <a:xfrm>
            <a:off x="9128455" y="1874520"/>
            <a:ext cx="2286000" cy="2286000"/>
          </a:xfrm>
          <a:prstGeom prst="roundRect">
            <a:avLst>
              <a:gd name="adj" fmla="val 4160"/>
            </a:avLst>
          </a:prstGeom>
          <a:solidFill>
            <a:srgbClr val="E6E9EB"/>
          </a:solidFill>
          <a:ln w="12700">
            <a:solidFill>
              <a:srgbClr val="D2D7DA"/>
            </a:solidFill>
            <a:prstDash val="solid"/>
          </a:ln>
        </p:spPr>
      </p:sp>
      <p:sp>
        <p:nvSpPr>
          <p:cNvPr id="6" name="Text 4"/>
          <p:cNvSpPr/>
          <p:nvPr/>
        </p:nvSpPr>
        <p:spPr>
          <a:xfrm>
            <a:off x="9128455" y="2606040"/>
            <a:ext cx="2286000" cy="822960"/>
          </a:xfrm>
          <a:prstGeom prst="rect">
            <a:avLst/>
          </a:prstGeom>
          <a:noFill/>
          <a:ln/>
        </p:spPr>
        <p:txBody>
          <a:bodyPr wrap="square" lIns="0" tIns="0" rIns="0" bIns="0" rtlCol="0" anchor="ctr"/>
          <a:lstStyle/>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pic>
        <p:nvPicPr>
          <p:cNvPr id="7"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ÅRET I BILDER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Tre øyeblikk fra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2025</a:t>
            </a:r>
            <a:endParaRPr lang="en-US" sz="4000" dirty="0"/>
          </a:p>
        </p:txBody>
      </p:sp>
      <p:pic>
        <p:nvPicPr>
          <p:cNvPr id="4" name="Image 0" descr="C:\Code\Work\startuplab-partner-presentation\pptx-templates\media\row-1-rund.png">    </p:cNvPr>
          <p:cNvPicPr>
            <a:picLocks noChangeAspect="1"/>
          </p:cNvPicPr>
          <p:nvPr/>
        </p:nvPicPr>
        <p:blipFill>
          <a:blip r:embed="rId1"/>
          <a:stretch>
            <a:fillRect/>
          </a:stretch>
        </p:blipFill>
        <p:spPr>
          <a:xfrm>
            <a:off x="777240" y="2240280"/>
            <a:ext cx="3301898" cy="2201266"/>
          </a:xfrm>
          <a:prstGeom prst="rect">
            <a:avLst/>
          </a:prstGeom>
        </p:spPr>
      </p:pic>
      <p:sp>
        <p:nvSpPr>
          <p:cNvPr id="5" name="Text 2"/>
          <p:cNvSpPr/>
          <p:nvPr/>
        </p:nvSpPr>
        <p:spPr>
          <a:xfrm>
            <a:off x="777240"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Fullt hus</a:t>
            </a:r>
            <a:endParaRPr lang="en-US" sz="2000" dirty="0"/>
          </a:p>
        </p:txBody>
      </p:sp>
      <p:sp>
        <p:nvSpPr>
          <p:cNvPr id="6" name="Text 3"/>
          <p:cNvSpPr/>
          <p:nvPr/>
        </p:nvSpPr>
        <p:spPr>
          <a:xfrm>
            <a:off x="777240"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Over 400 deltakere på Demo Day i Forskningsparken.</a:t>
            </a:r>
            <a:endParaRPr lang="en-US" sz="1800" dirty="0"/>
          </a:p>
        </p:txBody>
      </p:sp>
      <p:pic>
        <p:nvPicPr>
          <p:cNvPr id="7" name="Image 1" descr="C:\Code\Work\startuplab-partner-presentation\pptx-templates\media\row-2-rund.png">    </p:cNvPr>
          <p:cNvPicPr>
            <a:picLocks noChangeAspect="1"/>
          </p:cNvPicPr>
          <p:nvPr/>
        </p:nvPicPr>
        <p:blipFill>
          <a:blip r:embed="rId2"/>
          <a:stretch>
            <a:fillRect/>
          </a:stretch>
        </p:blipFill>
        <p:spPr>
          <a:xfrm>
            <a:off x="4444898" y="2240280"/>
            <a:ext cx="3301898" cy="2201266"/>
          </a:xfrm>
          <a:prstGeom prst="rect">
            <a:avLst/>
          </a:prstGeom>
        </p:spPr>
      </p:pic>
      <p:sp>
        <p:nvSpPr>
          <p:cNvPr id="8" name="Text 4"/>
          <p:cNvSpPr/>
          <p:nvPr/>
        </p:nvSpPr>
        <p:spPr>
          <a:xfrm>
            <a:off x="4444898"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Nye koblinger</a:t>
            </a:r>
            <a:endParaRPr lang="en-US" sz="2000" dirty="0"/>
          </a:p>
        </p:txBody>
      </p:sp>
      <p:sp>
        <p:nvSpPr>
          <p:cNvPr id="9" name="Text 5"/>
          <p:cNvSpPr/>
          <p:nvPr/>
        </p:nvSpPr>
        <p:spPr>
          <a:xfrm>
            <a:off x="4444898"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Partnere og gründere møttes på tolv matchmaking-runder.</a:t>
            </a:r>
            <a:endParaRPr lang="en-US" sz="1800" dirty="0"/>
          </a:p>
        </p:txBody>
      </p:sp>
      <p:pic>
        <p:nvPicPr>
          <p:cNvPr id="10" name="Image 2" descr="C:\Code\Work\startuplab-partner-presentation\pptx-templates\media\row-3-rund.png">    </p:cNvPr>
          <p:cNvPicPr>
            <a:picLocks noChangeAspect="1"/>
          </p:cNvPicPr>
          <p:nvPr/>
        </p:nvPicPr>
        <p:blipFill>
          <a:blip r:embed="rId3"/>
          <a:stretch>
            <a:fillRect/>
          </a:stretch>
        </p:blipFill>
        <p:spPr>
          <a:xfrm>
            <a:off x="8112557" y="2240280"/>
            <a:ext cx="3301898" cy="2201266"/>
          </a:xfrm>
          <a:prstGeom prst="rect">
            <a:avLst/>
          </a:prstGeom>
        </p:spPr>
      </p:pic>
      <p:sp>
        <p:nvSpPr>
          <p:cNvPr id="11" name="Text 6"/>
          <p:cNvSpPr/>
          <p:nvPr/>
        </p:nvSpPr>
        <p:spPr>
          <a:xfrm>
            <a:off x="8112557"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Ut i felt</a:t>
            </a:r>
            <a:endParaRPr lang="en-US" sz="2000" dirty="0"/>
          </a:p>
        </p:txBody>
      </p:sp>
      <p:sp>
        <p:nvSpPr>
          <p:cNvPr id="12" name="Text 7"/>
          <p:cNvSpPr/>
          <p:nvPr/>
        </p:nvSpPr>
        <p:spPr>
          <a:xfrm>
            <a:off x="8112557"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Befaring med partnerne i Energy-programmet.</a:t>
            </a:r>
            <a:endParaRPr lang="en-US" sz="1800" dirty="0"/>
          </a:p>
        </p:txBody>
      </p:sp>
      <p:pic>
        <p:nvPicPr>
          <p:cNvPr id="13" name="Image 3" descr="C:\Code\Work\startuplab-partner-presentation\pptx-templates\media\logo-white.png">    </p:cNvPr>
          <p:cNvPicPr>
            <a:picLocks noChangeAspect="1"/>
          </p:cNvPicPr>
          <p:nvPr/>
        </p:nvPicPr>
        <p:blipFill>
          <a:blip r:embed="rId4"/>
          <a:stretch>
            <a:fillRect/>
          </a:stretch>
        </p:blipFill>
        <p:spPr>
          <a:xfrm>
            <a:off x="777240" y="6035040"/>
            <a:ext cx="84300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SLIK GÅR VI FREM</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Fire steg fra idé til pilot</a:t>
            </a:r>
            <a:endParaRPr lang="en-US" sz="4000" dirty="0"/>
          </a:p>
        </p:txBody>
      </p:sp>
      <p:sp>
        <p:nvSpPr>
          <p:cNvPr id="4" name="Text 2"/>
          <p:cNvSpPr/>
          <p:nvPr/>
        </p:nvSpPr>
        <p:spPr>
          <a:xfrm>
            <a:off x="777240" y="2423160"/>
            <a:ext cx="2247824" cy="914400"/>
          </a:xfrm>
          <a:prstGeom prst="rect">
            <a:avLst/>
          </a:prstGeom>
          <a:noFill/>
          <a:ln/>
        </p:spPr>
        <p:txBody>
          <a:bodyPr wrap="square" lIns="0" tIns="0" rIns="0" bIns="0" rtlCol="0" anchor="t"/>
          <a:lstStyle/>
          <a:p>
            <a:pPr indent="0" marL="0">
              <a:buNone/>
            </a:pPr>
            <a:r>
              <a:rPr lang="en-US" sz="5600" dirty="0">
                <a:solidFill>
                  <a:srgbClr val="FF3333"/>
                </a:solidFill>
                <a:latin typeface="Replica LL TT Heavy" pitchFamily="34" charset="0"/>
                <a:ea typeface="Replica LL TT Heavy" pitchFamily="34" charset="-122"/>
                <a:cs typeface="Replica LL TT Heavy" pitchFamily="34" charset="-120"/>
              </a:rPr>
              <a:t>01</a:t>
            </a:r>
            <a:endParaRPr lang="en-US" sz="5600" dirty="0"/>
          </a:p>
        </p:txBody>
      </p:sp>
      <p:sp>
        <p:nvSpPr>
          <p:cNvPr id="5" name="Text 3"/>
          <p:cNvSpPr/>
          <p:nvPr/>
        </p:nvSpPr>
        <p:spPr>
          <a:xfrm>
            <a:off x="777240"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Kartlegg</a:t>
            </a:r>
            <a:endParaRPr lang="en-US" sz="2500" dirty="0"/>
          </a:p>
        </p:txBody>
      </p:sp>
      <p:sp>
        <p:nvSpPr>
          <p:cNvPr id="6" name="Text 4"/>
          <p:cNvSpPr/>
          <p:nvPr/>
        </p:nvSpPr>
        <p:spPr>
          <a:xfrm>
            <a:off x="777240"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finner utfordringen som er verdt å løse.</a:t>
            </a:r>
            <a:endParaRPr lang="en-US" sz="1800" dirty="0"/>
          </a:p>
        </p:txBody>
      </p:sp>
      <p:sp>
        <p:nvSpPr>
          <p:cNvPr id="7" name="Text 5"/>
          <p:cNvSpPr/>
          <p:nvPr/>
        </p:nvSpPr>
        <p:spPr>
          <a:xfrm>
            <a:off x="3573704"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02</a:t>
            </a:r>
            <a:endParaRPr lang="en-US" sz="5600" dirty="0"/>
          </a:p>
        </p:txBody>
      </p:sp>
      <p:sp>
        <p:nvSpPr>
          <p:cNvPr id="8" name="Text 6"/>
          <p:cNvSpPr/>
          <p:nvPr/>
        </p:nvSpPr>
        <p:spPr>
          <a:xfrm>
            <a:off x="3573704"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Match</a:t>
            </a:r>
            <a:endParaRPr lang="en-US" sz="2500" dirty="0"/>
          </a:p>
        </p:txBody>
      </p:sp>
      <p:sp>
        <p:nvSpPr>
          <p:cNvPr id="9" name="Text 7"/>
          <p:cNvSpPr/>
          <p:nvPr/>
        </p:nvSpPr>
        <p:spPr>
          <a:xfrm>
            <a:off x="3573704"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henter inn selskapene som treffer den.</a:t>
            </a:r>
            <a:endParaRPr lang="en-US" sz="1800" dirty="0"/>
          </a:p>
        </p:txBody>
      </p:sp>
      <p:sp>
        <p:nvSpPr>
          <p:cNvPr id="10" name="Text 8"/>
          <p:cNvSpPr/>
          <p:nvPr/>
        </p:nvSpPr>
        <p:spPr>
          <a:xfrm>
            <a:off x="6370168"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03</a:t>
            </a:r>
            <a:endParaRPr lang="en-US" sz="5600" dirty="0"/>
          </a:p>
        </p:txBody>
      </p:sp>
      <p:sp>
        <p:nvSpPr>
          <p:cNvPr id="11" name="Text 9"/>
          <p:cNvSpPr/>
          <p:nvPr/>
        </p:nvSpPr>
        <p:spPr>
          <a:xfrm>
            <a:off x="6370168"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Pilot</a:t>
            </a:r>
            <a:endParaRPr lang="en-US" sz="2500" dirty="0"/>
          </a:p>
        </p:txBody>
      </p:sp>
      <p:sp>
        <p:nvSpPr>
          <p:cNvPr id="12" name="Text 10"/>
          <p:cNvSpPr/>
          <p:nvPr/>
        </p:nvSpPr>
        <p:spPr>
          <a:xfrm>
            <a:off x="6370168"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rigger et forsøk med tydelige kriterier.</a:t>
            </a:r>
            <a:endParaRPr lang="en-US" sz="1800" dirty="0"/>
          </a:p>
        </p:txBody>
      </p:sp>
      <p:sp>
        <p:nvSpPr>
          <p:cNvPr id="13" name="Text 11"/>
          <p:cNvSpPr/>
          <p:nvPr/>
        </p:nvSpPr>
        <p:spPr>
          <a:xfrm>
            <a:off x="9166631"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04</a:t>
            </a:r>
            <a:endParaRPr lang="en-US" sz="5600" dirty="0"/>
          </a:p>
        </p:txBody>
      </p:sp>
      <p:sp>
        <p:nvSpPr>
          <p:cNvPr id="14" name="Text 12"/>
          <p:cNvSpPr/>
          <p:nvPr/>
        </p:nvSpPr>
        <p:spPr>
          <a:xfrm>
            <a:off x="9166631"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Skaler</a:t>
            </a:r>
            <a:endParaRPr lang="en-US" sz="2500" dirty="0"/>
          </a:p>
        </p:txBody>
      </p:sp>
      <p:sp>
        <p:nvSpPr>
          <p:cNvPr id="15" name="Text 13"/>
          <p:cNvSpPr/>
          <p:nvPr/>
        </p:nvSpPr>
        <p:spPr>
          <a:xfrm>
            <a:off x="9166631"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Det som virker, settes i drift.</a:t>
            </a:r>
            <a:endParaRPr lang="en-US" sz="18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TEAMET</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Folkene du kommer til å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jobbe med</a:t>
            </a:r>
            <a:endParaRPr lang="en-US" sz="4000" dirty="0"/>
          </a:p>
        </p:txBody>
      </p:sp>
      <p:pic>
        <p:nvPicPr>
          <p:cNvPr id="4" name="Image 0" descr="C:\Code\Work\startuplab-partner-presentation\pptx-templates\media\portrait-1-rund.png">    </p:cNvPr>
          <p:cNvPicPr>
            <a:picLocks noChangeAspect="1"/>
          </p:cNvPicPr>
          <p:nvPr/>
        </p:nvPicPr>
        <p:blipFill>
          <a:blip r:embed="rId1"/>
          <a:stretch>
            <a:fillRect/>
          </a:stretch>
        </p:blipFill>
        <p:spPr>
          <a:xfrm>
            <a:off x="777240" y="2286000"/>
            <a:ext cx="2240280" cy="2240280"/>
          </a:xfrm>
          <a:prstGeom prst="rect">
            <a:avLst/>
          </a:prstGeom>
        </p:spPr>
      </p:pic>
      <p:sp>
        <p:nvSpPr>
          <p:cNvPr id="5" name="Text 2"/>
          <p:cNvSpPr/>
          <p:nvPr/>
        </p:nvSpPr>
        <p:spPr>
          <a:xfrm>
            <a:off x="777240"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Christina Wiig</a:t>
            </a:r>
            <a:endParaRPr lang="en-US" sz="2100" dirty="0"/>
          </a:p>
        </p:txBody>
      </p:sp>
      <p:sp>
        <p:nvSpPr>
          <p:cNvPr id="6" name="Text 3"/>
          <p:cNvSpPr/>
          <p:nvPr/>
        </p:nvSpPr>
        <p:spPr>
          <a:xfrm>
            <a:off x="777240"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Head of Corporate Partnerships</a:t>
            </a:r>
            <a:endParaRPr lang="en-US" sz="1800" dirty="0"/>
          </a:p>
        </p:txBody>
      </p:sp>
      <p:pic>
        <p:nvPicPr>
          <p:cNvPr id="7" name="Image 1" descr="C:\Code\Work\startuplab-partner-presentation\pptx-templates\media\portrait-2-rund.png">    </p:cNvPr>
          <p:cNvPicPr>
            <a:picLocks noChangeAspect="1"/>
          </p:cNvPicPr>
          <p:nvPr/>
        </p:nvPicPr>
        <p:blipFill>
          <a:blip r:embed="rId2"/>
          <a:stretch>
            <a:fillRect/>
          </a:stretch>
        </p:blipFill>
        <p:spPr>
          <a:xfrm>
            <a:off x="3576218" y="2286000"/>
            <a:ext cx="2240280" cy="2240280"/>
          </a:xfrm>
          <a:prstGeom prst="rect">
            <a:avLst/>
          </a:prstGeom>
        </p:spPr>
      </p:pic>
      <p:sp>
        <p:nvSpPr>
          <p:cNvPr id="8" name="Text 4"/>
          <p:cNvSpPr/>
          <p:nvPr/>
        </p:nvSpPr>
        <p:spPr>
          <a:xfrm>
            <a:off x="3576218"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Anniken Holst</a:t>
            </a:r>
            <a:endParaRPr lang="en-US" sz="2100" dirty="0"/>
          </a:p>
        </p:txBody>
      </p:sp>
      <p:sp>
        <p:nvSpPr>
          <p:cNvPr id="9" name="Text 5"/>
          <p:cNvSpPr/>
          <p:nvPr/>
        </p:nvSpPr>
        <p:spPr>
          <a:xfrm>
            <a:off x="3576218"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Partner Manager</a:t>
            </a:r>
            <a:endParaRPr lang="en-US" sz="1800" dirty="0"/>
          </a:p>
        </p:txBody>
      </p:sp>
      <p:pic>
        <p:nvPicPr>
          <p:cNvPr id="10" name="Image 2" descr="C:\Code\Work\startuplab-partner-presentation\pptx-templates\media\portrait-3-rund.png">    </p:cNvPr>
          <p:cNvPicPr>
            <a:picLocks noChangeAspect="1"/>
          </p:cNvPicPr>
          <p:nvPr/>
        </p:nvPicPr>
        <p:blipFill>
          <a:blip r:embed="rId3"/>
          <a:stretch>
            <a:fillRect/>
          </a:stretch>
        </p:blipFill>
        <p:spPr>
          <a:xfrm>
            <a:off x="6375197" y="2286000"/>
            <a:ext cx="2240280" cy="2240280"/>
          </a:xfrm>
          <a:prstGeom prst="rect">
            <a:avLst/>
          </a:prstGeom>
        </p:spPr>
      </p:pic>
      <p:sp>
        <p:nvSpPr>
          <p:cNvPr id="11" name="Text 6"/>
          <p:cNvSpPr/>
          <p:nvPr/>
        </p:nvSpPr>
        <p:spPr>
          <a:xfrm>
            <a:off x="6375197"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Ola Jacobsen</a:t>
            </a:r>
            <a:endParaRPr lang="en-US" sz="2100" dirty="0"/>
          </a:p>
        </p:txBody>
      </p:sp>
      <p:sp>
        <p:nvSpPr>
          <p:cNvPr id="12" name="Text 7"/>
          <p:cNvSpPr/>
          <p:nvPr/>
        </p:nvSpPr>
        <p:spPr>
          <a:xfrm>
            <a:off x="6375197"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Partner Manager</a:t>
            </a:r>
            <a:endParaRPr lang="en-US" sz="1800" dirty="0"/>
          </a:p>
        </p:txBody>
      </p:sp>
      <p:sp>
        <p:nvSpPr>
          <p:cNvPr id="13" name="Shape 8"/>
          <p:cNvSpPr/>
          <p:nvPr/>
        </p:nvSpPr>
        <p:spPr>
          <a:xfrm>
            <a:off x="9174175" y="2286000"/>
            <a:ext cx="2240280" cy="2240280"/>
          </a:xfrm>
          <a:prstGeom prst="roundRect">
            <a:avLst>
              <a:gd name="adj" fmla="val 4332"/>
            </a:avLst>
          </a:prstGeom>
          <a:solidFill>
            <a:srgbClr val="F0F0F0"/>
          </a:solidFill>
          <a:ln w="12700">
            <a:solidFill>
              <a:srgbClr val="D8DCDF"/>
            </a:solidFill>
            <a:prstDash val="solid"/>
          </a:ln>
        </p:spPr>
      </p:sp>
      <p:sp>
        <p:nvSpPr>
          <p:cNvPr id="14" name="Text 9"/>
          <p:cNvSpPr/>
          <p:nvPr/>
        </p:nvSpPr>
        <p:spPr>
          <a:xfrm>
            <a:off x="9174175" y="2994660"/>
            <a:ext cx="2240280" cy="822960"/>
          </a:xfrm>
          <a:prstGeom prst="rect">
            <a:avLst/>
          </a:prstGeom>
          <a:noFill/>
          <a:ln/>
        </p:spPr>
        <p:txBody>
          <a:bodyPr wrap="square" lIns="0" tIns="0" rIns="0" bIns="0" rtlCol="0" anchor="ctr"/>
          <a:lstStyle/>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15" name="Text 10"/>
          <p:cNvSpPr/>
          <p:nvPr/>
        </p:nvSpPr>
        <p:spPr>
          <a:xfrm>
            <a:off x="9174175"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Navn Navnesen</a:t>
            </a:r>
            <a:endParaRPr lang="en-US" sz="2100" dirty="0"/>
          </a:p>
        </p:txBody>
      </p:sp>
      <p:sp>
        <p:nvSpPr>
          <p:cNvPr id="16" name="Text 11"/>
          <p:cNvSpPr/>
          <p:nvPr/>
        </p:nvSpPr>
        <p:spPr>
          <a:xfrm>
            <a:off x="9174175"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Rolle her</a:t>
            </a:r>
            <a:endParaRPr lang="en-US" sz="1800" dirty="0"/>
          </a:p>
        </p:txBody>
      </p:sp>
      <p:pic>
        <p:nvPicPr>
          <p:cNvPr id="17" name="Image 3" descr="C:\Code\Work\startuplab-partner-presentation\pptx-templates\media\logo-red.png">    </p:cNvPr>
          <p:cNvPicPr>
            <a:picLocks noChangeAspect="1"/>
          </p:cNvPicPr>
          <p:nvPr/>
        </p:nvPicPr>
        <p:blipFill>
          <a:blip r:embed="rId4"/>
          <a:stretch>
            <a:fillRect/>
          </a:stretch>
        </p:blipFill>
        <p:spPr>
          <a:xfrm>
            <a:off x="777240" y="6035040"/>
            <a:ext cx="843006"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4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00"/>
          </a:solidFill>
          <a:ln/>
        </p:spPr>
      </p:sp>
      <p:sp>
        <p:nvSpPr>
          <p:cNvPr id="3" name="Shape 1"/>
          <p:cNvSpPr/>
          <p:nvPr/>
        </p:nvSpPr>
        <p:spPr>
          <a:xfrm>
            <a:off x="5592928" y="2926080"/>
            <a:ext cx="1005840" cy="1005840"/>
          </a:xfrm>
          <a:prstGeom prst="ellipse">
            <a:avLst/>
          </a:prstGeom>
          <a:solidFill>
            <a:srgbClr val="FF3333"/>
          </a:solidFill>
          <a:ln/>
        </p:spPr>
      </p:sp>
      <p:sp>
        <p:nvSpPr>
          <p:cNvPr id="4" name="Shape 2"/>
          <p:cNvSpPr/>
          <p:nvPr/>
        </p:nvSpPr>
        <p:spPr>
          <a:xfrm rot="5400000">
            <a:off x="5940400" y="3218688"/>
            <a:ext cx="384048" cy="420624"/>
          </a:xfrm>
          <a:prstGeom prst="triangle">
            <a:avLst/>
          </a:prstGeom>
          <a:solidFill>
            <a:srgbClr val="FFFFFF"/>
          </a:solidFill>
          <a:ln/>
        </p:spPr>
      </p:sp>
      <p:sp>
        <p:nvSpPr>
          <p:cNvPr id="5" name="Text 3"/>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SE FILMEN</a:t>
            </a:r>
            <a:endParaRPr lang="en-US" sz="1600" dirty="0"/>
          </a:p>
        </p:txBody>
      </p:sp>
      <p:sp>
        <p:nvSpPr>
          <p:cNvPr id="6" name="Text 4"/>
          <p:cNvSpPr/>
          <p:nvPr/>
        </p:nvSpPr>
        <p:spPr>
          <a:xfrm>
            <a:off x="777240" y="1078992"/>
            <a:ext cx="9144000" cy="731520"/>
          </a:xfrm>
          <a:prstGeom prst="rect">
            <a:avLst/>
          </a:prstGeom>
          <a:noFill/>
          <a:ln/>
        </p:spPr>
        <p:txBody>
          <a:bodyPr wrap="square" lIns="0" tIns="0" rIns="0" bIns="0" rtlCol="0" anchor="t"/>
          <a:lstStyle/>
          <a:p>
            <a:pPr indent="0" marL="0">
              <a:buNone/>
            </a:pPr>
            <a:r>
              <a:rPr lang="en-US" sz="4000" b="1" dirty="0">
                <a:solidFill>
                  <a:srgbClr val="FFFFFF"/>
                </a:solidFill>
                <a:latin typeface="Replica LL TT" pitchFamily="34" charset="0"/>
                <a:ea typeface="Replica LL TT" pitchFamily="34" charset="-122"/>
                <a:cs typeface="Replica LL TT" pitchFamily="34" charset="-120"/>
              </a:rPr>
              <a:t>Året i </a:t>
            </a:r>
            <a:pPr indent="0" marL="0">
              <a:buNone/>
            </a:pPr>
            <a:r>
              <a:rPr lang="en-US" sz="4000" b="1" dirty="0">
                <a:solidFill>
                  <a:srgbClr val="FF3333"/>
                </a:solidFill>
                <a:latin typeface="Replica LL TT" pitchFamily="34" charset="0"/>
                <a:ea typeface="Replica LL TT" pitchFamily="34" charset="-122"/>
                <a:cs typeface="Replica LL TT" pitchFamily="34" charset="-120"/>
              </a:rPr>
              <a:t>bevegelse</a:t>
            </a:r>
            <a:endParaRPr lang="en-US" sz="4000" dirty="0"/>
          </a:p>
        </p:txBody>
      </p:sp>
      <p:pic>
        <p:nvPicPr>
          <p:cNvPr id="7"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3333"/>
        </a:solidFill>
      </p:bgPr>
    </p:bg>
    <p:spTree>
      <p:nvGrpSpPr>
        <p:cNvPr id="1" name=""/>
        <p:cNvGrpSpPr/>
        <p:nvPr/>
      </p:nvGrpSpPr>
      <p:grpSpPr>
        <a:xfrm>
          <a:off x="0" y="0"/>
          <a:ext cx="0" cy="0"/>
          <a:chOff x="0" y="0"/>
          <a:chExt cx="0" cy="0"/>
        </a:xfrm>
      </p:grpSpPr>
      <p:pic>
        <p:nvPicPr>
          <p:cNvPr id="2" name="Image 0" descr="C:\Code\Work\startuplab-partner-presentation\pptx-templates\media\logo-white.png">    </p:cNvPr>
          <p:cNvPicPr>
            <a:picLocks noChangeAspect="1"/>
          </p:cNvPicPr>
          <p:nvPr/>
        </p:nvPicPr>
        <p:blipFill>
          <a:blip r:embed="rId1"/>
          <a:stretch>
            <a:fillRect/>
          </a:stretch>
        </p:blipFill>
        <p:spPr>
          <a:xfrm>
            <a:off x="777240" y="2057400"/>
            <a:ext cx="5303520" cy="1955908"/>
          </a:xfrm>
          <a:prstGeom prst="rect">
            <a:avLst/>
          </a:prstGeom>
        </p:spPr>
      </p:pic>
      <p:sp>
        <p:nvSpPr>
          <p:cNvPr id="3" name="Text 0"/>
          <p:cNvSpPr/>
          <p:nvPr/>
        </p:nvSpPr>
        <p:spPr>
          <a:xfrm>
            <a:off x="777240" y="4224528"/>
            <a:ext cx="10058400" cy="640080"/>
          </a:xfrm>
          <a:prstGeom prst="rect">
            <a:avLst/>
          </a:prstGeom>
          <a:noFill/>
          <a:ln/>
        </p:spPr>
        <p:txBody>
          <a:bodyPr wrap="square" lIns="0" tIns="0" rIns="0" bIns="0" rtlCol="0" anchor="ctr"/>
          <a:lstStyle/>
          <a:p>
            <a:pPr indent="0" marL="0">
              <a:buNone/>
            </a:pPr>
            <a:r>
              <a:rPr lang="en-US" sz="3200" dirty="0">
                <a:solidFill>
                  <a:srgbClr val="FFFFFF"/>
                </a:solidFill>
                <a:latin typeface="Replica LL TT" pitchFamily="34" charset="0"/>
                <a:ea typeface="Replica LL TT" pitchFamily="34" charset="-122"/>
                <a:cs typeface="Replica LL TT" pitchFamily="34" charset="-120"/>
              </a:rPr>
              <a:t>Empowering Tech Founders to Go Further</a:t>
            </a:r>
            <a:endParaRPr lang="en-US" sz="3200" dirty="0"/>
          </a:p>
        </p:txBody>
      </p:sp>
      <p:sp>
        <p:nvSpPr>
          <p:cNvPr id="4" name="Text 1"/>
          <p:cNvSpPr/>
          <p:nvPr/>
        </p:nvSpPr>
        <p:spPr>
          <a:xfrm>
            <a:off x="777240" y="5029200"/>
            <a:ext cx="9144000" cy="457200"/>
          </a:xfrm>
          <a:prstGeom prst="rect">
            <a:avLst/>
          </a:prstGeom>
          <a:noFill/>
          <a:ln/>
        </p:spPr>
        <p:txBody>
          <a:bodyPr wrap="square" lIns="0" tIns="0" rIns="0" bIns="0" rtlCol="0" anchor="ctr"/>
          <a:lstStyle/>
          <a:p>
            <a:pPr indent="0" marL="0">
              <a:buNone/>
            </a:pPr>
            <a:r>
              <a:rPr lang="en-US" sz="2200" dirty="0">
                <a:solidFill>
                  <a:srgbClr val="FFFFFF"/>
                </a:solidFill>
                <a:latin typeface="Inter" pitchFamily="34" charset="0"/>
                <a:ea typeface="Inter" pitchFamily="34" charset="-122"/>
                <a:cs typeface="Inter" pitchFamily="34" charset="-120"/>
              </a:rPr>
              <a:t>startuplab.no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Startuplab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Startuplab — slidemaler</dc:title>
  <dc:subject>PptxGenJS Presentation</dc:subject>
  <dc:creator>Startuplab</dc:creator>
  <cp:lastModifiedBy>Startuplab</cp:lastModifiedBy>
  <cp:revision>1</cp:revision>
  <dcterms:created xsi:type="dcterms:W3CDTF">2026-08-20T06:26:43Z</dcterms:created>
  <dcterms:modified xsi:type="dcterms:W3CDTF">2026-08-20T06:26:43Z</dcterms:modified>
</cp:coreProperties>
</file>