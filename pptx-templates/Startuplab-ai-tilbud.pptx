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TRAPPEN, 5 trinn. Nummererte kort med piler mellom, og et fotobånd under. Bruk den når tilbudet har trinn og salen skal se hele stigen på ett blikk. Malen tåler tre til fem trinn.
Bildene er tomme plassholdere. Dra inn dine egne, marker bildet, Bildeformat &gt; Beskjær &gt; Beskjær til figur &gt; avrundet rektangel.
Båndet er lavt med vilje. Forelegget er en nettside der bildene ligger i 3:2 under kortene, men på 16:9 er det ikke plass til både kort og 3:2-bilder uten å gå under 18 pt i kortene. Velg bilder der motivet ligger midt i høyden: et bånd i 3,4:1 beskjærer bort topp og bunn.
Tekstgrenser, og de er trange fordi kolonnen bare er 1,65 tommer bred: ca. 13 tegn per linje. Navnet maks to linjer, omfanget én, og «hva som skjer» maks tre (ca. 36 tegn). Lengre tekst dytter kortet ned i fotobåndet.
Pass på lange sammensatte ord. Ett ord på mer enn 13 tegn får ikke plass på en linje, og PowerPoint deler det midt i uten bindestrek: «Inspirasjonsforedrag» ble «Inspirasjonsf / oredrag». Sett bindestreken selv der ordet skal deles, med linjeskift etter: «Inspirasjons-» og så «foredrag» på neste linje.
Trenger du ikke bilder, sett `bilder: 0`. Da står kortene alene, og du kan gjøre dem høyere.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TILBUDSKORT. Fire tilbud side om side: bilde, navn og ett løfte. Malen tåler tre eller fire.
Bildene er tomme plassholdere. Dra inn dine egne, marker bildet, Bildeformat &gt; Beskjær &gt; Beskjær til figur &gt; avrundet rektangel, og legg det over plassholderen.
Hold løftet på maks to linjer, ca. 46 tegn. Lengre løfte tar en tredje linje, og da er raden fire tekstblokker der bildene skulle gjort jobben.
Malen har også en valgfri faktalinje under løftet, til ett tall eller én referanse. Den er tom her med vilje: tid og antall deltakere hører i samtalen, ikke på sliden. Legger du den inn igjen, krymper bildene fra 4:3 til 3:2 for å gi plass.
Har du bare bilder til noen av kortene, la de andre stå som grå plassholdere heller enn å fylle dem med et bilde som ikke viser tilbudet. En tom plassholder leser som «kommer», et feil bilde leser som feil.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7F7"/>
        </a:solidFill>
      </p:bgPr>
    </p:bg>
    <p:spTree>
      <p:nvGrpSpPr>
        <p:cNvPr id="1" name=""/>
        <p:cNvGrpSpPr/>
        <p:nvPr/>
      </p:nvGrpSpPr>
      <p:grpSpPr>
        <a:xfrm>
          <a:off x="0" y="0"/>
          <a:ext cx="0" cy="0"/>
          <a:chOff x="0" y="0"/>
          <a:chExt cx="0" cy="0"/>
        </a:xfrm>
      </p:grpSpPr>
      <p:sp>
        <p:nvSpPr>
          <p:cNvPr id="2" name="Text 0"/>
          <p:cNvSpPr/>
          <p:nvPr/>
        </p:nvSpPr>
        <p:spPr>
          <a:xfrm>
            <a:off x="777240" y="713232"/>
            <a:ext cx="8229600" cy="292608"/>
          </a:xfrm>
          <a:prstGeom prst="rect">
            <a:avLst/>
          </a:prstGeom>
          <a:noFill/>
          <a:ln/>
        </p:spPr>
        <p:txBody>
          <a:bodyPr wrap="square" lIns="0" tIns="0" rIns="0" bIns="0" rtlCol="0" anchor="ctr"/>
          <a:lstStyle/>
          <a:p>
            <a:pPr indent="0" marL="0">
              <a:buNone/>
            </a:pPr>
            <a:r>
              <a:rPr lang="en-US" sz="1600" b="1" spc="180" kern="0" dirty="0">
                <a:solidFill>
                  <a:srgbClr val="FF3333"/>
                </a:solidFill>
                <a:latin typeface="Inter" pitchFamily="34" charset="0"/>
                <a:ea typeface="Inter" pitchFamily="34" charset="-122"/>
                <a:cs typeface="Inter" pitchFamily="34" charset="-120"/>
              </a:rPr>
              <a:t>VIBECODING</a:t>
            </a:r>
            <a:endParaRPr lang="en-US" sz="1600" dirty="0"/>
          </a:p>
        </p:txBody>
      </p:sp>
      <p:sp>
        <p:nvSpPr>
          <p:cNvPr id="3" name="Text 1"/>
          <p:cNvSpPr/>
          <p:nvPr/>
        </p:nvSpPr>
        <p:spPr>
          <a:xfrm>
            <a:off x="777240" y="1051560"/>
            <a:ext cx="10424160" cy="777240"/>
          </a:xfrm>
          <a:prstGeom prst="rect">
            <a:avLst/>
          </a:prstGeom>
          <a:noFill/>
          <a:ln/>
        </p:spPr>
        <p:txBody>
          <a:bodyPr wrap="square" lIns="0" tIns="0" rIns="0" bIns="0" rtlCol="0" anchor="t"/>
          <a:lstStyle/>
          <a:p>
            <a:pPr indent="0" marL="0">
              <a:lnSpc>
                <a:spcPct val="100000"/>
              </a:lnSpc>
              <a:buNone/>
            </a:pPr>
            <a:r>
              <a:rPr lang="en-US" sz="4000" b="1" dirty="0">
                <a:solidFill>
                  <a:srgbClr val="131415"/>
                </a:solidFill>
                <a:latin typeface="Replica LL TT" pitchFamily="34" charset="0"/>
                <a:ea typeface="Replica LL TT" pitchFamily="34" charset="-122"/>
                <a:cs typeface="Replica LL TT" pitchFamily="34" charset="-120"/>
              </a:rPr>
              <a:t>Fra demo til </a:t>
            </a:r>
            <a:pPr indent="0" marL="0">
              <a:lnSpc>
                <a:spcPct val="100000"/>
              </a:lnSpc>
              <a:buNone/>
            </a:pPr>
            <a:r>
              <a:rPr lang="en-US" sz="4000" b="1" dirty="0">
                <a:solidFill>
                  <a:srgbClr val="FF3333"/>
                </a:solidFill>
                <a:latin typeface="Replica LL TT" pitchFamily="34" charset="0"/>
                <a:ea typeface="Replica LL TT" pitchFamily="34" charset="-122"/>
                <a:cs typeface="Replica LL TT" pitchFamily="34" charset="-120"/>
              </a:rPr>
              <a:t>skalering</a:t>
            </a:r>
            <a:endParaRPr lang="en-US" sz="4000" dirty="0"/>
          </a:p>
        </p:txBody>
      </p:sp>
      <p:sp>
        <p:nvSpPr>
          <p:cNvPr id="4" name="Shape 2"/>
          <p:cNvSpPr/>
          <p:nvPr/>
        </p:nvSpPr>
        <p:spPr>
          <a:xfrm>
            <a:off x="777240" y="2212848"/>
            <a:ext cx="1820205" cy="2414016"/>
          </a:xfrm>
          <a:prstGeom prst="roundRect">
            <a:avLst>
              <a:gd name="adj" fmla="val 6562"/>
            </a:avLst>
          </a:prstGeom>
          <a:solidFill>
            <a:srgbClr val="FFFFFF"/>
          </a:solidFill>
          <a:ln w="12700">
            <a:solidFill>
              <a:srgbClr val="E3E6E8"/>
            </a:solidFill>
            <a:prstDash val="solid"/>
          </a:ln>
        </p:spPr>
      </p:sp>
      <p:sp>
        <p:nvSpPr>
          <p:cNvPr id="5" name="Text 3"/>
          <p:cNvSpPr/>
          <p:nvPr/>
        </p:nvSpPr>
        <p:spPr>
          <a:xfrm>
            <a:off x="932688" y="2359152"/>
            <a:ext cx="1509309" cy="365760"/>
          </a:xfrm>
          <a:prstGeom prst="rect">
            <a:avLst/>
          </a:prstGeom>
          <a:noFill/>
          <a:ln/>
        </p:spPr>
        <p:txBody>
          <a:bodyPr wrap="square" lIns="0" tIns="0" rIns="0" bIns="0" rtlCol="0" anchor="ctr"/>
          <a:lstStyle/>
          <a:p>
            <a:pPr indent="0" marL="0">
              <a:buNone/>
            </a:pPr>
            <a:r>
              <a:rPr lang="en-US" sz="2600" dirty="0">
                <a:solidFill>
                  <a:srgbClr val="FF3333"/>
                </a:solidFill>
                <a:latin typeface="Replica LL TT Heavy" pitchFamily="34" charset="0"/>
                <a:ea typeface="Replica LL TT Heavy" pitchFamily="34" charset="-122"/>
                <a:cs typeface="Replica LL TT Heavy" pitchFamily="34" charset="-120"/>
              </a:rPr>
              <a:t>01</a:t>
            </a:r>
            <a:endParaRPr lang="en-US" sz="2600" dirty="0"/>
          </a:p>
        </p:txBody>
      </p:sp>
      <p:sp>
        <p:nvSpPr>
          <p:cNvPr id="6" name="Text 4"/>
          <p:cNvSpPr/>
          <p:nvPr/>
        </p:nvSpPr>
        <p:spPr>
          <a:xfrm>
            <a:off x="932688" y="2743200"/>
            <a:ext cx="1509309" cy="566928"/>
          </a:xfrm>
          <a:prstGeom prst="rect">
            <a:avLst/>
          </a:prstGeom>
          <a:noFill/>
          <a:ln/>
        </p:spPr>
        <p:txBody>
          <a:bodyPr wrap="square" lIns="0" tIns="0" rIns="0" bIns="0" rtlCol="0" anchor="t"/>
          <a:lstStyle/>
          <a:p>
            <a:pPr indent="0" marL="0">
              <a:lnSpc>
                <a:spcPct val="110000"/>
              </a:lnSpc>
              <a:buNone/>
            </a:pPr>
            <a:r>
              <a:rPr lang="en-US" sz="1900" b="1" dirty="0">
                <a:solidFill>
                  <a:srgbClr val="131415"/>
                </a:solidFill>
                <a:latin typeface="Replica LL TT" pitchFamily="34" charset="0"/>
                <a:ea typeface="Replica LL TT" pitchFamily="34" charset="-122"/>
                <a:cs typeface="Replica LL TT" pitchFamily="34" charset="-120"/>
              </a:rPr>
              <a:t>Leadership</a:t>
            </a:r>
            <a:endParaRPr lang="en-US" sz="1900" dirty="0"/>
          </a:p>
          <a:p>
            <a:pPr indent="0" marL="0">
              <a:lnSpc>
                <a:spcPct val="110000"/>
              </a:lnSpc>
              <a:buNone/>
            </a:pPr>
            <a:r>
              <a:rPr lang="en-US" sz="1900" b="1" dirty="0">
                <a:solidFill>
                  <a:srgbClr val="131415"/>
                </a:solidFill>
                <a:latin typeface="Replica LL TT" pitchFamily="34" charset="0"/>
                <a:ea typeface="Replica LL TT" pitchFamily="34" charset="-122"/>
                <a:cs typeface="Replica LL TT" pitchFamily="34" charset="-120"/>
              </a:rPr>
              <a:t>Demo</a:t>
            </a:r>
            <a:endParaRPr lang="en-US" sz="1900" dirty="0"/>
          </a:p>
        </p:txBody>
      </p:sp>
      <p:sp>
        <p:nvSpPr>
          <p:cNvPr id="7" name="Text 5"/>
          <p:cNvSpPr/>
          <p:nvPr/>
        </p:nvSpPr>
        <p:spPr>
          <a:xfrm>
            <a:off x="932688" y="3328416"/>
            <a:ext cx="1509309" cy="256032"/>
          </a:xfrm>
          <a:prstGeom prst="rect">
            <a:avLst/>
          </a:prstGeom>
          <a:noFill/>
          <a:ln/>
        </p:spPr>
        <p:txBody>
          <a:bodyPr wrap="square" lIns="0" tIns="0" rIns="0" bIns="0" rtlCol="0" anchor="ctr"/>
          <a:lstStyle/>
          <a:p>
            <a:pPr indent="0" marL="0">
              <a:buNone/>
            </a:pPr>
            <a:r>
              <a:rPr lang="en-US" sz="1600" dirty="0">
                <a:solidFill>
                  <a:srgbClr val="5A6166"/>
                </a:solidFill>
                <a:latin typeface="Inter" pitchFamily="34" charset="0"/>
                <a:ea typeface="Inter" pitchFamily="34" charset="-122"/>
                <a:cs typeface="Inter" pitchFamily="34" charset="-120"/>
              </a:rPr>
              <a:t>60-90 min</a:t>
            </a:r>
            <a:endParaRPr lang="en-US" sz="1600" dirty="0"/>
          </a:p>
        </p:txBody>
      </p:sp>
      <p:sp>
        <p:nvSpPr>
          <p:cNvPr id="8" name="Text 6"/>
          <p:cNvSpPr/>
          <p:nvPr/>
        </p:nvSpPr>
        <p:spPr>
          <a:xfrm>
            <a:off x="932688" y="3621024"/>
            <a:ext cx="1509309" cy="841248"/>
          </a:xfrm>
          <a:prstGeom prst="rect">
            <a:avLst/>
          </a:prstGeom>
          <a:noFill/>
          <a:ln/>
        </p:spPr>
        <p:txBody>
          <a:bodyPr wrap="square" lIns="0" tIns="0" rIns="0" bIns="0" rtlCol="0" anchor="t"/>
          <a:lstStyle/>
          <a:p>
            <a:pPr indent="0" marL="0">
              <a:lnSpc>
                <a:spcPct val="115000"/>
              </a:lnSpc>
              <a:buNone/>
            </a:pPr>
            <a:r>
              <a:rPr lang="en-US" sz="1800" dirty="0">
                <a:solidFill>
                  <a:srgbClr val="131415"/>
                </a:solidFill>
                <a:latin typeface="Inter" pitchFamily="34" charset="0"/>
                <a:ea typeface="Inter" pitchFamily="34" charset="-122"/>
                <a:cs typeface="Inter" pitchFamily="34" charset="-120"/>
              </a:rPr>
              <a:t>Ledelsen prøver det selv.</a:t>
            </a:r>
            <a:endParaRPr lang="en-US" sz="1800" dirty="0"/>
          </a:p>
        </p:txBody>
      </p:sp>
      <p:sp>
        <p:nvSpPr>
          <p:cNvPr id="9" name="Text 7"/>
          <p:cNvSpPr/>
          <p:nvPr/>
        </p:nvSpPr>
        <p:spPr>
          <a:xfrm>
            <a:off x="2597445" y="3236976"/>
            <a:ext cx="384048" cy="365760"/>
          </a:xfrm>
          <a:prstGeom prst="rect">
            <a:avLst/>
          </a:prstGeom>
          <a:noFill/>
          <a:ln/>
        </p:spPr>
        <p:txBody>
          <a:bodyPr wrap="square" lIns="0" tIns="0" rIns="0" bIns="0" rtlCol="0" anchor="ctr"/>
          <a:lstStyle/>
          <a:p>
            <a:pPr algn="ctr" indent="0" marL="0">
              <a:buNone/>
            </a:pPr>
            <a:r>
              <a:rPr lang="en-US" sz="2000" dirty="0">
                <a:solidFill>
                  <a:srgbClr val="5A6166"/>
                </a:solidFill>
                <a:latin typeface="Inter" pitchFamily="34" charset="0"/>
                <a:ea typeface="Inter" pitchFamily="34" charset="-122"/>
                <a:cs typeface="Inter" pitchFamily="34" charset="-120"/>
              </a:rPr>
              <a:t>→</a:t>
            </a:r>
            <a:endParaRPr lang="en-US" sz="2000" dirty="0"/>
          </a:p>
        </p:txBody>
      </p:sp>
      <p:sp>
        <p:nvSpPr>
          <p:cNvPr id="10" name="Shape 8"/>
          <p:cNvSpPr/>
          <p:nvPr/>
        </p:nvSpPr>
        <p:spPr>
          <a:xfrm>
            <a:off x="2981493" y="2212848"/>
            <a:ext cx="1820205" cy="2414016"/>
          </a:xfrm>
          <a:prstGeom prst="roundRect">
            <a:avLst>
              <a:gd name="adj" fmla="val 6562"/>
            </a:avLst>
          </a:prstGeom>
          <a:solidFill>
            <a:srgbClr val="FFFFFF"/>
          </a:solidFill>
          <a:ln w="12700">
            <a:solidFill>
              <a:srgbClr val="E3E6E8"/>
            </a:solidFill>
            <a:prstDash val="solid"/>
          </a:ln>
        </p:spPr>
      </p:sp>
      <p:sp>
        <p:nvSpPr>
          <p:cNvPr id="11" name="Text 9"/>
          <p:cNvSpPr/>
          <p:nvPr/>
        </p:nvSpPr>
        <p:spPr>
          <a:xfrm>
            <a:off x="3136941" y="2359152"/>
            <a:ext cx="1509309" cy="365760"/>
          </a:xfrm>
          <a:prstGeom prst="rect">
            <a:avLst/>
          </a:prstGeom>
          <a:noFill/>
          <a:ln/>
        </p:spPr>
        <p:txBody>
          <a:bodyPr wrap="square" lIns="0" tIns="0" rIns="0" bIns="0" rtlCol="0" anchor="ctr"/>
          <a:lstStyle/>
          <a:p>
            <a:pPr indent="0" marL="0">
              <a:buNone/>
            </a:pPr>
            <a:r>
              <a:rPr lang="en-US" sz="2600" dirty="0">
                <a:solidFill>
                  <a:srgbClr val="FF3333"/>
                </a:solidFill>
                <a:latin typeface="Replica LL TT Heavy" pitchFamily="34" charset="0"/>
                <a:ea typeface="Replica LL TT Heavy" pitchFamily="34" charset="-122"/>
                <a:cs typeface="Replica LL TT Heavy" pitchFamily="34" charset="-120"/>
              </a:rPr>
              <a:t>02</a:t>
            </a:r>
            <a:endParaRPr lang="en-US" sz="2600" dirty="0"/>
          </a:p>
        </p:txBody>
      </p:sp>
      <p:sp>
        <p:nvSpPr>
          <p:cNvPr id="12" name="Text 10"/>
          <p:cNvSpPr/>
          <p:nvPr/>
        </p:nvSpPr>
        <p:spPr>
          <a:xfrm>
            <a:off x="3136941" y="2743200"/>
            <a:ext cx="1509309" cy="566928"/>
          </a:xfrm>
          <a:prstGeom prst="rect">
            <a:avLst/>
          </a:prstGeom>
          <a:noFill/>
          <a:ln/>
        </p:spPr>
        <p:txBody>
          <a:bodyPr wrap="square" lIns="0" tIns="0" rIns="0" bIns="0" rtlCol="0" anchor="t"/>
          <a:lstStyle/>
          <a:p>
            <a:pPr indent="0" marL="0">
              <a:lnSpc>
                <a:spcPct val="110000"/>
              </a:lnSpc>
              <a:buNone/>
            </a:pPr>
            <a:r>
              <a:rPr lang="en-US" sz="1900" b="1" dirty="0">
                <a:solidFill>
                  <a:srgbClr val="131415"/>
                </a:solidFill>
                <a:latin typeface="Replica LL TT" pitchFamily="34" charset="0"/>
                <a:ea typeface="Replica LL TT" pitchFamily="34" charset="-122"/>
                <a:cs typeface="Replica LL TT" pitchFamily="34" charset="-120"/>
              </a:rPr>
              <a:t>Inspirasjons-</a:t>
            </a:r>
            <a:endParaRPr lang="en-US" sz="1900" dirty="0"/>
          </a:p>
          <a:p>
            <a:pPr indent="0" marL="0">
              <a:lnSpc>
                <a:spcPct val="110000"/>
              </a:lnSpc>
              <a:buNone/>
            </a:pPr>
            <a:r>
              <a:rPr lang="en-US" sz="1900" b="1" dirty="0">
                <a:solidFill>
                  <a:srgbClr val="131415"/>
                </a:solidFill>
                <a:latin typeface="Replica LL TT" pitchFamily="34" charset="0"/>
                <a:ea typeface="Replica LL TT" pitchFamily="34" charset="-122"/>
                <a:cs typeface="Replica LL TT" pitchFamily="34" charset="-120"/>
              </a:rPr>
              <a:t>foredrag</a:t>
            </a:r>
            <a:endParaRPr lang="en-US" sz="1900" dirty="0"/>
          </a:p>
        </p:txBody>
      </p:sp>
      <p:sp>
        <p:nvSpPr>
          <p:cNvPr id="13" name="Text 11"/>
          <p:cNvSpPr/>
          <p:nvPr/>
        </p:nvSpPr>
        <p:spPr>
          <a:xfrm>
            <a:off x="3136941" y="3328416"/>
            <a:ext cx="1509309" cy="256032"/>
          </a:xfrm>
          <a:prstGeom prst="rect">
            <a:avLst/>
          </a:prstGeom>
          <a:noFill/>
          <a:ln/>
        </p:spPr>
        <p:txBody>
          <a:bodyPr wrap="square" lIns="0" tIns="0" rIns="0" bIns="0" rtlCol="0" anchor="ctr"/>
          <a:lstStyle/>
          <a:p>
            <a:pPr indent="0" marL="0">
              <a:buNone/>
            </a:pPr>
            <a:r>
              <a:rPr lang="en-US" sz="1600" dirty="0">
                <a:solidFill>
                  <a:srgbClr val="5A6166"/>
                </a:solidFill>
                <a:latin typeface="Inter" pitchFamily="34" charset="0"/>
                <a:ea typeface="Inter" pitchFamily="34" charset="-122"/>
                <a:cs typeface="Inter" pitchFamily="34" charset="-120"/>
              </a:rPr>
              <a:t>30 min</a:t>
            </a:r>
            <a:endParaRPr lang="en-US" sz="1600" dirty="0"/>
          </a:p>
        </p:txBody>
      </p:sp>
      <p:sp>
        <p:nvSpPr>
          <p:cNvPr id="14" name="Text 12"/>
          <p:cNvSpPr/>
          <p:nvPr/>
        </p:nvSpPr>
        <p:spPr>
          <a:xfrm>
            <a:off x="3136941" y="3621024"/>
            <a:ext cx="1509309" cy="841248"/>
          </a:xfrm>
          <a:prstGeom prst="rect">
            <a:avLst/>
          </a:prstGeom>
          <a:noFill/>
          <a:ln/>
        </p:spPr>
        <p:txBody>
          <a:bodyPr wrap="square" lIns="0" tIns="0" rIns="0" bIns="0" rtlCol="0" anchor="t"/>
          <a:lstStyle/>
          <a:p>
            <a:pPr indent="0" marL="0">
              <a:lnSpc>
                <a:spcPct val="115000"/>
              </a:lnSpc>
              <a:buNone/>
            </a:pPr>
            <a:r>
              <a:rPr lang="en-US" sz="1800" dirty="0">
                <a:solidFill>
                  <a:srgbClr val="131415"/>
                </a:solidFill>
                <a:latin typeface="Inter" pitchFamily="34" charset="0"/>
                <a:ea typeface="Inter" pitchFamily="34" charset="-122"/>
                <a:cs typeface="Inter" pitchFamily="34" charset="-120"/>
              </a:rPr>
              <a:t>Tom skjerm til app på 25 min.</a:t>
            </a:r>
            <a:endParaRPr lang="en-US" sz="1800" dirty="0"/>
          </a:p>
        </p:txBody>
      </p:sp>
      <p:sp>
        <p:nvSpPr>
          <p:cNvPr id="15" name="Text 13"/>
          <p:cNvSpPr/>
          <p:nvPr/>
        </p:nvSpPr>
        <p:spPr>
          <a:xfrm>
            <a:off x="4801697" y="3236976"/>
            <a:ext cx="384048" cy="365760"/>
          </a:xfrm>
          <a:prstGeom prst="rect">
            <a:avLst/>
          </a:prstGeom>
          <a:noFill/>
          <a:ln/>
        </p:spPr>
        <p:txBody>
          <a:bodyPr wrap="square" lIns="0" tIns="0" rIns="0" bIns="0" rtlCol="0" anchor="ctr"/>
          <a:lstStyle/>
          <a:p>
            <a:pPr algn="ctr" indent="0" marL="0">
              <a:buNone/>
            </a:pPr>
            <a:r>
              <a:rPr lang="en-US" sz="2000" dirty="0">
                <a:solidFill>
                  <a:srgbClr val="5A6166"/>
                </a:solidFill>
                <a:latin typeface="Inter" pitchFamily="34" charset="0"/>
                <a:ea typeface="Inter" pitchFamily="34" charset="-122"/>
                <a:cs typeface="Inter" pitchFamily="34" charset="-120"/>
              </a:rPr>
              <a:t>→</a:t>
            </a:r>
            <a:endParaRPr lang="en-US" sz="2000" dirty="0"/>
          </a:p>
        </p:txBody>
      </p:sp>
      <p:sp>
        <p:nvSpPr>
          <p:cNvPr id="16" name="Shape 14"/>
          <p:cNvSpPr/>
          <p:nvPr/>
        </p:nvSpPr>
        <p:spPr>
          <a:xfrm>
            <a:off x="5185745" y="2212848"/>
            <a:ext cx="1820205" cy="2414016"/>
          </a:xfrm>
          <a:prstGeom prst="roundRect">
            <a:avLst>
              <a:gd name="adj" fmla="val 6562"/>
            </a:avLst>
          </a:prstGeom>
          <a:solidFill>
            <a:srgbClr val="FFFFFF"/>
          </a:solidFill>
          <a:ln w="12700">
            <a:solidFill>
              <a:srgbClr val="E3E6E8"/>
            </a:solidFill>
            <a:prstDash val="solid"/>
          </a:ln>
        </p:spPr>
      </p:sp>
      <p:sp>
        <p:nvSpPr>
          <p:cNvPr id="17" name="Text 15"/>
          <p:cNvSpPr/>
          <p:nvPr/>
        </p:nvSpPr>
        <p:spPr>
          <a:xfrm>
            <a:off x="5341193" y="2359152"/>
            <a:ext cx="1509309" cy="365760"/>
          </a:xfrm>
          <a:prstGeom prst="rect">
            <a:avLst/>
          </a:prstGeom>
          <a:noFill/>
          <a:ln/>
        </p:spPr>
        <p:txBody>
          <a:bodyPr wrap="square" lIns="0" tIns="0" rIns="0" bIns="0" rtlCol="0" anchor="ctr"/>
          <a:lstStyle/>
          <a:p>
            <a:pPr indent="0" marL="0">
              <a:buNone/>
            </a:pPr>
            <a:r>
              <a:rPr lang="en-US" sz="2600" dirty="0">
                <a:solidFill>
                  <a:srgbClr val="FF3333"/>
                </a:solidFill>
                <a:latin typeface="Replica LL TT Heavy" pitchFamily="34" charset="0"/>
                <a:ea typeface="Replica LL TT Heavy" pitchFamily="34" charset="-122"/>
                <a:cs typeface="Replica LL TT Heavy" pitchFamily="34" charset="-120"/>
              </a:rPr>
              <a:t>03</a:t>
            </a:r>
            <a:endParaRPr lang="en-US" sz="2600" dirty="0"/>
          </a:p>
        </p:txBody>
      </p:sp>
      <p:sp>
        <p:nvSpPr>
          <p:cNvPr id="18" name="Text 16"/>
          <p:cNvSpPr/>
          <p:nvPr/>
        </p:nvSpPr>
        <p:spPr>
          <a:xfrm>
            <a:off x="5341193" y="2743200"/>
            <a:ext cx="1509309" cy="566928"/>
          </a:xfrm>
          <a:prstGeom prst="rect">
            <a:avLst/>
          </a:prstGeom>
          <a:noFill/>
          <a:ln/>
        </p:spPr>
        <p:txBody>
          <a:bodyPr wrap="square" lIns="0" tIns="0" rIns="0" bIns="0" rtlCol="0" anchor="t"/>
          <a:lstStyle/>
          <a:p>
            <a:pPr indent="0" marL="0">
              <a:lnSpc>
                <a:spcPct val="110000"/>
              </a:lnSpc>
              <a:buNone/>
            </a:pPr>
            <a:r>
              <a:rPr lang="en-US" sz="1900" b="1" dirty="0">
                <a:solidFill>
                  <a:srgbClr val="131415"/>
                </a:solidFill>
                <a:latin typeface="Replica LL TT" pitchFamily="34" charset="0"/>
                <a:ea typeface="Replica LL TT" pitchFamily="34" charset="-122"/>
                <a:cs typeface="Replica LL TT" pitchFamily="34" charset="-120"/>
              </a:rPr>
              <a:t>Level 1</a:t>
            </a:r>
            <a:endParaRPr lang="en-US" sz="1900" dirty="0"/>
          </a:p>
          <a:p>
            <a:pPr indent="0" marL="0">
              <a:lnSpc>
                <a:spcPct val="110000"/>
              </a:lnSpc>
              <a:buNone/>
            </a:pPr>
            <a:r>
              <a:rPr lang="en-US" sz="1900" b="1" dirty="0">
                <a:solidFill>
                  <a:srgbClr val="131415"/>
                </a:solidFill>
                <a:latin typeface="Replica LL TT" pitchFamily="34" charset="0"/>
                <a:ea typeface="Replica LL TT" pitchFamily="34" charset="-122"/>
                <a:cs typeface="Replica LL TT" pitchFamily="34" charset="-120"/>
              </a:rPr>
              <a:t>Grunnkurs</a:t>
            </a:r>
            <a:endParaRPr lang="en-US" sz="1900" dirty="0"/>
          </a:p>
        </p:txBody>
      </p:sp>
      <p:sp>
        <p:nvSpPr>
          <p:cNvPr id="19" name="Text 17"/>
          <p:cNvSpPr/>
          <p:nvPr/>
        </p:nvSpPr>
        <p:spPr>
          <a:xfrm>
            <a:off x="5341193" y="3328416"/>
            <a:ext cx="1509309" cy="256032"/>
          </a:xfrm>
          <a:prstGeom prst="rect">
            <a:avLst/>
          </a:prstGeom>
          <a:noFill/>
          <a:ln/>
        </p:spPr>
        <p:txBody>
          <a:bodyPr wrap="square" lIns="0" tIns="0" rIns="0" bIns="0" rtlCol="0" anchor="ctr"/>
          <a:lstStyle/>
          <a:p>
            <a:pPr indent="0" marL="0">
              <a:buNone/>
            </a:pPr>
            <a:r>
              <a:rPr lang="en-US" sz="1600" dirty="0">
                <a:solidFill>
                  <a:srgbClr val="5A6166"/>
                </a:solidFill>
                <a:latin typeface="Inter" pitchFamily="34" charset="0"/>
                <a:ea typeface="Inter" pitchFamily="34" charset="-122"/>
                <a:cs typeface="Inter" pitchFamily="34" charset="-120"/>
              </a:rPr>
              <a:t>1 dag, 20-30</a:t>
            </a:r>
            <a:endParaRPr lang="en-US" sz="1600" dirty="0"/>
          </a:p>
        </p:txBody>
      </p:sp>
      <p:sp>
        <p:nvSpPr>
          <p:cNvPr id="20" name="Text 18"/>
          <p:cNvSpPr/>
          <p:nvPr/>
        </p:nvSpPr>
        <p:spPr>
          <a:xfrm>
            <a:off x="5341193" y="3621024"/>
            <a:ext cx="1509309" cy="841248"/>
          </a:xfrm>
          <a:prstGeom prst="rect">
            <a:avLst/>
          </a:prstGeom>
          <a:noFill/>
          <a:ln/>
        </p:spPr>
        <p:txBody>
          <a:bodyPr wrap="square" lIns="0" tIns="0" rIns="0" bIns="0" rtlCol="0" anchor="t"/>
          <a:lstStyle/>
          <a:p>
            <a:pPr indent="0" marL="0">
              <a:lnSpc>
                <a:spcPct val="115000"/>
              </a:lnSpc>
              <a:buNone/>
            </a:pPr>
            <a:r>
              <a:rPr lang="en-US" sz="1800" dirty="0">
                <a:solidFill>
                  <a:srgbClr val="131415"/>
                </a:solidFill>
                <a:latin typeface="Inter" pitchFamily="34" charset="0"/>
                <a:ea typeface="Inter" pitchFamily="34" charset="-122"/>
                <a:cs typeface="Inter" pitchFamily="34" charset="-120"/>
              </a:rPr>
              <a:t>Ikke-tekniske bygger og deployer.</a:t>
            </a:r>
            <a:endParaRPr lang="en-US" sz="1800" dirty="0"/>
          </a:p>
        </p:txBody>
      </p:sp>
      <p:sp>
        <p:nvSpPr>
          <p:cNvPr id="21" name="Text 19"/>
          <p:cNvSpPr/>
          <p:nvPr/>
        </p:nvSpPr>
        <p:spPr>
          <a:xfrm>
            <a:off x="7005950" y="3236976"/>
            <a:ext cx="384048" cy="365760"/>
          </a:xfrm>
          <a:prstGeom prst="rect">
            <a:avLst/>
          </a:prstGeom>
          <a:noFill/>
          <a:ln/>
        </p:spPr>
        <p:txBody>
          <a:bodyPr wrap="square" lIns="0" tIns="0" rIns="0" bIns="0" rtlCol="0" anchor="ctr"/>
          <a:lstStyle/>
          <a:p>
            <a:pPr algn="ctr" indent="0" marL="0">
              <a:buNone/>
            </a:pPr>
            <a:r>
              <a:rPr lang="en-US" sz="2000" dirty="0">
                <a:solidFill>
                  <a:srgbClr val="5A6166"/>
                </a:solidFill>
                <a:latin typeface="Inter" pitchFamily="34" charset="0"/>
                <a:ea typeface="Inter" pitchFamily="34" charset="-122"/>
                <a:cs typeface="Inter" pitchFamily="34" charset="-120"/>
              </a:rPr>
              <a:t>→</a:t>
            </a:r>
            <a:endParaRPr lang="en-US" sz="2000" dirty="0"/>
          </a:p>
        </p:txBody>
      </p:sp>
      <p:sp>
        <p:nvSpPr>
          <p:cNvPr id="22" name="Shape 20"/>
          <p:cNvSpPr/>
          <p:nvPr/>
        </p:nvSpPr>
        <p:spPr>
          <a:xfrm>
            <a:off x="7389998" y="2212848"/>
            <a:ext cx="1820205" cy="2414016"/>
          </a:xfrm>
          <a:prstGeom prst="roundRect">
            <a:avLst>
              <a:gd name="adj" fmla="val 6562"/>
            </a:avLst>
          </a:prstGeom>
          <a:solidFill>
            <a:srgbClr val="FFFFFF"/>
          </a:solidFill>
          <a:ln w="12700">
            <a:solidFill>
              <a:srgbClr val="E3E6E8"/>
            </a:solidFill>
            <a:prstDash val="solid"/>
          </a:ln>
        </p:spPr>
      </p:sp>
      <p:sp>
        <p:nvSpPr>
          <p:cNvPr id="23" name="Text 21"/>
          <p:cNvSpPr/>
          <p:nvPr/>
        </p:nvSpPr>
        <p:spPr>
          <a:xfrm>
            <a:off x="7545446" y="2359152"/>
            <a:ext cx="1509309" cy="365760"/>
          </a:xfrm>
          <a:prstGeom prst="rect">
            <a:avLst/>
          </a:prstGeom>
          <a:noFill/>
          <a:ln/>
        </p:spPr>
        <p:txBody>
          <a:bodyPr wrap="square" lIns="0" tIns="0" rIns="0" bIns="0" rtlCol="0" anchor="ctr"/>
          <a:lstStyle/>
          <a:p>
            <a:pPr indent="0" marL="0">
              <a:buNone/>
            </a:pPr>
            <a:r>
              <a:rPr lang="en-US" sz="2600" dirty="0">
                <a:solidFill>
                  <a:srgbClr val="FF3333"/>
                </a:solidFill>
                <a:latin typeface="Replica LL TT Heavy" pitchFamily="34" charset="0"/>
                <a:ea typeface="Replica LL TT Heavy" pitchFamily="34" charset="-122"/>
                <a:cs typeface="Replica LL TT Heavy" pitchFamily="34" charset="-120"/>
              </a:rPr>
              <a:t>04</a:t>
            </a:r>
            <a:endParaRPr lang="en-US" sz="2600" dirty="0"/>
          </a:p>
        </p:txBody>
      </p:sp>
      <p:sp>
        <p:nvSpPr>
          <p:cNvPr id="24" name="Text 22"/>
          <p:cNvSpPr/>
          <p:nvPr/>
        </p:nvSpPr>
        <p:spPr>
          <a:xfrm>
            <a:off x="7545446" y="2743200"/>
            <a:ext cx="1509309" cy="566928"/>
          </a:xfrm>
          <a:prstGeom prst="rect">
            <a:avLst/>
          </a:prstGeom>
          <a:noFill/>
          <a:ln/>
        </p:spPr>
        <p:txBody>
          <a:bodyPr wrap="square" lIns="0" tIns="0" rIns="0" bIns="0" rtlCol="0" anchor="t"/>
          <a:lstStyle/>
          <a:p>
            <a:pPr indent="0" marL="0">
              <a:lnSpc>
                <a:spcPct val="110000"/>
              </a:lnSpc>
              <a:buNone/>
            </a:pPr>
            <a:r>
              <a:rPr lang="en-US" sz="1900" b="1" dirty="0">
                <a:solidFill>
                  <a:srgbClr val="131415"/>
                </a:solidFill>
                <a:latin typeface="Replica LL TT" pitchFamily="34" charset="0"/>
                <a:ea typeface="Replica LL TT" pitchFamily="34" charset="-122"/>
                <a:cs typeface="Replica LL TT" pitchFamily="34" charset="-120"/>
              </a:rPr>
              <a:t>Level 2</a:t>
            </a:r>
            <a:endParaRPr lang="en-US" sz="1900" dirty="0"/>
          </a:p>
          <a:p>
            <a:pPr indent="0" marL="0">
              <a:lnSpc>
                <a:spcPct val="110000"/>
              </a:lnSpc>
              <a:buNone/>
            </a:pPr>
            <a:r>
              <a:rPr lang="en-US" sz="1900" b="1" dirty="0">
                <a:solidFill>
                  <a:srgbClr val="131415"/>
                </a:solidFill>
                <a:latin typeface="Replica LL TT" pitchFamily="34" charset="0"/>
                <a:ea typeface="Replica LL TT" pitchFamily="34" charset="-122"/>
                <a:cs typeface="Replica LL TT" pitchFamily="34" charset="-120"/>
              </a:rPr>
              <a:t>Champions</a:t>
            </a:r>
            <a:endParaRPr lang="en-US" sz="1900" dirty="0"/>
          </a:p>
        </p:txBody>
      </p:sp>
      <p:sp>
        <p:nvSpPr>
          <p:cNvPr id="25" name="Text 23"/>
          <p:cNvSpPr/>
          <p:nvPr/>
        </p:nvSpPr>
        <p:spPr>
          <a:xfrm>
            <a:off x="7545446" y="3328416"/>
            <a:ext cx="1509309" cy="256032"/>
          </a:xfrm>
          <a:prstGeom prst="rect">
            <a:avLst/>
          </a:prstGeom>
          <a:noFill/>
          <a:ln/>
        </p:spPr>
        <p:txBody>
          <a:bodyPr wrap="square" lIns="0" tIns="0" rIns="0" bIns="0" rtlCol="0" anchor="ctr"/>
          <a:lstStyle/>
          <a:p>
            <a:pPr indent="0" marL="0">
              <a:buNone/>
            </a:pPr>
            <a:r>
              <a:rPr lang="en-US" sz="1600" dirty="0">
                <a:solidFill>
                  <a:srgbClr val="5A6166"/>
                </a:solidFill>
                <a:latin typeface="Inter" pitchFamily="34" charset="0"/>
                <a:ea typeface="Inter" pitchFamily="34" charset="-122"/>
                <a:cs typeface="Inter" pitchFamily="34" charset="-120"/>
              </a:rPr>
              <a:t>Topp 25 %</a:t>
            </a:r>
            <a:endParaRPr lang="en-US" sz="1600" dirty="0"/>
          </a:p>
        </p:txBody>
      </p:sp>
      <p:sp>
        <p:nvSpPr>
          <p:cNvPr id="26" name="Text 24"/>
          <p:cNvSpPr/>
          <p:nvPr/>
        </p:nvSpPr>
        <p:spPr>
          <a:xfrm>
            <a:off x="7545446" y="3621024"/>
            <a:ext cx="1509309" cy="841248"/>
          </a:xfrm>
          <a:prstGeom prst="rect">
            <a:avLst/>
          </a:prstGeom>
          <a:noFill/>
          <a:ln/>
        </p:spPr>
        <p:txBody>
          <a:bodyPr wrap="square" lIns="0" tIns="0" rIns="0" bIns="0" rtlCol="0" anchor="t"/>
          <a:lstStyle/>
          <a:p>
            <a:pPr indent="0" marL="0">
              <a:lnSpc>
                <a:spcPct val="115000"/>
              </a:lnSpc>
              <a:buNone/>
            </a:pPr>
            <a:r>
              <a:rPr lang="en-US" sz="1800" dirty="0">
                <a:solidFill>
                  <a:srgbClr val="131415"/>
                </a:solidFill>
                <a:latin typeface="Inter" pitchFamily="34" charset="0"/>
                <a:ea typeface="Inter" pitchFamily="34" charset="-122"/>
                <a:cs typeface="Inter" pitchFamily="34" charset="-120"/>
              </a:rPr>
              <a:t>Avanserte verktøy og sertifisering.</a:t>
            </a:r>
            <a:endParaRPr lang="en-US" sz="1800" dirty="0"/>
          </a:p>
        </p:txBody>
      </p:sp>
      <p:sp>
        <p:nvSpPr>
          <p:cNvPr id="27" name="Text 25"/>
          <p:cNvSpPr/>
          <p:nvPr/>
        </p:nvSpPr>
        <p:spPr>
          <a:xfrm>
            <a:off x="9210203" y="3236976"/>
            <a:ext cx="384048" cy="365760"/>
          </a:xfrm>
          <a:prstGeom prst="rect">
            <a:avLst/>
          </a:prstGeom>
          <a:noFill/>
          <a:ln/>
        </p:spPr>
        <p:txBody>
          <a:bodyPr wrap="square" lIns="0" tIns="0" rIns="0" bIns="0" rtlCol="0" anchor="ctr"/>
          <a:lstStyle/>
          <a:p>
            <a:pPr algn="ctr" indent="0" marL="0">
              <a:buNone/>
            </a:pPr>
            <a:r>
              <a:rPr lang="en-US" sz="2000" dirty="0">
                <a:solidFill>
                  <a:srgbClr val="5A6166"/>
                </a:solidFill>
                <a:latin typeface="Inter" pitchFamily="34" charset="0"/>
                <a:ea typeface="Inter" pitchFamily="34" charset="-122"/>
                <a:cs typeface="Inter" pitchFamily="34" charset="-120"/>
              </a:rPr>
              <a:t>→</a:t>
            </a:r>
            <a:endParaRPr lang="en-US" sz="2000" dirty="0"/>
          </a:p>
        </p:txBody>
      </p:sp>
      <p:sp>
        <p:nvSpPr>
          <p:cNvPr id="28" name="Shape 26"/>
          <p:cNvSpPr/>
          <p:nvPr/>
        </p:nvSpPr>
        <p:spPr>
          <a:xfrm>
            <a:off x="9594251" y="2212848"/>
            <a:ext cx="1820205" cy="2414016"/>
          </a:xfrm>
          <a:prstGeom prst="roundRect">
            <a:avLst>
              <a:gd name="adj" fmla="val 6562"/>
            </a:avLst>
          </a:prstGeom>
          <a:solidFill>
            <a:srgbClr val="FFFFFF"/>
          </a:solidFill>
          <a:ln w="12700">
            <a:solidFill>
              <a:srgbClr val="E3E6E8"/>
            </a:solidFill>
            <a:prstDash val="solid"/>
          </a:ln>
        </p:spPr>
      </p:sp>
      <p:sp>
        <p:nvSpPr>
          <p:cNvPr id="29" name="Text 27"/>
          <p:cNvSpPr/>
          <p:nvPr/>
        </p:nvSpPr>
        <p:spPr>
          <a:xfrm>
            <a:off x="9749699" y="2359152"/>
            <a:ext cx="1509309" cy="365760"/>
          </a:xfrm>
          <a:prstGeom prst="rect">
            <a:avLst/>
          </a:prstGeom>
          <a:noFill/>
          <a:ln/>
        </p:spPr>
        <p:txBody>
          <a:bodyPr wrap="square" lIns="0" tIns="0" rIns="0" bIns="0" rtlCol="0" anchor="ctr"/>
          <a:lstStyle/>
          <a:p>
            <a:pPr indent="0" marL="0">
              <a:buNone/>
            </a:pPr>
            <a:r>
              <a:rPr lang="en-US" sz="2600" dirty="0">
                <a:solidFill>
                  <a:srgbClr val="FF3333"/>
                </a:solidFill>
                <a:latin typeface="Replica LL TT Heavy" pitchFamily="34" charset="0"/>
                <a:ea typeface="Replica LL TT Heavy" pitchFamily="34" charset="-122"/>
                <a:cs typeface="Replica LL TT Heavy" pitchFamily="34" charset="-120"/>
              </a:rPr>
              <a:t>05</a:t>
            </a:r>
            <a:endParaRPr lang="en-US" sz="2600" dirty="0"/>
          </a:p>
        </p:txBody>
      </p:sp>
      <p:sp>
        <p:nvSpPr>
          <p:cNvPr id="30" name="Text 28"/>
          <p:cNvSpPr/>
          <p:nvPr/>
        </p:nvSpPr>
        <p:spPr>
          <a:xfrm>
            <a:off x="9749699" y="2743200"/>
            <a:ext cx="1509309" cy="566928"/>
          </a:xfrm>
          <a:prstGeom prst="rect">
            <a:avLst/>
          </a:prstGeom>
          <a:noFill/>
          <a:ln/>
        </p:spPr>
        <p:txBody>
          <a:bodyPr wrap="square" lIns="0" tIns="0" rIns="0" bIns="0" rtlCol="0" anchor="t"/>
          <a:lstStyle/>
          <a:p>
            <a:pPr indent="0" marL="0">
              <a:lnSpc>
                <a:spcPct val="110000"/>
              </a:lnSpc>
              <a:buNone/>
            </a:pPr>
            <a:r>
              <a:rPr lang="en-US" sz="1900" b="1" dirty="0">
                <a:solidFill>
                  <a:srgbClr val="131415"/>
                </a:solidFill>
                <a:latin typeface="Replica LL TT" pitchFamily="34" charset="0"/>
                <a:ea typeface="Replica LL TT" pitchFamily="34" charset="-122"/>
                <a:cs typeface="Replica LL TT" pitchFamily="34" charset="-120"/>
              </a:rPr>
              <a:t>Pilot til</a:t>
            </a:r>
            <a:endParaRPr lang="en-US" sz="1900" dirty="0"/>
          </a:p>
          <a:p>
            <a:pPr indent="0" marL="0">
              <a:lnSpc>
                <a:spcPct val="110000"/>
              </a:lnSpc>
              <a:buNone/>
            </a:pPr>
            <a:r>
              <a:rPr lang="en-US" sz="1900" b="1" dirty="0">
                <a:solidFill>
                  <a:srgbClr val="131415"/>
                </a:solidFill>
                <a:latin typeface="Replica LL TT" pitchFamily="34" charset="0"/>
                <a:ea typeface="Replica LL TT" pitchFamily="34" charset="-122"/>
                <a:cs typeface="Replica LL TT" pitchFamily="34" charset="-120"/>
              </a:rPr>
              <a:t>produksjon</a:t>
            </a:r>
            <a:endParaRPr lang="en-US" sz="1900" dirty="0"/>
          </a:p>
        </p:txBody>
      </p:sp>
      <p:sp>
        <p:nvSpPr>
          <p:cNvPr id="31" name="Text 29"/>
          <p:cNvSpPr/>
          <p:nvPr/>
        </p:nvSpPr>
        <p:spPr>
          <a:xfrm>
            <a:off x="9749699" y="3328416"/>
            <a:ext cx="1509309" cy="256032"/>
          </a:xfrm>
          <a:prstGeom prst="rect">
            <a:avLst/>
          </a:prstGeom>
          <a:noFill/>
          <a:ln/>
        </p:spPr>
        <p:txBody>
          <a:bodyPr wrap="square" lIns="0" tIns="0" rIns="0" bIns="0" rtlCol="0" anchor="ctr"/>
          <a:lstStyle/>
          <a:p>
            <a:pPr indent="0" marL="0">
              <a:buNone/>
            </a:pPr>
            <a:r>
              <a:rPr lang="en-US" sz="1600" dirty="0">
                <a:solidFill>
                  <a:srgbClr val="5A6166"/>
                </a:solidFill>
                <a:latin typeface="Inter" pitchFamily="34" charset="0"/>
                <a:ea typeface="Inter" pitchFamily="34" charset="-122"/>
                <a:cs typeface="Inter" pitchFamily="34" charset="-120"/>
              </a:rPr>
              <a:t>Løpende</a:t>
            </a:r>
            <a:endParaRPr lang="en-US" sz="1600" dirty="0"/>
          </a:p>
        </p:txBody>
      </p:sp>
      <p:sp>
        <p:nvSpPr>
          <p:cNvPr id="32" name="Text 30"/>
          <p:cNvSpPr/>
          <p:nvPr/>
        </p:nvSpPr>
        <p:spPr>
          <a:xfrm>
            <a:off x="9749699" y="3621024"/>
            <a:ext cx="1509309" cy="841248"/>
          </a:xfrm>
          <a:prstGeom prst="rect">
            <a:avLst/>
          </a:prstGeom>
          <a:noFill/>
          <a:ln/>
        </p:spPr>
        <p:txBody>
          <a:bodyPr wrap="square" lIns="0" tIns="0" rIns="0" bIns="0" rtlCol="0" anchor="t"/>
          <a:lstStyle/>
          <a:p>
            <a:pPr indent="0" marL="0">
              <a:lnSpc>
                <a:spcPct val="115000"/>
              </a:lnSpc>
              <a:buNone/>
            </a:pPr>
            <a:r>
              <a:rPr lang="en-US" sz="1800" dirty="0">
                <a:solidFill>
                  <a:srgbClr val="131415"/>
                </a:solidFill>
                <a:latin typeface="Inter" pitchFamily="34" charset="0"/>
                <a:ea typeface="Inter" pitchFamily="34" charset="-122"/>
                <a:cs typeface="Inter" pitchFamily="34" charset="-120"/>
              </a:rPr>
              <a:t>Prototypen blir et støttet verktøy.</a:t>
            </a:r>
            <a:endParaRPr lang="en-US" sz="1800" dirty="0"/>
          </a:p>
        </p:txBody>
      </p:sp>
      <p:sp>
        <p:nvSpPr>
          <p:cNvPr id="33" name="Shape 31"/>
          <p:cNvSpPr/>
          <p:nvPr/>
        </p:nvSpPr>
        <p:spPr>
          <a:xfrm>
            <a:off x="777240" y="4828032"/>
            <a:ext cx="3362858" cy="978408"/>
          </a:xfrm>
          <a:prstGeom prst="roundRect">
            <a:avLst>
              <a:gd name="adj" fmla="val 22709"/>
            </a:avLst>
          </a:prstGeom>
          <a:solidFill>
            <a:srgbClr val="F0F0F0"/>
          </a:solidFill>
          <a:ln w="12700">
            <a:solidFill>
              <a:srgbClr val="D8DCDF"/>
            </a:solidFill>
            <a:prstDash val="solid"/>
          </a:ln>
        </p:spPr>
      </p:sp>
      <p:sp>
        <p:nvSpPr>
          <p:cNvPr id="34" name="Text 32"/>
          <p:cNvSpPr/>
          <p:nvPr/>
        </p:nvSpPr>
        <p:spPr>
          <a:xfrm>
            <a:off x="777240" y="5134356"/>
            <a:ext cx="3362858" cy="365760"/>
          </a:xfrm>
          <a:prstGeom prst="rect">
            <a:avLst/>
          </a:prstGeom>
          <a:noFill/>
          <a:ln/>
        </p:spPr>
        <p:txBody>
          <a:bodyPr wrap="square" lIns="0" tIns="0" rIns="0" bIns="0" rtlCol="0" anchor="ctr"/>
          <a:lstStyle/>
          <a:p>
            <a:pPr algn="ctr" indent="0" marL="0">
              <a:buNone/>
            </a:pPr>
            <a:r>
              <a:rPr lang="en-US" sz="1800" dirty="0">
                <a:solidFill>
                  <a:srgbClr val="5A6166"/>
                </a:solidFill>
                <a:latin typeface="Inter" pitchFamily="34" charset="0"/>
                <a:ea typeface="Inter" pitchFamily="34" charset="-122"/>
                <a:cs typeface="Inter" pitchFamily="34" charset="-120"/>
              </a:rPr>
              <a:t>Sett inn bilde</a:t>
            </a:r>
            <a:endParaRPr lang="en-US" sz="1800" dirty="0"/>
          </a:p>
        </p:txBody>
      </p:sp>
      <p:sp>
        <p:nvSpPr>
          <p:cNvPr id="35" name="Shape 33"/>
          <p:cNvSpPr/>
          <p:nvPr/>
        </p:nvSpPr>
        <p:spPr>
          <a:xfrm>
            <a:off x="4414418" y="4828032"/>
            <a:ext cx="3362858" cy="978408"/>
          </a:xfrm>
          <a:prstGeom prst="roundRect">
            <a:avLst>
              <a:gd name="adj" fmla="val 22709"/>
            </a:avLst>
          </a:prstGeom>
          <a:solidFill>
            <a:srgbClr val="F0F0F0"/>
          </a:solidFill>
          <a:ln w="12700">
            <a:solidFill>
              <a:srgbClr val="D8DCDF"/>
            </a:solidFill>
            <a:prstDash val="solid"/>
          </a:ln>
        </p:spPr>
      </p:sp>
      <p:sp>
        <p:nvSpPr>
          <p:cNvPr id="36" name="Text 34"/>
          <p:cNvSpPr/>
          <p:nvPr/>
        </p:nvSpPr>
        <p:spPr>
          <a:xfrm>
            <a:off x="4414418" y="5134356"/>
            <a:ext cx="3362858" cy="365760"/>
          </a:xfrm>
          <a:prstGeom prst="rect">
            <a:avLst/>
          </a:prstGeom>
          <a:noFill/>
          <a:ln/>
        </p:spPr>
        <p:txBody>
          <a:bodyPr wrap="square" lIns="0" tIns="0" rIns="0" bIns="0" rtlCol="0" anchor="ctr"/>
          <a:lstStyle/>
          <a:p>
            <a:pPr algn="ctr" indent="0" marL="0">
              <a:buNone/>
            </a:pPr>
            <a:r>
              <a:rPr lang="en-US" sz="1800" dirty="0">
                <a:solidFill>
                  <a:srgbClr val="5A6166"/>
                </a:solidFill>
                <a:latin typeface="Inter" pitchFamily="34" charset="0"/>
                <a:ea typeface="Inter" pitchFamily="34" charset="-122"/>
                <a:cs typeface="Inter" pitchFamily="34" charset="-120"/>
              </a:rPr>
              <a:t>Sett inn bilde</a:t>
            </a:r>
            <a:endParaRPr lang="en-US" sz="1800" dirty="0"/>
          </a:p>
        </p:txBody>
      </p:sp>
      <p:sp>
        <p:nvSpPr>
          <p:cNvPr id="37" name="Shape 35"/>
          <p:cNvSpPr/>
          <p:nvPr/>
        </p:nvSpPr>
        <p:spPr>
          <a:xfrm>
            <a:off x="8051597" y="4828032"/>
            <a:ext cx="3362858" cy="978408"/>
          </a:xfrm>
          <a:prstGeom prst="roundRect">
            <a:avLst>
              <a:gd name="adj" fmla="val 22709"/>
            </a:avLst>
          </a:prstGeom>
          <a:solidFill>
            <a:srgbClr val="F0F0F0"/>
          </a:solidFill>
          <a:ln w="12700">
            <a:solidFill>
              <a:srgbClr val="D8DCDF"/>
            </a:solidFill>
            <a:prstDash val="solid"/>
          </a:ln>
        </p:spPr>
      </p:sp>
      <p:sp>
        <p:nvSpPr>
          <p:cNvPr id="38" name="Text 36"/>
          <p:cNvSpPr/>
          <p:nvPr/>
        </p:nvSpPr>
        <p:spPr>
          <a:xfrm>
            <a:off x="8051597" y="5134356"/>
            <a:ext cx="3362858" cy="365760"/>
          </a:xfrm>
          <a:prstGeom prst="rect">
            <a:avLst/>
          </a:prstGeom>
          <a:noFill/>
          <a:ln/>
        </p:spPr>
        <p:txBody>
          <a:bodyPr wrap="square" lIns="0" tIns="0" rIns="0" bIns="0" rtlCol="0" anchor="ctr"/>
          <a:lstStyle/>
          <a:p>
            <a:pPr algn="ctr" indent="0" marL="0">
              <a:buNone/>
            </a:pPr>
            <a:r>
              <a:rPr lang="en-US" sz="1800" dirty="0">
                <a:solidFill>
                  <a:srgbClr val="5A6166"/>
                </a:solidFill>
                <a:latin typeface="Inter" pitchFamily="34" charset="0"/>
                <a:ea typeface="Inter" pitchFamily="34" charset="-122"/>
                <a:cs typeface="Inter" pitchFamily="34" charset="-120"/>
              </a:rPr>
              <a:t>Sett inn bilde</a:t>
            </a:r>
            <a:endParaRPr lang="en-US" sz="1800" dirty="0"/>
          </a:p>
        </p:txBody>
      </p:sp>
      <p:pic>
        <p:nvPicPr>
          <p:cNvPr id="39" name="Image 0" descr="C:\Code\Work\startuplab-partner-presentation\pptx-templates\media\logo-red.png">    </p:cNvPr>
          <p:cNvPicPr>
            <a:picLocks noChangeAspect="1"/>
          </p:cNvPicPr>
          <p:nvPr/>
        </p:nvPicPr>
        <p:blipFill>
          <a:blip r:embed="rId1"/>
          <a:stretch>
            <a:fillRect/>
          </a:stretch>
        </p:blipFill>
        <p:spPr>
          <a:xfrm>
            <a:off x="777240" y="6035040"/>
            <a:ext cx="843006" cy="310896"/>
          </a:xfrm>
          <a:prstGeom prst="rect">
            <a:avLst/>
          </a:prstGeom>
        </p:spPr>
      </p:pic>
      <p:sp>
        <p:nvSpPr>
          <p:cNvPr id="40" name="Text 37"/>
          <p:cNvSpPr/>
          <p:nvPr/>
        </p:nvSpPr>
        <p:spPr>
          <a:xfrm>
            <a:off x="2194560" y="6007608"/>
            <a:ext cx="9219895" cy="402336"/>
          </a:xfrm>
          <a:prstGeom prst="rect">
            <a:avLst/>
          </a:prstGeom>
          <a:noFill/>
          <a:ln/>
        </p:spPr>
        <p:txBody>
          <a:bodyPr wrap="square" lIns="0" tIns="0" rIns="0" bIns="0" rtlCol="0" anchor="ctr"/>
          <a:lstStyle/>
          <a:p>
            <a:pPr algn="r" indent="0" marL="0">
              <a:buNone/>
            </a:pPr>
            <a:r>
              <a:rPr lang="en-US" sz="1800" dirty="0">
                <a:solidFill>
                  <a:srgbClr val="5A6166"/>
                </a:solidFill>
                <a:latin typeface="Inter" pitchFamily="34" charset="0"/>
                <a:ea typeface="Inter" pitchFamily="34" charset="-122"/>
                <a:cs typeface="Inter" pitchFamily="34" charset="-120"/>
              </a:rPr>
              <a:t>Dere velger hvor på trappen dere starter, og hvor langt dere går.</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713232"/>
            <a:ext cx="8229600" cy="292608"/>
          </a:xfrm>
          <a:prstGeom prst="rect">
            <a:avLst/>
          </a:prstGeom>
          <a:noFill/>
          <a:ln/>
        </p:spPr>
        <p:txBody>
          <a:bodyPr wrap="square" lIns="0" tIns="0" rIns="0" bIns="0" rtlCol="0" anchor="ctr"/>
          <a:lstStyle/>
          <a:p>
            <a:pPr indent="0" marL="0">
              <a:buNone/>
            </a:pPr>
            <a:r>
              <a:rPr lang="en-US" sz="1600" b="1" spc="180" kern="0" dirty="0">
                <a:solidFill>
                  <a:srgbClr val="FF3333"/>
                </a:solidFill>
                <a:latin typeface="Inter" pitchFamily="34" charset="0"/>
                <a:ea typeface="Inter" pitchFamily="34" charset="-122"/>
                <a:cs typeface="Inter" pitchFamily="34" charset="-120"/>
              </a:rPr>
              <a:t>HØSTENS PROGRAM</a:t>
            </a:r>
            <a:endParaRPr lang="en-US" sz="1600" dirty="0"/>
          </a:p>
        </p:txBody>
      </p:sp>
      <p:sp>
        <p:nvSpPr>
          <p:cNvPr id="3" name="Text 1"/>
          <p:cNvSpPr/>
          <p:nvPr/>
        </p:nvSpPr>
        <p:spPr>
          <a:xfrm>
            <a:off x="777240" y="1051560"/>
            <a:ext cx="10424160" cy="777240"/>
          </a:xfrm>
          <a:prstGeom prst="rect">
            <a:avLst/>
          </a:prstGeom>
          <a:noFill/>
          <a:ln/>
        </p:spPr>
        <p:txBody>
          <a:bodyPr wrap="square" lIns="0" tIns="0" rIns="0" bIns="0" rtlCol="0" anchor="t"/>
          <a:lstStyle/>
          <a:p>
            <a:pPr indent="0" marL="0">
              <a:lnSpc>
                <a:spcPct val="100000"/>
              </a:lnSpc>
              <a:buNone/>
            </a:pPr>
            <a:r>
              <a:rPr lang="en-US" sz="4000" b="1" dirty="0">
                <a:solidFill>
                  <a:srgbClr val="131415"/>
                </a:solidFill>
                <a:latin typeface="Replica LL TT" pitchFamily="34" charset="0"/>
                <a:ea typeface="Replica LL TT" pitchFamily="34" charset="-122"/>
                <a:cs typeface="Replica LL TT" pitchFamily="34" charset="-120"/>
              </a:rPr>
              <a:t>Fire veier inn på AI</a:t>
            </a:r>
            <a:endParaRPr lang="en-US" sz="4000" dirty="0"/>
          </a:p>
        </p:txBody>
      </p:sp>
      <p:sp>
        <p:nvSpPr>
          <p:cNvPr id="4" name="Shape 2"/>
          <p:cNvSpPr/>
          <p:nvPr/>
        </p:nvSpPr>
        <p:spPr>
          <a:xfrm>
            <a:off x="777240" y="2267712"/>
            <a:ext cx="2398700" cy="1799070"/>
          </a:xfrm>
          <a:prstGeom prst="roundRect">
            <a:avLst>
              <a:gd name="adj" fmla="val 6717"/>
            </a:avLst>
          </a:prstGeom>
          <a:solidFill>
            <a:srgbClr val="F0F0F0"/>
          </a:solidFill>
          <a:ln w="12700">
            <a:solidFill>
              <a:srgbClr val="D8DCDF"/>
            </a:solidFill>
            <a:prstDash val="solid"/>
          </a:ln>
        </p:spPr>
      </p:sp>
      <p:sp>
        <p:nvSpPr>
          <p:cNvPr id="5" name="Text 3"/>
          <p:cNvSpPr/>
          <p:nvPr/>
        </p:nvSpPr>
        <p:spPr>
          <a:xfrm>
            <a:off x="777240" y="2984367"/>
            <a:ext cx="2398700" cy="365760"/>
          </a:xfrm>
          <a:prstGeom prst="rect">
            <a:avLst/>
          </a:prstGeom>
          <a:noFill/>
          <a:ln/>
        </p:spPr>
        <p:txBody>
          <a:bodyPr wrap="square" lIns="0" tIns="0" rIns="0" bIns="0" rtlCol="0" anchor="ctr"/>
          <a:lstStyle/>
          <a:p>
            <a:pPr algn="ctr" indent="0" marL="0">
              <a:buNone/>
            </a:pPr>
            <a:r>
              <a:rPr lang="en-US" sz="1800" dirty="0">
                <a:solidFill>
                  <a:srgbClr val="5A6166"/>
                </a:solidFill>
                <a:latin typeface="Inter" pitchFamily="34" charset="0"/>
                <a:ea typeface="Inter" pitchFamily="34" charset="-122"/>
                <a:cs typeface="Inter" pitchFamily="34" charset="-120"/>
              </a:rPr>
              <a:t>Sett inn bilde</a:t>
            </a:r>
            <a:endParaRPr lang="en-US" sz="1800" dirty="0"/>
          </a:p>
        </p:txBody>
      </p:sp>
      <p:sp>
        <p:nvSpPr>
          <p:cNvPr id="6" name="Text 4"/>
          <p:cNvSpPr/>
          <p:nvPr/>
        </p:nvSpPr>
        <p:spPr>
          <a:xfrm>
            <a:off x="777240" y="4231374"/>
            <a:ext cx="2673020" cy="658368"/>
          </a:xfrm>
          <a:prstGeom prst="rect">
            <a:avLst/>
          </a:prstGeom>
          <a:noFill/>
          <a:ln/>
        </p:spPr>
        <p:txBody>
          <a:bodyPr wrap="square" lIns="0" tIns="0" rIns="0" bIns="0" rtlCol="0" anchor="t"/>
          <a:lstStyle/>
          <a:p>
            <a:pPr indent="0" marL="0">
              <a:lnSpc>
                <a:spcPct val="110000"/>
              </a:lnSpc>
              <a:buNone/>
            </a:pPr>
            <a:r>
              <a:rPr lang="en-US" sz="2300" b="1" dirty="0">
                <a:solidFill>
                  <a:srgbClr val="131415"/>
                </a:solidFill>
                <a:latin typeface="Replica LL TT" pitchFamily="34" charset="0"/>
                <a:ea typeface="Replica LL TT" pitchFamily="34" charset="-122"/>
                <a:cs typeface="Replica LL TT" pitchFamily="34" charset="-120"/>
              </a:rPr>
              <a:t>Demo og foredrag</a:t>
            </a:r>
            <a:endParaRPr lang="en-US" sz="2300" dirty="0"/>
          </a:p>
        </p:txBody>
      </p:sp>
      <p:sp>
        <p:nvSpPr>
          <p:cNvPr id="7" name="Text 5"/>
          <p:cNvSpPr/>
          <p:nvPr/>
        </p:nvSpPr>
        <p:spPr>
          <a:xfrm>
            <a:off x="777240" y="5017758"/>
            <a:ext cx="2673020" cy="603504"/>
          </a:xfrm>
          <a:prstGeom prst="rect">
            <a:avLst/>
          </a:prstGeom>
          <a:noFill/>
          <a:ln/>
        </p:spPr>
        <p:txBody>
          <a:bodyPr wrap="square" lIns="0" tIns="0" rIns="0" bIns="0" rtlCol="0" anchor="t"/>
          <a:lstStyle/>
          <a:p>
            <a:pPr indent="0" marL="0">
              <a:lnSpc>
                <a:spcPct val="115000"/>
              </a:lnSpc>
              <a:buNone/>
            </a:pPr>
            <a:r>
              <a:rPr lang="en-US" sz="1800" dirty="0">
                <a:solidFill>
                  <a:srgbClr val="131415"/>
                </a:solidFill>
                <a:latin typeface="Inter" pitchFamily="34" charset="0"/>
                <a:ea typeface="Inter" pitchFamily="34" charset="-122"/>
                <a:cs typeface="Inter" pitchFamily="34" charset="-120"/>
              </a:rPr>
              <a:t>Live demo på deres scene, ikke vår.</a:t>
            </a:r>
            <a:endParaRPr lang="en-US" sz="1800" dirty="0"/>
          </a:p>
        </p:txBody>
      </p:sp>
      <p:sp>
        <p:nvSpPr>
          <p:cNvPr id="8" name="Shape 6"/>
          <p:cNvSpPr/>
          <p:nvPr/>
        </p:nvSpPr>
        <p:spPr>
          <a:xfrm>
            <a:off x="3523412" y="2267712"/>
            <a:ext cx="2398700" cy="1799070"/>
          </a:xfrm>
          <a:prstGeom prst="roundRect">
            <a:avLst>
              <a:gd name="adj" fmla="val 6717"/>
            </a:avLst>
          </a:prstGeom>
          <a:solidFill>
            <a:srgbClr val="F0F0F0"/>
          </a:solidFill>
          <a:ln w="12700">
            <a:solidFill>
              <a:srgbClr val="D8DCDF"/>
            </a:solidFill>
            <a:prstDash val="solid"/>
          </a:ln>
        </p:spPr>
      </p:sp>
      <p:sp>
        <p:nvSpPr>
          <p:cNvPr id="9" name="Text 7"/>
          <p:cNvSpPr/>
          <p:nvPr/>
        </p:nvSpPr>
        <p:spPr>
          <a:xfrm>
            <a:off x="3523412" y="2984367"/>
            <a:ext cx="2398700" cy="365760"/>
          </a:xfrm>
          <a:prstGeom prst="rect">
            <a:avLst/>
          </a:prstGeom>
          <a:noFill/>
          <a:ln/>
        </p:spPr>
        <p:txBody>
          <a:bodyPr wrap="square" lIns="0" tIns="0" rIns="0" bIns="0" rtlCol="0" anchor="ctr"/>
          <a:lstStyle/>
          <a:p>
            <a:pPr algn="ctr" indent="0" marL="0">
              <a:buNone/>
            </a:pPr>
            <a:r>
              <a:rPr lang="en-US" sz="1800" dirty="0">
                <a:solidFill>
                  <a:srgbClr val="5A6166"/>
                </a:solidFill>
                <a:latin typeface="Inter" pitchFamily="34" charset="0"/>
                <a:ea typeface="Inter" pitchFamily="34" charset="-122"/>
                <a:cs typeface="Inter" pitchFamily="34" charset="-120"/>
              </a:rPr>
              <a:t>Sett inn bilde</a:t>
            </a:r>
            <a:endParaRPr lang="en-US" sz="1800" dirty="0"/>
          </a:p>
        </p:txBody>
      </p:sp>
      <p:sp>
        <p:nvSpPr>
          <p:cNvPr id="10" name="Text 8"/>
          <p:cNvSpPr/>
          <p:nvPr/>
        </p:nvSpPr>
        <p:spPr>
          <a:xfrm>
            <a:off x="3523412" y="4231374"/>
            <a:ext cx="2673020" cy="658368"/>
          </a:xfrm>
          <a:prstGeom prst="rect">
            <a:avLst/>
          </a:prstGeom>
          <a:noFill/>
          <a:ln/>
        </p:spPr>
        <p:txBody>
          <a:bodyPr wrap="square" lIns="0" tIns="0" rIns="0" bIns="0" rtlCol="0" anchor="t"/>
          <a:lstStyle/>
          <a:p>
            <a:pPr indent="0" marL="0">
              <a:lnSpc>
                <a:spcPct val="110000"/>
              </a:lnSpc>
              <a:buNone/>
            </a:pPr>
            <a:r>
              <a:rPr lang="en-US" sz="2300" b="1" dirty="0">
                <a:solidFill>
                  <a:srgbClr val="131415"/>
                </a:solidFill>
                <a:latin typeface="Replica LL TT" pitchFamily="34" charset="0"/>
                <a:ea typeface="Replica LL TT" pitchFamily="34" charset="-122"/>
                <a:cs typeface="Replica LL TT" pitchFamily="34" charset="-120"/>
              </a:rPr>
              <a:t>Kurs i AI-assistert koding</a:t>
            </a:r>
            <a:endParaRPr lang="en-US" sz="2300" dirty="0"/>
          </a:p>
        </p:txBody>
      </p:sp>
      <p:sp>
        <p:nvSpPr>
          <p:cNvPr id="11" name="Text 9"/>
          <p:cNvSpPr/>
          <p:nvPr/>
        </p:nvSpPr>
        <p:spPr>
          <a:xfrm>
            <a:off x="3523412" y="5017758"/>
            <a:ext cx="2673020" cy="603504"/>
          </a:xfrm>
          <a:prstGeom prst="rect">
            <a:avLst/>
          </a:prstGeom>
          <a:noFill/>
          <a:ln/>
        </p:spPr>
        <p:txBody>
          <a:bodyPr wrap="square" lIns="0" tIns="0" rIns="0" bIns="0" rtlCol="0" anchor="t"/>
          <a:lstStyle/>
          <a:p>
            <a:pPr indent="0" marL="0">
              <a:lnSpc>
                <a:spcPct val="115000"/>
              </a:lnSpc>
              <a:buNone/>
            </a:pPr>
            <a:r>
              <a:rPr lang="en-US" sz="1800" dirty="0">
                <a:solidFill>
                  <a:srgbClr val="131415"/>
                </a:solidFill>
                <a:latin typeface="Inter" pitchFamily="34" charset="0"/>
                <a:ea typeface="Inter" pitchFamily="34" charset="-122"/>
                <a:cs typeface="Inter" pitchFamily="34" charset="-120"/>
              </a:rPr>
              <a:t>Bygg med AI, ikke bare snakk om det.</a:t>
            </a:r>
            <a:endParaRPr lang="en-US" sz="1800" dirty="0"/>
          </a:p>
        </p:txBody>
      </p:sp>
      <p:sp>
        <p:nvSpPr>
          <p:cNvPr id="12" name="Shape 10"/>
          <p:cNvSpPr/>
          <p:nvPr/>
        </p:nvSpPr>
        <p:spPr>
          <a:xfrm>
            <a:off x="6269584" y="2267712"/>
            <a:ext cx="2398700" cy="1799070"/>
          </a:xfrm>
          <a:prstGeom prst="roundRect">
            <a:avLst>
              <a:gd name="adj" fmla="val 6717"/>
            </a:avLst>
          </a:prstGeom>
          <a:solidFill>
            <a:srgbClr val="F0F0F0"/>
          </a:solidFill>
          <a:ln w="12700">
            <a:solidFill>
              <a:srgbClr val="D8DCDF"/>
            </a:solidFill>
            <a:prstDash val="solid"/>
          </a:ln>
        </p:spPr>
      </p:sp>
      <p:sp>
        <p:nvSpPr>
          <p:cNvPr id="13" name="Text 11"/>
          <p:cNvSpPr/>
          <p:nvPr/>
        </p:nvSpPr>
        <p:spPr>
          <a:xfrm>
            <a:off x="6269584" y="2984367"/>
            <a:ext cx="2398700" cy="365760"/>
          </a:xfrm>
          <a:prstGeom prst="rect">
            <a:avLst/>
          </a:prstGeom>
          <a:noFill/>
          <a:ln/>
        </p:spPr>
        <p:txBody>
          <a:bodyPr wrap="square" lIns="0" tIns="0" rIns="0" bIns="0" rtlCol="0" anchor="ctr"/>
          <a:lstStyle/>
          <a:p>
            <a:pPr algn="ctr" indent="0" marL="0">
              <a:buNone/>
            </a:pPr>
            <a:r>
              <a:rPr lang="en-US" sz="1800" dirty="0">
                <a:solidFill>
                  <a:srgbClr val="5A6166"/>
                </a:solidFill>
                <a:latin typeface="Inter" pitchFamily="34" charset="0"/>
                <a:ea typeface="Inter" pitchFamily="34" charset="-122"/>
                <a:cs typeface="Inter" pitchFamily="34" charset="-120"/>
              </a:rPr>
              <a:t>Sett inn bilde</a:t>
            </a:r>
            <a:endParaRPr lang="en-US" sz="1800" dirty="0"/>
          </a:p>
        </p:txBody>
      </p:sp>
      <p:sp>
        <p:nvSpPr>
          <p:cNvPr id="14" name="Text 12"/>
          <p:cNvSpPr/>
          <p:nvPr/>
        </p:nvSpPr>
        <p:spPr>
          <a:xfrm>
            <a:off x="6269584" y="4231374"/>
            <a:ext cx="2673020" cy="658368"/>
          </a:xfrm>
          <a:prstGeom prst="rect">
            <a:avLst/>
          </a:prstGeom>
          <a:noFill/>
          <a:ln/>
        </p:spPr>
        <p:txBody>
          <a:bodyPr wrap="square" lIns="0" tIns="0" rIns="0" bIns="0" rtlCol="0" anchor="t"/>
          <a:lstStyle/>
          <a:p>
            <a:pPr indent="0" marL="0">
              <a:lnSpc>
                <a:spcPct val="110000"/>
              </a:lnSpc>
              <a:buNone/>
            </a:pPr>
            <a:r>
              <a:rPr lang="en-US" sz="2300" b="1" dirty="0">
                <a:solidFill>
                  <a:srgbClr val="131415"/>
                </a:solidFill>
                <a:latin typeface="Replica LL TT" pitchFamily="34" charset="0"/>
                <a:ea typeface="Replica LL TT" pitchFamily="34" charset="-122"/>
                <a:cs typeface="Replica LL TT" pitchFamily="34" charset="-120"/>
              </a:rPr>
              <a:t>AI Sprint</a:t>
            </a:r>
            <a:endParaRPr lang="en-US" sz="2300" dirty="0"/>
          </a:p>
        </p:txBody>
      </p:sp>
      <p:sp>
        <p:nvSpPr>
          <p:cNvPr id="15" name="Text 13"/>
          <p:cNvSpPr/>
          <p:nvPr/>
        </p:nvSpPr>
        <p:spPr>
          <a:xfrm>
            <a:off x="6269584" y="5017758"/>
            <a:ext cx="2673020" cy="603504"/>
          </a:xfrm>
          <a:prstGeom prst="rect">
            <a:avLst/>
          </a:prstGeom>
          <a:noFill/>
          <a:ln/>
        </p:spPr>
        <p:txBody>
          <a:bodyPr wrap="square" lIns="0" tIns="0" rIns="0" bIns="0" rtlCol="0" anchor="t"/>
          <a:lstStyle/>
          <a:p>
            <a:pPr indent="0" marL="0">
              <a:lnSpc>
                <a:spcPct val="115000"/>
              </a:lnSpc>
              <a:buNone/>
            </a:pPr>
            <a:r>
              <a:rPr lang="en-US" sz="1800" dirty="0">
                <a:solidFill>
                  <a:srgbClr val="131415"/>
                </a:solidFill>
                <a:latin typeface="Inter" pitchFamily="34" charset="0"/>
                <a:ea typeface="Inter" pitchFamily="34" charset="-122"/>
                <a:cs typeface="Inter" pitchFamily="34" charset="-120"/>
              </a:rPr>
              <a:t>Én reell utfordring, fra idé til demo.</a:t>
            </a:r>
            <a:endParaRPr lang="en-US" sz="1800" dirty="0"/>
          </a:p>
        </p:txBody>
      </p:sp>
      <p:sp>
        <p:nvSpPr>
          <p:cNvPr id="16" name="Shape 14"/>
          <p:cNvSpPr/>
          <p:nvPr/>
        </p:nvSpPr>
        <p:spPr>
          <a:xfrm>
            <a:off x="9015755" y="2267712"/>
            <a:ext cx="2398700" cy="1799070"/>
          </a:xfrm>
          <a:prstGeom prst="roundRect">
            <a:avLst>
              <a:gd name="adj" fmla="val 6717"/>
            </a:avLst>
          </a:prstGeom>
          <a:solidFill>
            <a:srgbClr val="F0F0F0"/>
          </a:solidFill>
          <a:ln w="12700">
            <a:solidFill>
              <a:srgbClr val="D8DCDF"/>
            </a:solidFill>
            <a:prstDash val="solid"/>
          </a:ln>
        </p:spPr>
      </p:sp>
      <p:sp>
        <p:nvSpPr>
          <p:cNvPr id="17" name="Text 15"/>
          <p:cNvSpPr/>
          <p:nvPr/>
        </p:nvSpPr>
        <p:spPr>
          <a:xfrm>
            <a:off x="9015755" y="2984367"/>
            <a:ext cx="2398700" cy="365760"/>
          </a:xfrm>
          <a:prstGeom prst="rect">
            <a:avLst/>
          </a:prstGeom>
          <a:noFill/>
          <a:ln/>
        </p:spPr>
        <p:txBody>
          <a:bodyPr wrap="square" lIns="0" tIns="0" rIns="0" bIns="0" rtlCol="0" anchor="ctr"/>
          <a:lstStyle/>
          <a:p>
            <a:pPr algn="ctr" indent="0" marL="0">
              <a:buNone/>
            </a:pPr>
            <a:r>
              <a:rPr lang="en-US" sz="1800" dirty="0">
                <a:solidFill>
                  <a:srgbClr val="5A6166"/>
                </a:solidFill>
                <a:latin typeface="Inter" pitchFamily="34" charset="0"/>
                <a:ea typeface="Inter" pitchFamily="34" charset="-122"/>
                <a:cs typeface="Inter" pitchFamily="34" charset="-120"/>
              </a:rPr>
              <a:t>Sett inn bilde</a:t>
            </a:r>
            <a:endParaRPr lang="en-US" sz="1800" dirty="0"/>
          </a:p>
        </p:txBody>
      </p:sp>
      <p:sp>
        <p:nvSpPr>
          <p:cNvPr id="18" name="Text 16"/>
          <p:cNvSpPr/>
          <p:nvPr/>
        </p:nvSpPr>
        <p:spPr>
          <a:xfrm>
            <a:off x="9015755" y="4231374"/>
            <a:ext cx="2673020" cy="658368"/>
          </a:xfrm>
          <a:prstGeom prst="rect">
            <a:avLst/>
          </a:prstGeom>
          <a:noFill/>
          <a:ln/>
        </p:spPr>
        <p:txBody>
          <a:bodyPr wrap="square" lIns="0" tIns="0" rIns="0" bIns="0" rtlCol="0" anchor="t"/>
          <a:lstStyle/>
          <a:p>
            <a:pPr indent="0" marL="0">
              <a:lnSpc>
                <a:spcPct val="110000"/>
              </a:lnSpc>
              <a:buNone/>
            </a:pPr>
            <a:r>
              <a:rPr lang="en-US" sz="2300" b="1" dirty="0">
                <a:solidFill>
                  <a:srgbClr val="131415"/>
                </a:solidFill>
                <a:latin typeface="Replica LL TT" pitchFamily="34" charset="0"/>
                <a:ea typeface="Replica LL TT" pitchFamily="34" charset="-122"/>
                <a:cs typeface="Replica LL TT" pitchFamily="34" charset="-120"/>
              </a:rPr>
              <a:t>CTO Forum</a:t>
            </a:r>
            <a:endParaRPr lang="en-US" sz="2300" dirty="0"/>
          </a:p>
        </p:txBody>
      </p:sp>
      <p:sp>
        <p:nvSpPr>
          <p:cNvPr id="19" name="Text 17"/>
          <p:cNvSpPr/>
          <p:nvPr/>
        </p:nvSpPr>
        <p:spPr>
          <a:xfrm>
            <a:off x="9015755" y="5017758"/>
            <a:ext cx="2673020" cy="603504"/>
          </a:xfrm>
          <a:prstGeom prst="rect">
            <a:avLst/>
          </a:prstGeom>
          <a:noFill/>
          <a:ln/>
        </p:spPr>
        <p:txBody>
          <a:bodyPr wrap="square" lIns="0" tIns="0" rIns="0" bIns="0" rtlCol="0" anchor="t"/>
          <a:lstStyle/>
          <a:p>
            <a:pPr indent="0" marL="0">
              <a:lnSpc>
                <a:spcPct val="115000"/>
              </a:lnSpc>
              <a:buNone/>
            </a:pPr>
            <a:r>
              <a:rPr lang="en-US" sz="1800" dirty="0">
                <a:solidFill>
                  <a:srgbClr val="131415"/>
                </a:solidFill>
                <a:latin typeface="Inter" pitchFamily="34" charset="0"/>
                <a:ea typeface="Inter" pitchFamily="34" charset="-122"/>
                <a:cs typeface="Inter" pitchFamily="34" charset="-120"/>
              </a:rPr>
              <a:t>Teknologiledere, ikke en konferanse.</a:t>
            </a:r>
            <a:endParaRPr lang="en-US" sz="1800" dirty="0"/>
          </a:p>
        </p:txBody>
      </p:sp>
      <p:pic>
        <p:nvPicPr>
          <p:cNvPr id="20" name="Image 0" descr="C:\Code\Work\startuplab-partner-presentation\pptx-templates\media\logo-red.png">    </p:cNvPr>
          <p:cNvPicPr>
            <a:picLocks noChangeAspect="1"/>
          </p:cNvPicPr>
          <p:nvPr/>
        </p:nvPicPr>
        <p:blipFill>
          <a:blip r:embed="rId1"/>
          <a:stretch>
            <a:fillRect/>
          </a:stretch>
        </p:blipFill>
        <p:spPr>
          <a:xfrm>
            <a:off x="777240" y="6035040"/>
            <a:ext cx="843006" cy="310896"/>
          </a:xfrm>
          <a:prstGeom prst="rect">
            <a:avLst/>
          </a:prstGeom>
        </p:spPr>
      </p:pic>
      <p:sp>
        <p:nvSpPr>
          <p:cNvPr id="21" name="Text 18"/>
          <p:cNvSpPr/>
          <p:nvPr/>
        </p:nvSpPr>
        <p:spPr>
          <a:xfrm>
            <a:off x="2194560" y="6007608"/>
            <a:ext cx="9219895" cy="402336"/>
          </a:xfrm>
          <a:prstGeom prst="rect">
            <a:avLst/>
          </a:prstGeom>
          <a:noFill/>
          <a:ln/>
        </p:spPr>
        <p:txBody>
          <a:bodyPr wrap="square" lIns="0" tIns="0" rIns="0" bIns="0" rtlCol="0" anchor="ctr"/>
          <a:lstStyle/>
          <a:p>
            <a:pPr algn="r" indent="0" marL="0">
              <a:buNone/>
            </a:pPr>
            <a:r>
              <a:rPr lang="en-US" sz="1800" dirty="0">
                <a:solidFill>
                  <a:srgbClr val="5A6166"/>
                </a:solidFill>
                <a:latin typeface="Inter" pitchFamily="34" charset="0"/>
                <a:ea typeface="Inter" pitchFamily="34" charset="-122"/>
                <a:cs typeface="Inter" pitchFamily="34" charset="-120"/>
              </a:rPr>
              <a:t>Alle fire ligger i partnerprogrammet. Spør oss hvilken som passer teamet deres.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Startuplab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Startuplab</dc:creator>
  <cp:lastModifiedBy>Startuplab</cp:lastModifiedBy>
  <cp:revision>1</cp:revision>
  <dcterms:created xsi:type="dcterms:W3CDTF">2026-08-20T11:10:12Z</dcterms:created>
  <dcterms:modified xsi:type="dcterms:W3CDTF">2026-08-20T11:10:12Z</dcterms:modified>
</cp:coreProperties>
</file>