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959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FOR ET TILBUD. Bruk den til å introdusere et nettverk, et program eller en tjeneste ved navn. Tre nivåer: navnet stort, løftet i én setning under, fagområdene som rad nederst.
Emneraden er de samme seks ordene som folke-veggen bruker, destillert fra Expertise-feltet i EiR-basen i Notion. Hold deg til seks ord eller færre: sju dytter raden mot høyre marg.
Det røde ordet i tittelen er sidens ene røde element. Vil du flytte det: marker ordet og sett skriftfargen til rød (FF3333).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FOLK MED KOMPETANSE, 4 på rad. Portrettene er tomme plassholdere. Slik setter du inn dine egne og beholder den avrundede formen: dra bildet inn på sliden, marker det, Bildeformat &gt; Beskjær &gt; Beskjær til figur &gt; avrundet rektangel. Legg det over plassholderen og slett plassholderen.
Emneraden under tittelen er kompetansen, og den er felles for gruppen, ikke per person. Det er den som gjør at kortene bare trenger navn og selskap, og at portrettene får være store. Legger du kompetanse inn per person igjen, får du fire spalter med seks tekstlinjer, og sliden faller fra hverandre. Hold raden på seks ord eller færre.
Dette er den romsligste varianten. Portrettet er 2,62 tommer, og selskapet tåler to linjer. Trenger du fem eller seks personer, bytt antallet: portrettene krymper, men raden holder.
Navn og selskap er hentet fra EiR-basen i Notion 20.8.2026, og utvalget er én person per fagområde slik at raden viser bredden. Bytt til dem som passer salen, og sjekk at stillingene fortsatt stemmer før du presenterer.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415"/>
        </a:solidFill>
        <a:effectLst/>
      </p:bgPr>
    </p:bg>
    <p:spTree>
      <p:nvGrpSpPr>
        <p:cNvPr id="1" name=""/>
        <p:cNvGrpSpPr/>
        <p:nvPr/>
      </p:nvGrpSpPr>
      <p:grpSpPr>
        <a:xfrm>
          <a:off x="0" y="0"/>
          <a:ext cx="0" cy="0"/>
          <a:chOff x="0" y="0"/>
          <a:chExt cx="0" cy="0"/>
        </a:xfrm>
      </p:grpSpPr>
      <p:sp>
        <p:nvSpPr>
          <p:cNvPr id="2" name="Text 0"/>
          <p:cNvSpPr/>
          <p:nvPr/>
        </p:nvSpPr>
        <p:spPr>
          <a:xfrm>
            <a:off x="777240" y="2148840"/>
            <a:ext cx="8229600" cy="292608"/>
          </a:xfrm>
          <a:prstGeom prst="rect">
            <a:avLst/>
          </a:prstGeom>
          <a:noFill/>
          <a:ln/>
        </p:spPr>
        <p:txBody>
          <a:bodyPr wrap="square" lIns="0" tIns="0" rIns="0" bIns="0" rtlCol="0" anchor="ctr"/>
          <a:lstStyle/>
          <a:p>
            <a:pPr marL="0" indent="0">
              <a:buNone/>
            </a:pPr>
            <a:r>
              <a:rPr lang="en-US" sz="1600" b="1" kern="0" spc="180" dirty="0">
                <a:solidFill>
                  <a:srgbClr val="FF3333"/>
                </a:solidFill>
                <a:latin typeface="Inter" pitchFamily="34" charset="0"/>
                <a:ea typeface="Inter" pitchFamily="34" charset="-122"/>
                <a:cs typeface="Inter" pitchFamily="34" charset="-120"/>
              </a:rPr>
              <a:t>STARTUPLAB EIR</a:t>
            </a:r>
            <a:endParaRPr lang="en-US" sz="1600" dirty="0"/>
          </a:p>
        </p:txBody>
      </p:sp>
      <p:sp>
        <p:nvSpPr>
          <p:cNvPr id="3" name="Text 1"/>
          <p:cNvSpPr/>
          <p:nvPr/>
        </p:nvSpPr>
        <p:spPr>
          <a:xfrm>
            <a:off x="777240" y="2560320"/>
            <a:ext cx="10424160" cy="1188720"/>
          </a:xfrm>
          <a:prstGeom prst="rect">
            <a:avLst/>
          </a:prstGeom>
          <a:noFill/>
          <a:ln/>
        </p:spPr>
        <p:txBody>
          <a:bodyPr wrap="square" lIns="0" tIns="0" rIns="0" bIns="0" rtlCol="0" anchor="t"/>
          <a:lstStyle/>
          <a:p>
            <a:pPr marL="0" indent="0">
              <a:lnSpc>
                <a:spcPct val="98000"/>
              </a:lnSpc>
              <a:buNone/>
            </a:pPr>
            <a:r>
              <a:rPr lang="en-US" sz="4200" dirty="0">
                <a:solidFill>
                  <a:srgbClr val="FFFFFF"/>
                </a:solidFill>
                <a:latin typeface="Replica LL TT Heavy" pitchFamily="34" charset="0"/>
                <a:ea typeface="Replica LL TT Heavy" pitchFamily="34" charset="-122"/>
                <a:cs typeface="Replica LL TT Heavy" pitchFamily="34" charset="-120"/>
              </a:rPr>
              <a:t>Entrepreneurs and</a:t>
            </a:r>
            <a:endParaRPr lang="en-US" sz="4200" dirty="0"/>
          </a:p>
          <a:p>
            <a:pPr marL="0" indent="0">
              <a:lnSpc>
                <a:spcPct val="98000"/>
              </a:lnSpc>
              <a:buNone/>
            </a:pPr>
            <a:r>
              <a:rPr lang="en-US" sz="4200" dirty="0">
                <a:solidFill>
                  <a:srgbClr val="FFFFFF"/>
                </a:solidFill>
                <a:latin typeface="Replica LL TT Heavy" pitchFamily="34" charset="0"/>
                <a:ea typeface="Replica LL TT Heavy" pitchFamily="34" charset="-122"/>
                <a:cs typeface="Replica LL TT Heavy" pitchFamily="34" charset="-120"/>
              </a:rPr>
              <a:t>Executives in </a:t>
            </a:r>
            <a:r>
              <a:rPr lang="en-US" sz="4200" dirty="0">
                <a:solidFill>
                  <a:srgbClr val="FF3333"/>
                </a:solidFill>
                <a:latin typeface="Replica LL TT Heavy" pitchFamily="34" charset="0"/>
                <a:ea typeface="Replica LL TT Heavy" pitchFamily="34" charset="-122"/>
                <a:cs typeface="Replica LL TT Heavy" pitchFamily="34" charset="-120"/>
              </a:rPr>
              <a:t>Residence</a:t>
            </a:r>
            <a:endParaRPr lang="en-US" sz="4200" dirty="0"/>
          </a:p>
        </p:txBody>
      </p:sp>
      <p:sp>
        <p:nvSpPr>
          <p:cNvPr id="4" name="Text 2"/>
          <p:cNvSpPr/>
          <p:nvPr/>
        </p:nvSpPr>
        <p:spPr>
          <a:xfrm>
            <a:off x="777240" y="4069080"/>
            <a:ext cx="9052560" cy="868680"/>
          </a:xfrm>
          <a:prstGeom prst="rect">
            <a:avLst/>
          </a:prstGeom>
          <a:noFill/>
          <a:ln/>
        </p:spPr>
        <p:txBody>
          <a:bodyPr wrap="square" lIns="0" tIns="0" rIns="0" bIns="0" rtlCol="0" anchor="t"/>
          <a:lstStyle/>
          <a:p>
            <a:pPr marL="0" indent="0">
              <a:lnSpc>
                <a:spcPct val="125000"/>
              </a:lnSpc>
              <a:buNone/>
            </a:pPr>
            <a:r>
              <a:rPr lang="en-US" sz="2400" dirty="0">
                <a:solidFill>
                  <a:srgbClr val="9BA1A5"/>
                </a:solidFill>
                <a:latin typeface="Inter" pitchFamily="34" charset="0"/>
                <a:ea typeface="Inter" pitchFamily="34" charset="-122"/>
                <a:cs typeface="Inter" pitchFamily="34" charset="-120"/>
              </a:rPr>
              <a:t>Seasoned builders who have scaled fast and failed fast, ready to share what they learned.</a:t>
            </a:r>
            <a:endParaRPr lang="en-US" sz="2400" dirty="0"/>
          </a:p>
        </p:txBody>
      </p:sp>
      <p:sp>
        <p:nvSpPr>
          <p:cNvPr id="5" name="Text 3"/>
          <p:cNvSpPr/>
          <p:nvPr/>
        </p:nvSpPr>
        <p:spPr>
          <a:xfrm>
            <a:off x="777240" y="5349240"/>
            <a:ext cx="10637215" cy="274320"/>
          </a:xfrm>
          <a:prstGeom prst="rect">
            <a:avLst/>
          </a:prstGeom>
          <a:noFill/>
          <a:ln/>
        </p:spPr>
        <p:txBody>
          <a:bodyPr wrap="square" lIns="0" tIns="0" rIns="0" bIns="0" rtlCol="0" anchor="ctr"/>
          <a:lstStyle/>
          <a:p>
            <a:pPr marL="0" indent="0" algn="l">
              <a:buNone/>
            </a:pPr>
            <a:r>
              <a:rPr lang="en-US" sz="1600" b="1" kern="0" spc="60" dirty="0">
                <a:solidFill>
                  <a:srgbClr val="FFFFFF"/>
                </a:solidFill>
                <a:latin typeface="Inter" pitchFamily="34" charset="0"/>
                <a:ea typeface="Inter" pitchFamily="34" charset="-122"/>
                <a:cs typeface="Inter" pitchFamily="34" charset="-120"/>
              </a:rPr>
              <a:t>SALES  ·  GO-TO-MARKET  ·  FUNDRAISING  ·  BRAND  ·  PRODUCT  ·  LEADERSHIP</a:t>
            </a:r>
            <a:endParaRPr lang="en-US" sz="1600" dirty="0"/>
          </a:p>
        </p:txBody>
      </p:sp>
      <p:pic>
        <p:nvPicPr>
          <p:cNvPr id="6" name="Image 0" descr="C:\Code\Work\startuplab-partner-presentation\pptx-templates\media\logo-white.png"/>
          <p:cNvPicPr>
            <a:picLocks noChangeAspect="1"/>
          </p:cNvPicPr>
          <p:nvPr/>
        </p:nvPicPr>
        <p:blipFill>
          <a:blip r:embed="rId3"/>
          <a:stretch>
            <a:fillRect/>
          </a:stretch>
        </p:blipFill>
        <p:spPr>
          <a:xfrm>
            <a:off x="777240" y="6035040"/>
            <a:ext cx="843006"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marL="0" indent="0">
              <a:buNone/>
            </a:pPr>
            <a:r>
              <a:rPr lang="en-US" sz="1600" b="1" kern="0" spc="180" dirty="0">
                <a:solidFill>
                  <a:srgbClr val="FF3333"/>
                </a:solidFill>
                <a:latin typeface="Inter" pitchFamily="34" charset="0"/>
                <a:ea typeface="Inter" pitchFamily="34" charset="-122"/>
                <a:cs typeface="Inter" pitchFamily="34" charset="-120"/>
              </a:rPr>
              <a:t>ENTREPRENEURS AND EXECUTIVES IN RESIDENCE</a:t>
            </a:r>
            <a:endParaRPr lang="en-US" sz="1600" dirty="0"/>
          </a:p>
        </p:txBody>
      </p:sp>
      <p:sp>
        <p:nvSpPr>
          <p:cNvPr id="3" name="Text 1"/>
          <p:cNvSpPr/>
          <p:nvPr/>
        </p:nvSpPr>
        <p:spPr>
          <a:xfrm>
            <a:off x="777240" y="1037409"/>
            <a:ext cx="10424160" cy="777240"/>
          </a:xfrm>
          <a:prstGeom prst="rect">
            <a:avLst/>
          </a:prstGeom>
          <a:noFill/>
          <a:ln/>
        </p:spPr>
        <p:txBody>
          <a:bodyPr wrap="square" lIns="0" tIns="0" rIns="0" bIns="0" rtlCol="0" anchor="t"/>
          <a:lstStyle/>
          <a:p>
            <a:pPr marL="0" indent="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The people you get access to</a:t>
            </a:r>
            <a:endParaRPr lang="en-US" sz="4000" dirty="0"/>
          </a:p>
        </p:txBody>
      </p:sp>
      <p:sp>
        <p:nvSpPr>
          <p:cNvPr id="4" name="Text 2"/>
          <p:cNvSpPr/>
          <p:nvPr/>
        </p:nvSpPr>
        <p:spPr>
          <a:xfrm>
            <a:off x="777240" y="1901952"/>
            <a:ext cx="10637215" cy="274320"/>
          </a:xfrm>
          <a:prstGeom prst="rect">
            <a:avLst/>
          </a:prstGeom>
          <a:noFill/>
          <a:ln/>
        </p:spPr>
        <p:txBody>
          <a:bodyPr wrap="square" lIns="0" tIns="0" rIns="0" bIns="0" rtlCol="0" anchor="ctr"/>
          <a:lstStyle/>
          <a:p>
            <a:pPr marL="0" indent="0" algn="l">
              <a:buNone/>
            </a:pPr>
            <a:r>
              <a:rPr lang="en-US" sz="1600" b="1" kern="0" spc="60" dirty="0">
                <a:solidFill>
                  <a:srgbClr val="5A6166"/>
                </a:solidFill>
                <a:latin typeface="Inter" pitchFamily="34" charset="0"/>
                <a:ea typeface="Inter" pitchFamily="34" charset="-122"/>
                <a:cs typeface="Inter" pitchFamily="34" charset="-120"/>
              </a:rPr>
              <a:t>SALES  ·  GO-TO-MARKET  ·  FUNDRAISING  ·  BRAND  ·  PRODUCT  ·  LEADERSHIP</a:t>
            </a:r>
            <a:endParaRPr lang="en-US" sz="1600" dirty="0"/>
          </a:p>
        </p:txBody>
      </p:sp>
      <p:sp>
        <p:nvSpPr>
          <p:cNvPr id="5" name="Shape 3"/>
          <p:cNvSpPr/>
          <p:nvPr/>
        </p:nvSpPr>
        <p:spPr>
          <a:xfrm>
            <a:off x="777240" y="2487168"/>
            <a:ext cx="2276856" cy="2276856"/>
          </a:xfrm>
          <a:prstGeom prst="roundRect">
            <a:avLst>
              <a:gd name="adj" fmla="val 4193"/>
            </a:avLst>
          </a:prstGeom>
          <a:solidFill>
            <a:srgbClr val="F0F0F0"/>
          </a:solidFill>
          <a:ln w="12700">
            <a:solidFill>
              <a:srgbClr val="D8DCDF"/>
            </a:solidFill>
            <a:prstDash val="solid"/>
          </a:ln>
        </p:spPr>
        <p:txBody>
          <a:bodyPr/>
          <a:lstStyle/>
          <a:p>
            <a:endParaRPr lang="nb-NO"/>
          </a:p>
        </p:txBody>
      </p:sp>
      <p:sp>
        <p:nvSpPr>
          <p:cNvPr id="6" name="Text 4"/>
          <p:cNvSpPr/>
          <p:nvPr/>
        </p:nvSpPr>
        <p:spPr>
          <a:xfrm>
            <a:off x="777240" y="3214116"/>
            <a:ext cx="2276856" cy="822960"/>
          </a:xfrm>
          <a:prstGeom prst="rect">
            <a:avLst/>
          </a:prstGeom>
          <a:noFill/>
          <a:ln/>
        </p:spPr>
        <p:txBody>
          <a:bodyPr wrap="square" lIns="0" tIns="0" rIns="0" bIns="0" rtlCol="0" anchor="ctr"/>
          <a:lstStyle/>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sp>
        <p:nvSpPr>
          <p:cNvPr id="7" name="Text 5"/>
          <p:cNvSpPr/>
          <p:nvPr/>
        </p:nvSpPr>
        <p:spPr>
          <a:xfrm>
            <a:off x="777240" y="4928616"/>
            <a:ext cx="2673020" cy="329184"/>
          </a:xfrm>
          <a:prstGeom prst="rect">
            <a:avLst/>
          </a:prstGeom>
          <a:noFill/>
          <a:ln/>
        </p:spPr>
        <p:txBody>
          <a:bodyPr wrap="square" lIns="0" tIns="0" rIns="0" bIns="0" rtlCol="0" anchor="t"/>
          <a:lstStyle/>
          <a:p>
            <a:pPr marL="0" indent="0">
              <a:lnSpc>
                <a:spcPct val="110000"/>
              </a:lnSpc>
              <a:buNone/>
            </a:pPr>
            <a:r>
              <a:rPr lang="en-US" sz="1600" b="1" dirty="0">
                <a:solidFill>
                  <a:srgbClr val="131415"/>
                </a:solidFill>
                <a:latin typeface="Replica LL TT" pitchFamily="34" charset="0"/>
                <a:ea typeface="Replica LL TT" pitchFamily="34" charset="-122"/>
                <a:cs typeface="Replica LL TT" pitchFamily="34" charset="-120"/>
              </a:rPr>
              <a:t>Katherine Barrios</a:t>
            </a:r>
            <a:endParaRPr lang="en-US" sz="1600" dirty="0"/>
          </a:p>
        </p:txBody>
      </p:sp>
      <p:sp>
        <p:nvSpPr>
          <p:cNvPr id="8" name="Text 6"/>
          <p:cNvSpPr/>
          <p:nvPr/>
        </p:nvSpPr>
        <p:spPr>
          <a:xfrm>
            <a:off x="777240" y="5257800"/>
            <a:ext cx="2673020" cy="548640"/>
          </a:xfrm>
          <a:prstGeom prst="rect">
            <a:avLst/>
          </a:prstGeom>
          <a:noFill/>
          <a:ln/>
        </p:spPr>
        <p:txBody>
          <a:bodyPr wrap="square" lIns="0" tIns="0" rIns="0" bIns="0" rtlCol="0" anchor="t"/>
          <a:lstStyle/>
          <a:p>
            <a:pPr marL="0" indent="0">
              <a:lnSpc>
                <a:spcPct val="115000"/>
              </a:lnSpc>
              <a:buNone/>
            </a:pPr>
            <a:r>
              <a:rPr lang="en-US" sz="1600" dirty="0">
                <a:solidFill>
                  <a:srgbClr val="5A6166"/>
                </a:solidFill>
                <a:latin typeface="Inter" pitchFamily="34" charset="0"/>
                <a:ea typeface="Inter" pitchFamily="34" charset="-122"/>
                <a:cs typeface="Inter" pitchFamily="34" charset="-120"/>
              </a:rPr>
              <a:t>CCO &amp; CMO, Xeneta</a:t>
            </a:r>
            <a:endParaRPr lang="en-US" sz="1600" dirty="0"/>
          </a:p>
        </p:txBody>
      </p:sp>
      <p:sp>
        <p:nvSpPr>
          <p:cNvPr id="9" name="Shape 7"/>
          <p:cNvSpPr/>
          <p:nvPr/>
        </p:nvSpPr>
        <p:spPr>
          <a:xfrm>
            <a:off x="3523412" y="2487168"/>
            <a:ext cx="2276856" cy="2276856"/>
          </a:xfrm>
          <a:prstGeom prst="roundRect">
            <a:avLst>
              <a:gd name="adj" fmla="val 4193"/>
            </a:avLst>
          </a:prstGeom>
          <a:solidFill>
            <a:srgbClr val="F0F0F0"/>
          </a:solidFill>
          <a:ln w="12700">
            <a:solidFill>
              <a:srgbClr val="D8DCDF"/>
            </a:solidFill>
            <a:prstDash val="solid"/>
          </a:ln>
        </p:spPr>
        <p:txBody>
          <a:bodyPr/>
          <a:lstStyle/>
          <a:p>
            <a:endParaRPr lang="nb-NO"/>
          </a:p>
        </p:txBody>
      </p:sp>
      <p:sp>
        <p:nvSpPr>
          <p:cNvPr id="10" name="Text 8"/>
          <p:cNvSpPr/>
          <p:nvPr/>
        </p:nvSpPr>
        <p:spPr>
          <a:xfrm>
            <a:off x="3523412" y="3214116"/>
            <a:ext cx="2276856" cy="822960"/>
          </a:xfrm>
          <a:prstGeom prst="rect">
            <a:avLst/>
          </a:prstGeom>
          <a:noFill/>
          <a:ln/>
        </p:spPr>
        <p:txBody>
          <a:bodyPr wrap="square" lIns="0" tIns="0" rIns="0" bIns="0" rtlCol="0" anchor="ctr"/>
          <a:lstStyle/>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sp>
        <p:nvSpPr>
          <p:cNvPr id="11" name="Text 9"/>
          <p:cNvSpPr/>
          <p:nvPr/>
        </p:nvSpPr>
        <p:spPr>
          <a:xfrm>
            <a:off x="3523412" y="4928616"/>
            <a:ext cx="2673020" cy="329184"/>
          </a:xfrm>
          <a:prstGeom prst="rect">
            <a:avLst/>
          </a:prstGeom>
          <a:noFill/>
          <a:ln/>
        </p:spPr>
        <p:txBody>
          <a:bodyPr wrap="square" lIns="0" tIns="0" rIns="0" bIns="0" rtlCol="0" anchor="t"/>
          <a:lstStyle/>
          <a:p>
            <a:pPr marL="0" indent="0">
              <a:lnSpc>
                <a:spcPct val="110000"/>
              </a:lnSpc>
              <a:buNone/>
            </a:pPr>
            <a:r>
              <a:rPr lang="en-US" sz="1600" b="1" dirty="0">
                <a:solidFill>
                  <a:srgbClr val="131415"/>
                </a:solidFill>
                <a:latin typeface="Replica LL TT" pitchFamily="34" charset="0"/>
                <a:ea typeface="Replica LL TT" pitchFamily="34" charset="-122"/>
                <a:cs typeface="Replica LL TT" pitchFamily="34" charset="-120"/>
              </a:rPr>
              <a:t>Christian Sæterhaug</a:t>
            </a:r>
            <a:endParaRPr lang="en-US" sz="1600" dirty="0"/>
          </a:p>
        </p:txBody>
      </p:sp>
      <p:sp>
        <p:nvSpPr>
          <p:cNvPr id="12" name="Text 10"/>
          <p:cNvSpPr/>
          <p:nvPr/>
        </p:nvSpPr>
        <p:spPr>
          <a:xfrm>
            <a:off x="3523412" y="5257800"/>
            <a:ext cx="2673020" cy="548640"/>
          </a:xfrm>
          <a:prstGeom prst="rect">
            <a:avLst/>
          </a:prstGeom>
          <a:noFill/>
          <a:ln/>
        </p:spPr>
        <p:txBody>
          <a:bodyPr wrap="square" lIns="0" tIns="0" rIns="0" bIns="0" rtlCol="0" anchor="t"/>
          <a:lstStyle/>
          <a:p>
            <a:pPr marL="0" indent="0">
              <a:lnSpc>
                <a:spcPct val="115000"/>
              </a:lnSpc>
              <a:buNone/>
            </a:pPr>
            <a:r>
              <a:rPr lang="en-US" sz="1600" dirty="0">
                <a:solidFill>
                  <a:srgbClr val="5A6166"/>
                </a:solidFill>
                <a:latin typeface="Inter" pitchFamily="34" charset="0"/>
                <a:ea typeface="Inter" pitchFamily="34" charset="-122"/>
                <a:cs typeface="Inter" pitchFamily="34" charset="-120"/>
              </a:rPr>
              <a:t>VP New Markets, Gelato</a:t>
            </a:r>
            <a:endParaRPr lang="en-US" sz="1600" dirty="0"/>
          </a:p>
        </p:txBody>
      </p:sp>
      <p:sp>
        <p:nvSpPr>
          <p:cNvPr id="13" name="Shape 11"/>
          <p:cNvSpPr/>
          <p:nvPr/>
        </p:nvSpPr>
        <p:spPr>
          <a:xfrm>
            <a:off x="6269584" y="2487168"/>
            <a:ext cx="2276856" cy="2276856"/>
          </a:xfrm>
          <a:prstGeom prst="roundRect">
            <a:avLst>
              <a:gd name="adj" fmla="val 4193"/>
            </a:avLst>
          </a:prstGeom>
          <a:solidFill>
            <a:srgbClr val="F0F0F0"/>
          </a:solidFill>
          <a:ln w="12700">
            <a:solidFill>
              <a:srgbClr val="D8DCDF"/>
            </a:solidFill>
            <a:prstDash val="solid"/>
          </a:ln>
        </p:spPr>
        <p:txBody>
          <a:bodyPr/>
          <a:lstStyle/>
          <a:p>
            <a:endParaRPr lang="nb-NO"/>
          </a:p>
        </p:txBody>
      </p:sp>
      <p:sp>
        <p:nvSpPr>
          <p:cNvPr id="14" name="Text 12"/>
          <p:cNvSpPr/>
          <p:nvPr/>
        </p:nvSpPr>
        <p:spPr>
          <a:xfrm>
            <a:off x="6269584" y="3214116"/>
            <a:ext cx="2276856" cy="822960"/>
          </a:xfrm>
          <a:prstGeom prst="rect">
            <a:avLst/>
          </a:prstGeom>
          <a:noFill/>
          <a:ln/>
        </p:spPr>
        <p:txBody>
          <a:bodyPr wrap="square" lIns="0" tIns="0" rIns="0" bIns="0" rtlCol="0" anchor="ctr"/>
          <a:lstStyle/>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sp>
        <p:nvSpPr>
          <p:cNvPr id="15" name="Text 13"/>
          <p:cNvSpPr/>
          <p:nvPr/>
        </p:nvSpPr>
        <p:spPr>
          <a:xfrm>
            <a:off x="6269584" y="4928616"/>
            <a:ext cx="2673020" cy="329184"/>
          </a:xfrm>
          <a:prstGeom prst="rect">
            <a:avLst/>
          </a:prstGeom>
          <a:noFill/>
          <a:ln/>
        </p:spPr>
        <p:txBody>
          <a:bodyPr wrap="square" lIns="0" tIns="0" rIns="0" bIns="0" rtlCol="0" anchor="t"/>
          <a:lstStyle/>
          <a:p>
            <a:pPr marL="0" indent="0">
              <a:lnSpc>
                <a:spcPct val="110000"/>
              </a:lnSpc>
              <a:buNone/>
            </a:pPr>
            <a:r>
              <a:rPr lang="en-US" sz="1600" b="1" dirty="0">
                <a:solidFill>
                  <a:srgbClr val="131415"/>
                </a:solidFill>
                <a:latin typeface="Replica LL TT" pitchFamily="34" charset="0"/>
                <a:ea typeface="Replica LL TT" pitchFamily="34" charset="-122"/>
                <a:cs typeface="Replica LL TT" pitchFamily="34" charset="-120"/>
              </a:rPr>
              <a:t>Stefan Slemdal</a:t>
            </a:r>
            <a:endParaRPr lang="en-US" sz="1600" dirty="0"/>
          </a:p>
        </p:txBody>
      </p:sp>
      <p:sp>
        <p:nvSpPr>
          <p:cNvPr id="16" name="Text 14"/>
          <p:cNvSpPr/>
          <p:nvPr/>
        </p:nvSpPr>
        <p:spPr>
          <a:xfrm>
            <a:off x="6269584" y="5257800"/>
            <a:ext cx="2673020" cy="548640"/>
          </a:xfrm>
          <a:prstGeom prst="rect">
            <a:avLst/>
          </a:prstGeom>
          <a:noFill/>
          <a:ln/>
        </p:spPr>
        <p:txBody>
          <a:bodyPr wrap="square" lIns="0" tIns="0" rIns="0" bIns="0" rtlCol="0" anchor="t"/>
          <a:lstStyle/>
          <a:p>
            <a:pPr marL="0" indent="0">
              <a:lnSpc>
                <a:spcPct val="115000"/>
              </a:lnSpc>
              <a:buNone/>
            </a:pPr>
            <a:r>
              <a:rPr lang="en-US" sz="1600" dirty="0">
                <a:solidFill>
                  <a:srgbClr val="5A6166"/>
                </a:solidFill>
                <a:latin typeface="Inter" pitchFamily="34" charset="0"/>
                <a:ea typeface="Inter" pitchFamily="34" charset="-122"/>
                <a:cs typeface="Inter" pitchFamily="34" charset="-120"/>
              </a:rPr>
              <a:t>ECM, DNB Carnegie</a:t>
            </a:r>
            <a:endParaRPr lang="en-US" sz="1600" dirty="0"/>
          </a:p>
        </p:txBody>
      </p:sp>
      <p:sp>
        <p:nvSpPr>
          <p:cNvPr id="17" name="Shape 15"/>
          <p:cNvSpPr/>
          <p:nvPr/>
        </p:nvSpPr>
        <p:spPr>
          <a:xfrm>
            <a:off x="9015755" y="2487168"/>
            <a:ext cx="2276856" cy="2276856"/>
          </a:xfrm>
          <a:prstGeom prst="roundRect">
            <a:avLst>
              <a:gd name="adj" fmla="val 4193"/>
            </a:avLst>
          </a:prstGeom>
          <a:solidFill>
            <a:srgbClr val="F0F0F0"/>
          </a:solidFill>
          <a:ln w="12700">
            <a:solidFill>
              <a:srgbClr val="D8DCDF"/>
            </a:solidFill>
            <a:prstDash val="solid"/>
          </a:ln>
        </p:spPr>
        <p:txBody>
          <a:bodyPr/>
          <a:lstStyle/>
          <a:p>
            <a:endParaRPr lang="nb-NO"/>
          </a:p>
        </p:txBody>
      </p:sp>
      <p:sp>
        <p:nvSpPr>
          <p:cNvPr id="18" name="Text 16"/>
          <p:cNvSpPr/>
          <p:nvPr/>
        </p:nvSpPr>
        <p:spPr>
          <a:xfrm>
            <a:off x="9015755" y="3214116"/>
            <a:ext cx="2276856" cy="822960"/>
          </a:xfrm>
          <a:prstGeom prst="rect">
            <a:avLst/>
          </a:prstGeom>
          <a:noFill/>
          <a:ln/>
        </p:spPr>
        <p:txBody>
          <a:bodyPr wrap="square" lIns="0" tIns="0" rIns="0" bIns="0" rtlCol="0" anchor="ctr"/>
          <a:lstStyle/>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marL="0" indent="0" algn="ctr">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sp>
        <p:nvSpPr>
          <p:cNvPr id="19" name="Text 17"/>
          <p:cNvSpPr/>
          <p:nvPr/>
        </p:nvSpPr>
        <p:spPr>
          <a:xfrm>
            <a:off x="9015755" y="4928616"/>
            <a:ext cx="2673020" cy="329184"/>
          </a:xfrm>
          <a:prstGeom prst="rect">
            <a:avLst/>
          </a:prstGeom>
          <a:noFill/>
          <a:ln/>
        </p:spPr>
        <p:txBody>
          <a:bodyPr wrap="square" lIns="0" tIns="0" rIns="0" bIns="0" rtlCol="0" anchor="t"/>
          <a:lstStyle/>
          <a:p>
            <a:pPr marL="0" indent="0">
              <a:lnSpc>
                <a:spcPct val="110000"/>
              </a:lnSpc>
              <a:buNone/>
            </a:pPr>
            <a:r>
              <a:rPr lang="en-US" sz="1600" b="1" dirty="0">
                <a:solidFill>
                  <a:srgbClr val="131415"/>
                </a:solidFill>
                <a:latin typeface="Replica LL TT" pitchFamily="34" charset="0"/>
                <a:ea typeface="Replica LL TT" pitchFamily="34" charset="-122"/>
                <a:cs typeface="Replica LL TT" pitchFamily="34" charset="-120"/>
              </a:rPr>
              <a:t>Monica Beate Tvedt</a:t>
            </a:r>
            <a:endParaRPr lang="en-US" sz="1600" dirty="0"/>
          </a:p>
        </p:txBody>
      </p:sp>
      <p:sp>
        <p:nvSpPr>
          <p:cNvPr id="20" name="Text 18"/>
          <p:cNvSpPr/>
          <p:nvPr/>
        </p:nvSpPr>
        <p:spPr>
          <a:xfrm>
            <a:off x="9015755" y="5257800"/>
            <a:ext cx="2673020" cy="548640"/>
          </a:xfrm>
          <a:prstGeom prst="rect">
            <a:avLst/>
          </a:prstGeom>
          <a:noFill/>
          <a:ln/>
        </p:spPr>
        <p:txBody>
          <a:bodyPr wrap="square" lIns="0" tIns="0" rIns="0" bIns="0" rtlCol="0" anchor="t"/>
          <a:lstStyle/>
          <a:p>
            <a:pPr marL="0" indent="0">
              <a:lnSpc>
                <a:spcPct val="115000"/>
              </a:lnSpc>
              <a:buNone/>
            </a:pPr>
            <a:r>
              <a:rPr lang="en-US" sz="1600" dirty="0">
                <a:solidFill>
                  <a:srgbClr val="5A6166"/>
                </a:solidFill>
                <a:latin typeface="Inter" pitchFamily="34" charset="0"/>
                <a:ea typeface="Inter" pitchFamily="34" charset="-122"/>
                <a:cs typeface="Inter" pitchFamily="34" charset="-120"/>
              </a:rPr>
              <a:t>Group CTO, Forte</a:t>
            </a:r>
            <a:endParaRPr lang="en-US" sz="1600" dirty="0"/>
          </a:p>
        </p:txBody>
      </p:sp>
      <p:pic>
        <p:nvPicPr>
          <p:cNvPr id="21" name="Image 0" descr="C:\Code\Work\startuplab-partner-presentation\pptx-templates\media\logo-red.png"/>
          <p:cNvPicPr>
            <a:picLocks noChangeAspect="1"/>
          </p:cNvPicPr>
          <p:nvPr/>
        </p:nvPicPr>
        <p:blipFill>
          <a:blip r:embed="rId3"/>
          <a:stretch>
            <a:fillRect/>
          </a:stretch>
        </p:blipFill>
        <p:spPr>
          <a:xfrm>
            <a:off x="777240" y="6035040"/>
            <a:ext cx="843006" cy="310896"/>
          </a:xfrm>
          <a:prstGeom prst="rect">
            <a:avLst/>
          </a:prstGeom>
        </p:spPr>
      </p:pic>
      <p:sp>
        <p:nvSpPr>
          <p:cNvPr id="22" name="Text 19"/>
          <p:cNvSpPr/>
          <p:nvPr/>
        </p:nvSpPr>
        <p:spPr>
          <a:xfrm>
            <a:off x="2194560" y="6007608"/>
            <a:ext cx="9219895" cy="402336"/>
          </a:xfrm>
          <a:prstGeom prst="rect">
            <a:avLst/>
          </a:prstGeom>
          <a:noFill/>
          <a:ln/>
        </p:spPr>
        <p:txBody>
          <a:bodyPr wrap="square" lIns="0" tIns="0" rIns="0" bIns="0" rtlCol="0" anchor="ctr"/>
          <a:lstStyle/>
          <a:p>
            <a:pPr marL="0" indent="0" algn="r">
              <a:buNone/>
            </a:pPr>
            <a:r>
              <a:rPr lang="en-US" sz="1800" dirty="0">
                <a:solidFill>
                  <a:srgbClr val="5A6166"/>
                </a:solidFill>
                <a:latin typeface="Inter" pitchFamily="34" charset="0"/>
                <a:ea typeface="Inter" pitchFamily="34" charset="-122"/>
                <a:cs typeface="Inter" pitchFamily="34" charset="-120"/>
              </a:rPr>
              <a:t>Seasoned builders who have scaled fast and failed fast, ready to share what they learned. They are always open to discuss and help our network..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428</Words>
  <Application>Microsoft Office PowerPoint</Application>
  <PresentationFormat>Widescreen</PresentationFormat>
  <Paragraphs>29</Paragraphs>
  <Slides>2</Slides>
  <Notes>2</Notes>
  <HiddenSlides>0</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2</vt:i4>
      </vt:variant>
    </vt:vector>
  </HeadingPairs>
  <TitlesOfParts>
    <vt:vector size="7" baseType="lpstr">
      <vt:lpstr>Arial</vt:lpstr>
      <vt:lpstr>Inter</vt:lpstr>
      <vt:lpstr>Replica LL TT</vt:lpstr>
      <vt:lpstr>Replica LL TT Heavy</vt:lpstr>
      <vt:lpstr>Office Theme</vt:lpstr>
      <vt:lpstr>PowerPoint-presentasjon</vt:lpstr>
      <vt:lpstr>PowerPoint-presentasjon</vt:lpstr>
    </vt:vector>
  </TitlesOfParts>
  <Company>Startuplab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Startuplab</dc:creator>
  <cp:lastModifiedBy>Christina Wiig</cp:lastModifiedBy>
  <cp:revision>2</cp:revision>
  <dcterms:created xsi:type="dcterms:W3CDTF">2026-08-20T10:24:00Z</dcterms:created>
  <dcterms:modified xsi:type="dcterms:W3CDTF">2026-08-20T10:37:02Z</dcterms:modified>
</cp:coreProperties>
</file>