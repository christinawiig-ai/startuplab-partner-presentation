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FORSIDE. Bytt bilde: høyreklikk på bildet &gt; Endre bilde &gt; Fra en fil. Velg et bilde med et rolig parti nede til venstre, ellers konkurrerer motivet med tittelen. Vil du flytte det røde ordet: marker ordet og sett skriftfargen til rød (FF3333).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Fire til fem punkter er nok. Flere enn det leser ingen fra salen. Trenger du en femte rad, kopier en hel rad og flytt den 0,98 tommer 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SEKSJONSSKILLE. Bruk mellom hoveddeler så publikum får en pause og vet hvor de er. Maks to korte linjer, ellers mister plakaten kraften.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STORT TALL. Ett tall per slide. Skal publikum huske to tall, bruk to slides. Teksten til høyre er der for å oppgi kilde og forbehold, ikke for et nytt poeng.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TALLREKKE. Tre tall er maks. Rund av: publikum husker 4 000, ikke 4 037. Hold hver verdi kort, lange verdier brekker over to linjer og dytter etiketten 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HELFLATE-BILDE. Sløret over bildet er en egen firkant: klikk den og juster gjennomsiktigheten hvis ditt bilde er lysere eller mørkere enn dette.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TEKST OG BILDE. Bildet går helt ut til kanten med vilje, ikke krymp det inn i en ramme. Vil du ha bildet på venstre side: flytt bildet til x = 0 og tekstblokken til høyre halvdel.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PROGRAMKORT. Fem kort er maks på bredden. Trenger du fire, slett ett kort og dra de andre utover så mellomrommene blir like. Hvert kort har et slør oppå bildet som holder de fem i samme toneleie.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PUNKTGRID. Seks er taket. Hold hver beskrivelse til to linjer, ellers kolliderer nederste rad med logoen.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UTSAGN. Én setning, maks tre linjer. Dette er sliden du lar henge i stillhet et par sekunder før du snakker videre.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SITAT. Hold sitatet under 25 ord, ellers slutter salen å lese før du er ferdig å snakke. Portrettet er rundt maskert: høyreklikk &gt; Endre bilde beholder masken.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PROSESS. Det røde tallet viser hvor i løpet du er. Flytt den røde fargen til neste steg hvis du gjenbruker sliden lenger ut i presentasjonen.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FOLK. Fire portretter passer på bredden. Bytt portrett: høyreklikk &gt; Endre bilde, den runde masken følger med. Den grå sirkelen er en ledig plass.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FILM. Slik legger du inn filmen: Sett inn &gt; Video &gt; Denne enheten. Dra filmen så den dekker hele flaten, høyreklikk &gt; Send bakover slik at tittelen og avspillingsmerket blir liggende oppå. Under Avspilling velger du Start automatisk hvis den skal gå av seg selv. Slett den røde sirkelen og trekanten når den ekte filmen er på plass.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AVSLUTNING. La den stå på skjermen mens du tar spørsmål. Legg til e-post eller kontaktperson på linjen under nettadressen hvis salen skal kunne følge opp.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image" Target="../media/image-8-4.jpg"/><Relationship Id="rId5" Type="http://schemas.openxmlformats.org/officeDocument/2006/relationships/image" Target="../media/image-8-5.jp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C:\Code\Work\startuplab-partner-presentation\pptx-templates\media\cover.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50505">
              <a:alpha val="54000"/>
            </a:srgbClr>
          </a:solidFill>
          <a:ln/>
        </p:spPr>
      </p:sp>
      <p:sp>
        <p:nvSpPr>
          <p:cNvPr id="4" name="Text 1"/>
          <p:cNvSpPr/>
          <p:nvPr/>
        </p:nvSpPr>
        <p:spPr>
          <a:xfrm>
            <a:off x="777240" y="3611880"/>
            <a:ext cx="8229600" cy="292608"/>
          </a:xfrm>
          <a:prstGeom prst="rect">
            <a:avLst/>
          </a:prstGeom>
          <a:noFill/>
          <a:ln/>
        </p:spPr>
        <p:txBody>
          <a:bodyPr wrap="square" lIns="0" tIns="0" rIns="0" bIns="0" rtlCol="0" anchor="ctr"/>
          <a:lstStyle/>
          <a:p>
            <a:pPr indent="0" marL="0">
              <a:buNone/>
            </a:pPr>
            <a:r>
              <a:rPr lang="en-US" sz="1500" b="1" spc="250" kern="0" dirty="0">
                <a:solidFill>
                  <a:srgbClr val="FF3333"/>
                </a:solidFill>
                <a:latin typeface="Inter" pitchFamily="34" charset="0"/>
                <a:ea typeface="Inter" pitchFamily="34" charset="-122"/>
                <a:cs typeface="Inter" pitchFamily="34" charset="-120"/>
              </a:rPr>
              <a:t>STARTUPLAB · PARTNER GATHERING</a:t>
            </a:r>
            <a:endParaRPr lang="en-US" sz="1500" dirty="0"/>
          </a:p>
        </p:txBody>
      </p:sp>
      <p:sp>
        <p:nvSpPr>
          <p:cNvPr id="5" name="Text 2"/>
          <p:cNvSpPr/>
          <p:nvPr/>
        </p:nvSpPr>
        <p:spPr>
          <a:xfrm>
            <a:off x="777240" y="4005072"/>
            <a:ext cx="9692640" cy="1600200"/>
          </a:xfrm>
          <a:prstGeom prst="rect">
            <a:avLst/>
          </a:prstGeom>
          <a:noFill/>
          <a:ln/>
        </p:spPr>
        <p:txBody>
          <a:bodyPr wrap="square" lIns="0" tIns="0" rIns="0" bIns="0" rtlCol="0" anchor="t"/>
          <a:lstStyle/>
          <a:p>
            <a:pPr indent="0" marL="0">
              <a:lnSpc>
                <a:spcPct val="92000"/>
              </a:lnSpc>
              <a:buNone/>
            </a:pPr>
            <a:r>
              <a:rPr lang="en-US" sz="5400" dirty="0">
                <a:solidFill>
                  <a:srgbClr val="FFFFFF"/>
                </a:solidFill>
                <a:latin typeface="Replica LL TT Heavy" pitchFamily="34" charset="0"/>
                <a:ea typeface="Replica LL TT Heavy" pitchFamily="34" charset="-122"/>
                <a:cs typeface="Replica LL TT Heavy" pitchFamily="34" charset="-120"/>
              </a:rPr>
              <a:t>Bygger det </a:t>
            </a:r>
            <a:pPr indent="0" marL="0">
              <a:lnSpc>
                <a:spcPct val="92000"/>
              </a:lnSpc>
              <a:buNone/>
            </a:pPr>
            <a:r>
              <a:rPr lang="en-US" sz="5400" dirty="0">
                <a:solidFill>
                  <a:srgbClr val="FF3333"/>
                </a:solidFill>
                <a:latin typeface="Replica LL TT Heavy" pitchFamily="34" charset="0"/>
                <a:ea typeface="Replica LL TT Heavy" pitchFamily="34" charset="-122"/>
                <a:cs typeface="Replica LL TT Heavy" pitchFamily="34" charset="-120"/>
              </a:rPr>
              <a:t>neste</a:t>
            </a:r>
            <a:pPr indent="0" marL="0">
              <a:lnSpc>
                <a:spcPct val="92000"/>
              </a:lnSpc>
              <a:buNone/>
            </a:pPr>
            <a:r>
              <a:rPr lang="en-US" sz="5400" dirty="0">
                <a:solidFill>
                  <a:srgbClr val="FFFFFF"/>
                </a:solidFill>
                <a:latin typeface="Replica LL TT Heavy" pitchFamily="34" charset="0"/>
                <a:ea typeface="Replica LL TT Heavy" pitchFamily="34" charset="-122"/>
                <a:cs typeface="Replica LL TT Heavy" pitchFamily="34" charset="-120"/>
              </a:rPr>
              <a:t> kapittelet</a:t>
            </a:r>
            <a:endParaRPr lang="en-US" sz="5400" dirty="0"/>
          </a:p>
        </p:txBody>
      </p:sp>
      <p:pic>
        <p:nvPicPr>
          <p:cNvPr id="6" name="Image 1" descr="C:\Code\Work\startuplab-partner-presentation\brand-profile\logo\png\SL_signature_white.png">    </p:cNvPr>
          <p:cNvPicPr>
            <a:picLocks noChangeAspect="1"/>
          </p:cNvPicPr>
          <p:nvPr/>
        </p:nvPicPr>
        <p:blipFill>
          <a:blip r:embed="rId2"/>
          <a:stretch>
            <a:fillRect/>
          </a:stretch>
        </p:blipFill>
        <p:spPr>
          <a:xfrm>
            <a:off x="777240" y="6035040"/>
            <a:ext cx="731056" cy="384048"/>
          </a:xfrm>
          <a:prstGeom prst="rect">
            <a:avLst/>
          </a:prstGeom>
        </p:spPr>
      </p:pic>
      <p:sp>
        <p:nvSpPr>
          <p:cNvPr id="7" name="Text 3"/>
          <p:cNvSpPr/>
          <p:nvPr/>
        </p:nvSpPr>
        <p:spPr>
          <a:xfrm>
            <a:off x="7299655" y="6016752"/>
            <a:ext cx="4114800" cy="402336"/>
          </a:xfrm>
          <a:prstGeom prst="rect">
            <a:avLst/>
          </a:prstGeom>
          <a:noFill/>
          <a:ln/>
        </p:spPr>
        <p:txBody>
          <a:bodyPr wrap="square" lIns="0" tIns="0" rIns="0" bIns="0" rtlCol="0" anchor="ctr"/>
          <a:lstStyle/>
          <a:p>
            <a:pPr algn="r" indent="0" marL="0">
              <a:buNone/>
            </a:pPr>
            <a:r>
              <a:rPr lang="en-US" sz="1600" dirty="0">
                <a:solidFill>
                  <a:srgbClr val="FFFFFF"/>
                </a:solidFill>
                <a:latin typeface="Inter" pitchFamily="34" charset="0"/>
                <a:ea typeface="Inter" pitchFamily="34" charset="-122"/>
                <a:cs typeface="Inter" pitchFamily="34" charset="-120"/>
              </a:rPr>
              <a:t>Oslo · januar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713232"/>
            <a:ext cx="8229600" cy="292608"/>
          </a:xfrm>
          <a:prstGeom prst="rect">
            <a:avLst/>
          </a:prstGeom>
          <a:noFill/>
          <a:ln/>
        </p:spPr>
        <p:txBody>
          <a:bodyPr wrap="square" lIns="0" tIns="0" rIns="0" bIns="0" rtlCol="0" anchor="ctr"/>
          <a:lstStyle/>
          <a:p>
            <a:pPr indent="0" marL="0">
              <a:buNone/>
            </a:pPr>
            <a:r>
              <a:rPr lang="en-US" sz="1500" b="1" spc="250" kern="0" dirty="0">
                <a:solidFill>
                  <a:srgbClr val="FF3333"/>
                </a:solidFill>
                <a:latin typeface="Inter" pitchFamily="34" charset="0"/>
                <a:ea typeface="Inter" pitchFamily="34" charset="-122"/>
                <a:cs typeface="Inter" pitchFamily="34" charset="-120"/>
              </a:rPr>
              <a:t>AGENDA</a:t>
            </a:r>
            <a:endParaRPr lang="en-US" sz="1500" dirty="0"/>
          </a:p>
        </p:txBody>
      </p:sp>
      <p:sp>
        <p:nvSpPr>
          <p:cNvPr id="3" name="Text 1"/>
          <p:cNvSpPr/>
          <p:nvPr/>
        </p:nvSpPr>
        <p:spPr>
          <a:xfrm>
            <a:off x="777240" y="1051560"/>
            <a:ext cx="10424160" cy="777240"/>
          </a:xfrm>
          <a:prstGeom prst="rect">
            <a:avLst/>
          </a:prstGeom>
          <a:noFill/>
          <a:ln/>
        </p:spPr>
        <p:txBody>
          <a:bodyPr wrap="square" lIns="0" tIns="0" rIns="0" bIns="0" rtlCol="0" anchor="t"/>
          <a:lstStyle/>
          <a:p>
            <a:pPr indent="0" marL="0">
              <a:lnSpc>
                <a:spcPct val="100000"/>
              </a:lnSpc>
              <a:buNone/>
            </a:pPr>
            <a:r>
              <a:rPr lang="en-US" sz="4000" b="1" dirty="0">
                <a:solidFill>
                  <a:srgbClr val="131415"/>
                </a:solidFill>
                <a:latin typeface="Replica LL TT" pitchFamily="34" charset="0"/>
                <a:ea typeface="Replica LL TT" pitchFamily="34" charset="-122"/>
                <a:cs typeface="Replica LL TT" pitchFamily="34" charset="-120"/>
              </a:rPr>
              <a:t>Dagens program</a:t>
            </a:r>
            <a:endParaRPr lang="en-US" sz="4000" dirty="0"/>
          </a:p>
        </p:txBody>
      </p:sp>
      <p:sp>
        <p:nvSpPr>
          <p:cNvPr id="4" name="Text 2"/>
          <p:cNvSpPr/>
          <p:nvPr/>
        </p:nvSpPr>
        <p:spPr>
          <a:xfrm>
            <a:off x="777240" y="2286000"/>
            <a:ext cx="868680" cy="566928"/>
          </a:xfrm>
          <a:prstGeom prst="rect">
            <a:avLst/>
          </a:prstGeom>
          <a:noFill/>
          <a:ln/>
        </p:spPr>
        <p:txBody>
          <a:bodyPr wrap="square" lIns="0" tIns="0" rIns="0" bIns="0" rtlCol="0" anchor="ctr"/>
          <a:lstStyle/>
          <a:p>
            <a:pPr indent="0" marL="0">
              <a:buNone/>
            </a:pPr>
            <a:r>
              <a:rPr lang="en-US" sz="2800" dirty="0">
                <a:solidFill>
                  <a:srgbClr val="FF3333"/>
                </a:solidFill>
                <a:latin typeface="Replica LL TT Heavy" pitchFamily="34" charset="0"/>
                <a:ea typeface="Replica LL TT Heavy" pitchFamily="34" charset="-122"/>
                <a:cs typeface="Replica LL TT Heavy" pitchFamily="34" charset="-120"/>
              </a:rPr>
              <a:t>01</a:t>
            </a:r>
            <a:endParaRPr lang="en-US" sz="2800" dirty="0"/>
          </a:p>
        </p:txBody>
      </p:sp>
      <p:sp>
        <p:nvSpPr>
          <p:cNvPr id="5" name="Text 3"/>
          <p:cNvSpPr/>
          <p:nvPr/>
        </p:nvSpPr>
        <p:spPr>
          <a:xfrm>
            <a:off x="1737360" y="2286000"/>
            <a:ext cx="6309360" cy="566928"/>
          </a:xfrm>
          <a:prstGeom prst="rect">
            <a:avLst/>
          </a:prstGeom>
          <a:noFill/>
          <a:ln/>
        </p:spPr>
        <p:txBody>
          <a:bodyPr wrap="square" lIns="0" tIns="0" rIns="0" bIns="0" rtlCol="0" anchor="ctr"/>
          <a:lstStyle/>
          <a:p>
            <a:pPr indent="0" marL="0">
              <a:buNone/>
            </a:pPr>
            <a:r>
              <a:rPr lang="en-US" sz="2600" b="1" dirty="0">
                <a:solidFill>
                  <a:srgbClr val="131415"/>
                </a:solidFill>
                <a:latin typeface="Replica LL TT" pitchFamily="34" charset="0"/>
                <a:ea typeface="Replica LL TT" pitchFamily="34" charset="-122"/>
                <a:cs typeface="Replica LL TT" pitchFamily="34" charset="-120"/>
              </a:rPr>
              <a:t>Velkommen og formål</a:t>
            </a:r>
            <a:endParaRPr lang="en-US" sz="2600" dirty="0"/>
          </a:p>
        </p:txBody>
      </p:sp>
      <p:sp>
        <p:nvSpPr>
          <p:cNvPr id="6" name="Text 4"/>
          <p:cNvSpPr/>
          <p:nvPr/>
        </p:nvSpPr>
        <p:spPr>
          <a:xfrm>
            <a:off x="7635240" y="2286000"/>
            <a:ext cx="3749040" cy="566928"/>
          </a:xfrm>
          <a:prstGeom prst="rect">
            <a:avLst/>
          </a:prstGeom>
          <a:noFill/>
          <a:ln/>
        </p:spPr>
        <p:txBody>
          <a:bodyPr wrap="square" lIns="0" tIns="0" rIns="0" bIns="0" rtlCol="0" anchor="ctr"/>
          <a:lstStyle/>
          <a:p>
            <a:pPr indent="0" marL="0">
              <a:buNone/>
            </a:pPr>
            <a:r>
              <a:rPr lang="en-US" sz="2000" dirty="0">
                <a:solidFill>
                  <a:srgbClr val="9BA1A5"/>
                </a:solidFill>
                <a:latin typeface="Inter" pitchFamily="34" charset="0"/>
                <a:ea typeface="Inter" pitchFamily="34" charset="-122"/>
                <a:cs typeface="Inter" pitchFamily="34" charset="-120"/>
              </a:rPr>
              <a:t>Ove · 10 min</a:t>
            </a:r>
            <a:endParaRPr lang="en-US" sz="2000" dirty="0"/>
          </a:p>
        </p:txBody>
      </p:sp>
      <p:sp>
        <p:nvSpPr>
          <p:cNvPr id="7" name="Text 5"/>
          <p:cNvSpPr/>
          <p:nvPr/>
        </p:nvSpPr>
        <p:spPr>
          <a:xfrm>
            <a:off x="777240" y="3182112"/>
            <a:ext cx="868680" cy="566928"/>
          </a:xfrm>
          <a:prstGeom prst="rect">
            <a:avLst/>
          </a:prstGeom>
          <a:noFill/>
          <a:ln/>
        </p:spPr>
        <p:txBody>
          <a:bodyPr wrap="square" lIns="0" tIns="0" rIns="0" bIns="0" rtlCol="0" anchor="ctr"/>
          <a:lstStyle/>
          <a:p>
            <a:pPr indent="0" marL="0">
              <a:buNone/>
            </a:pPr>
            <a:r>
              <a:rPr lang="en-US" sz="2800" dirty="0">
                <a:solidFill>
                  <a:srgbClr val="FF3333"/>
                </a:solidFill>
                <a:latin typeface="Replica LL TT Heavy" pitchFamily="34" charset="0"/>
                <a:ea typeface="Replica LL TT Heavy" pitchFamily="34" charset="-122"/>
                <a:cs typeface="Replica LL TT Heavy" pitchFamily="34" charset="-120"/>
              </a:rPr>
              <a:t>02</a:t>
            </a:r>
            <a:endParaRPr lang="en-US" sz="2800" dirty="0"/>
          </a:p>
        </p:txBody>
      </p:sp>
      <p:sp>
        <p:nvSpPr>
          <p:cNvPr id="8" name="Text 6"/>
          <p:cNvSpPr/>
          <p:nvPr/>
        </p:nvSpPr>
        <p:spPr>
          <a:xfrm>
            <a:off x="1737360" y="3182112"/>
            <a:ext cx="6309360" cy="566928"/>
          </a:xfrm>
          <a:prstGeom prst="rect">
            <a:avLst/>
          </a:prstGeom>
          <a:noFill/>
          <a:ln/>
        </p:spPr>
        <p:txBody>
          <a:bodyPr wrap="square" lIns="0" tIns="0" rIns="0" bIns="0" rtlCol="0" anchor="ctr"/>
          <a:lstStyle/>
          <a:p>
            <a:pPr indent="0" marL="0">
              <a:buNone/>
            </a:pPr>
            <a:r>
              <a:rPr lang="en-US" sz="2600" b="1" dirty="0">
                <a:solidFill>
                  <a:srgbClr val="131415"/>
                </a:solidFill>
                <a:latin typeface="Replica LL TT" pitchFamily="34" charset="0"/>
                <a:ea typeface="Replica LL TT" pitchFamily="34" charset="-122"/>
                <a:cs typeface="Replica LL TT" pitchFamily="34" charset="-120"/>
              </a:rPr>
              <a:t>Året som gikk</a:t>
            </a:r>
            <a:endParaRPr lang="en-US" sz="2600" dirty="0"/>
          </a:p>
        </p:txBody>
      </p:sp>
      <p:sp>
        <p:nvSpPr>
          <p:cNvPr id="9" name="Text 7"/>
          <p:cNvSpPr/>
          <p:nvPr/>
        </p:nvSpPr>
        <p:spPr>
          <a:xfrm>
            <a:off x="7635240" y="3182112"/>
            <a:ext cx="3749040" cy="566928"/>
          </a:xfrm>
          <a:prstGeom prst="rect">
            <a:avLst/>
          </a:prstGeom>
          <a:noFill/>
          <a:ln/>
        </p:spPr>
        <p:txBody>
          <a:bodyPr wrap="square" lIns="0" tIns="0" rIns="0" bIns="0" rtlCol="0" anchor="ctr"/>
          <a:lstStyle/>
          <a:p>
            <a:pPr indent="0" marL="0">
              <a:buNone/>
            </a:pPr>
            <a:r>
              <a:rPr lang="en-US" sz="2000" dirty="0">
                <a:solidFill>
                  <a:srgbClr val="9BA1A5"/>
                </a:solidFill>
                <a:latin typeface="Inter" pitchFamily="34" charset="0"/>
                <a:ea typeface="Inter" pitchFamily="34" charset="-122"/>
                <a:cs typeface="Inter" pitchFamily="34" charset="-120"/>
              </a:rPr>
              <a:t>Christina · 15 min</a:t>
            </a:r>
            <a:endParaRPr lang="en-US" sz="2000" dirty="0"/>
          </a:p>
        </p:txBody>
      </p:sp>
      <p:sp>
        <p:nvSpPr>
          <p:cNvPr id="10" name="Text 8"/>
          <p:cNvSpPr/>
          <p:nvPr/>
        </p:nvSpPr>
        <p:spPr>
          <a:xfrm>
            <a:off x="777240" y="4078224"/>
            <a:ext cx="868680" cy="566928"/>
          </a:xfrm>
          <a:prstGeom prst="rect">
            <a:avLst/>
          </a:prstGeom>
          <a:noFill/>
          <a:ln/>
        </p:spPr>
        <p:txBody>
          <a:bodyPr wrap="square" lIns="0" tIns="0" rIns="0" bIns="0" rtlCol="0" anchor="ctr"/>
          <a:lstStyle/>
          <a:p>
            <a:pPr indent="0" marL="0">
              <a:buNone/>
            </a:pPr>
            <a:r>
              <a:rPr lang="en-US" sz="2800" dirty="0">
                <a:solidFill>
                  <a:srgbClr val="FF3333"/>
                </a:solidFill>
                <a:latin typeface="Replica LL TT Heavy" pitchFamily="34" charset="0"/>
                <a:ea typeface="Replica LL TT Heavy" pitchFamily="34" charset="-122"/>
                <a:cs typeface="Replica LL TT Heavy" pitchFamily="34" charset="-120"/>
              </a:rPr>
              <a:t>03</a:t>
            </a:r>
            <a:endParaRPr lang="en-US" sz="2800" dirty="0"/>
          </a:p>
        </p:txBody>
      </p:sp>
      <p:sp>
        <p:nvSpPr>
          <p:cNvPr id="11" name="Text 9"/>
          <p:cNvSpPr/>
          <p:nvPr/>
        </p:nvSpPr>
        <p:spPr>
          <a:xfrm>
            <a:off x="1737360" y="4078224"/>
            <a:ext cx="6309360" cy="566928"/>
          </a:xfrm>
          <a:prstGeom prst="rect">
            <a:avLst/>
          </a:prstGeom>
          <a:noFill/>
          <a:ln/>
        </p:spPr>
        <p:txBody>
          <a:bodyPr wrap="square" lIns="0" tIns="0" rIns="0" bIns="0" rtlCol="0" anchor="ctr"/>
          <a:lstStyle/>
          <a:p>
            <a:pPr indent="0" marL="0">
              <a:buNone/>
            </a:pPr>
            <a:r>
              <a:rPr lang="en-US" sz="2600" b="1" dirty="0">
                <a:solidFill>
                  <a:srgbClr val="131415"/>
                </a:solidFill>
                <a:latin typeface="Replica LL TT" pitchFamily="34" charset="0"/>
                <a:ea typeface="Replica LL TT" pitchFamily="34" charset="-122"/>
                <a:cs typeface="Replica LL TT" pitchFamily="34" charset="-120"/>
              </a:rPr>
              <a:t>Nye industriprogrammer</a:t>
            </a:r>
            <a:endParaRPr lang="en-US" sz="2600" dirty="0"/>
          </a:p>
        </p:txBody>
      </p:sp>
      <p:sp>
        <p:nvSpPr>
          <p:cNvPr id="12" name="Text 10"/>
          <p:cNvSpPr/>
          <p:nvPr/>
        </p:nvSpPr>
        <p:spPr>
          <a:xfrm>
            <a:off x="7635240" y="4078224"/>
            <a:ext cx="3749040" cy="566928"/>
          </a:xfrm>
          <a:prstGeom prst="rect">
            <a:avLst/>
          </a:prstGeom>
          <a:noFill/>
          <a:ln/>
        </p:spPr>
        <p:txBody>
          <a:bodyPr wrap="square" lIns="0" tIns="0" rIns="0" bIns="0" rtlCol="0" anchor="ctr"/>
          <a:lstStyle/>
          <a:p>
            <a:pPr indent="0" marL="0">
              <a:buNone/>
            </a:pPr>
            <a:r>
              <a:rPr lang="en-US" sz="2000" dirty="0">
                <a:solidFill>
                  <a:srgbClr val="9BA1A5"/>
                </a:solidFill>
                <a:latin typeface="Inter" pitchFamily="34" charset="0"/>
                <a:ea typeface="Inter" pitchFamily="34" charset="-122"/>
                <a:cs typeface="Inter" pitchFamily="34" charset="-120"/>
              </a:rPr>
              <a:t>Ola · 15 min</a:t>
            </a:r>
            <a:endParaRPr lang="en-US" sz="2000" dirty="0"/>
          </a:p>
        </p:txBody>
      </p:sp>
      <p:sp>
        <p:nvSpPr>
          <p:cNvPr id="13" name="Text 11"/>
          <p:cNvSpPr/>
          <p:nvPr/>
        </p:nvSpPr>
        <p:spPr>
          <a:xfrm>
            <a:off x="777240" y="4974336"/>
            <a:ext cx="868680" cy="566928"/>
          </a:xfrm>
          <a:prstGeom prst="rect">
            <a:avLst/>
          </a:prstGeom>
          <a:noFill/>
          <a:ln/>
        </p:spPr>
        <p:txBody>
          <a:bodyPr wrap="square" lIns="0" tIns="0" rIns="0" bIns="0" rtlCol="0" anchor="ctr"/>
          <a:lstStyle/>
          <a:p>
            <a:pPr indent="0" marL="0">
              <a:buNone/>
            </a:pPr>
            <a:r>
              <a:rPr lang="en-US" sz="2800" dirty="0">
                <a:solidFill>
                  <a:srgbClr val="FF3333"/>
                </a:solidFill>
                <a:latin typeface="Replica LL TT Heavy" pitchFamily="34" charset="0"/>
                <a:ea typeface="Replica LL TT Heavy" pitchFamily="34" charset="-122"/>
                <a:cs typeface="Replica LL TT Heavy" pitchFamily="34" charset="-120"/>
              </a:rPr>
              <a:t>04</a:t>
            </a:r>
            <a:endParaRPr lang="en-US" sz="2800" dirty="0"/>
          </a:p>
        </p:txBody>
      </p:sp>
      <p:sp>
        <p:nvSpPr>
          <p:cNvPr id="14" name="Text 12"/>
          <p:cNvSpPr/>
          <p:nvPr/>
        </p:nvSpPr>
        <p:spPr>
          <a:xfrm>
            <a:off x="1737360" y="4974336"/>
            <a:ext cx="6309360" cy="566928"/>
          </a:xfrm>
          <a:prstGeom prst="rect">
            <a:avLst/>
          </a:prstGeom>
          <a:noFill/>
          <a:ln/>
        </p:spPr>
        <p:txBody>
          <a:bodyPr wrap="square" lIns="0" tIns="0" rIns="0" bIns="0" rtlCol="0" anchor="ctr"/>
          <a:lstStyle/>
          <a:p>
            <a:pPr indent="0" marL="0">
              <a:buNone/>
            </a:pPr>
            <a:r>
              <a:rPr lang="en-US" sz="2600" b="1" dirty="0">
                <a:solidFill>
                  <a:srgbClr val="131415"/>
                </a:solidFill>
                <a:latin typeface="Replica LL TT" pitchFamily="34" charset="0"/>
                <a:ea typeface="Replica LL TT" pitchFamily="34" charset="-122"/>
                <a:cs typeface="Replica LL TT" pitchFamily="34" charset="-120"/>
              </a:rPr>
              <a:t>Arbeidsøkt i grupper</a:t>
            </a:r>
            <a:endParaRPr lang="en-US" sz="2600" dirty="0"/>
          </a:p>
        </p:txBody>
      </p:sp>
      <p:sp>
        <p:nvSpPr>
          <p:cNvPr id="15" name="Text 13"/>
          <p:cNvSpPr/>
          <p:nvPr/>
        </p:nvSpPr>
        <p:spPr>
          <a:xfrm>
            <a:off x="7635240" y="4974336"/>
            <a:ext cx="3749040" cy="566928"/>
          </a:xfrm>
          <a:prstGeom prst="rect">
            <a:avLst/>
          </a:prstGeom>
          <a:noFill/>
          <a:ln/>
        </p:spPr>
        <p:txBody>
          <a:bodyPr wrap="square" lIns="0" tIns="0" rIns="0" bIns="0" rtlCol="0" anchor="ctr"/>
          <a:lstStyle/>
          <a:p>
            <a:pPr indent="0" marL="0">
              <a:buNone/>
            </a:pPr>
            <a:r>
              <a:rPr lang="en-US" sz="2000" dirty="0">
                <a:solidFill>
                  <a:srgbClr val="9BA1A5"/>
                </a:solidFill>
                <a:latin typeface="Inter" pitchFamily="34" charset="0"/>
                <a:ea typeface="Inter" pitchFamily="34" charset="-122"/>
                <a:cs typeface="Inter" pitchFamily="34" charset="-120"/>
              </a:rPr>
              <a:t>Alle · 45 min</a:t>
            </a:r>
            <a:endParaRPr lang="en-US" sz="2000" dirty="0"/>
          </a:p>
        </p:txBody>
      </p:sp>
      <p:pic>
        <p:nvPicPr>
          <p:cNvPr id="16" name="Image 0" descr="C:\Code\Work\startuplab-partner-presentation\brand-profile\logo\png\SL_signature_red.png">    </p:cNvPr>
          <p:cNvPicPr>
            <a:picLocks noChangeAspect="1"/>
          </p:cNvPicPr>
          <p:nvPr/>
        </p:nvPicPr>
        <p:blipFill>
          <a:blip r:embed="rId1"/>
          <a:stretch>
            <a:fillRect/>
          </a:stretch>
        </p:blipFill>
        <p:spPr>
          <a:xfrm>
            <a:off x="777240" y="6035040"/>
            <a:ext cx="731056" cy="384048"/>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3333"/>
        </a:solidFill>
      </p:bgPr>
    </p:bg>
    <p:spTree>
      <p:nvGrpSpPr>
        <p:cNvPr id="1" name=""/>
        <p:cNvGrpSpPr/>
        <p:nvPr/>
      </p:nvGrpSpPr>
      <p:grpSpPr>
        <a:xfrm>
          <a:off x="0" y="0"/>
          <a:ext cx="0" cy="0"/>
          <a:chOff x="0" y="0"/>
          <a:chExt cx="0" cy="0"/>
        </a:xfrm>
      </p:grpSpPr>
      <p:sp>
        <p:nvSpPr>
          <p:cNvPr id="2" name="Text 0"/>
          <p:cNvSpPr/>
          <p:nvPr/>
        </p:nvSpPr>
        <p:spPr>
          <a:xfrm>
            <a:off x="777240" y="2148840"/>
            <a:ext cx="10637215" cy="292608"/>
          </a:xfrm>
          <a:prstGeom prst="rect">
            <a:avLst/>
          </a:prstGeom>
          <a:noFill/>
          <a:ln/>
        </p:spPr>
        <p:txBody>
          <a:bodyPr wrap="square" lIns="0" tIns="0" rIns="0" bIns="0" rtlCol="0" anchor="ctr"/>
          <a:lstStyle/>
          <a:p>
            <a:pPr indent="0" marL="0">
              <a:buNone/>
            </a:pPr>
            <a:r>
              <a:rPr lang="en-US" sz="1500" b="1" spc="250" kern="0" dirty="0">
                <a:solidFill>
                  <a:srgbClr val="FFFFFF"/>
                </a:solidFill>
                <a:latin typeface="Inter" pitchFamily="34" charset="0"/>
                <a:ea typeface="Inter" pitchFamily="34" charset="-122"/>
                <a:cs typeface="Inter" pitchFamily="34" charset="-120"/>
              </a:rPr>
              <a:t>DEL TO</a:t>
            </a:r>
            <a:endParaRPr lang="en-US" sz="1500" dirty="0"/>
          </a:p>
        </p:txBody>
      </p:sp>
      <p:sp>
        <p:nvSpPr>
          <p:cNvPr id="3" name="Text 1"/>
          <p:cNvSpPr/>
          <p:nvPr/>
        </p:nvSpPr>
        <p:spPr>
          <a:xfrm>
            <a:off x="777240" y="2542032"/>
            <a:ext cx="10637215" cy="2377440"/>
          </a:xfrm>
          <a:prstGeom prst="rect">
            <a:avLst/>
          </a:prstGeom>
          <a:noFill/>
          <a:ln/>
        </p:spPr>
        <p:txBody>
          <a:bodyPr wrap="square" lIns="0" tIns="0" rIns="0" bIns="0" rtlCol="0" anchor="t"/>
          <a:lstStyle/>
          <a:p>
            <a:pPr indent="0" marL="0">
              <a:lnSpc>
                <a:spcPct val="85000"/>
              </a:lnSpc>
              <a:buNone/>
            </a:pPr>
            <a:r>
              <a:rPr lang="en-US" sz="9200" dirty="0">
                <a:solidFill>
                  <a:srgbClr val="FFFFFF"/>
                </a:solidFill>
                <a:latin typeface="Replica LL TT Heavy" pitchFamily="34" charset="0"/>
                <a:ea typeface="Replica LL TT Heavy" pitchFamily="34" charset="-122"/>
                <a:cs typeface="Replica LL TT Heavy" pitchFamily="34" charset="-120"/>
              </a:rPr>
              <a:t>2025</a:t>
            </a:r>
            <a:endParaRPr lang="en-US" sz="9200" dirty="0"/>
          </a:p>
          <a:p>
            <a:pPr indent="0" marL="0">
              <a:lnSpc>
                <a:spcPct val="85000"/>
              </a:lnSpc>
              <a:buNone/>
            </a:pPr>
            <a:r>
              <a:rPr lang="en-US" sz="9200" dirty="0">
                <a:solidFill>
                  <a:srgbClr val="FFFFFF"/>
                </a:solidFill>
                <a:latin typeface="Replica LL TT Heavy" pitchFamily="34" charset="0"/>
                <a:ea typeface="Replica LL TT Heavy" pitchFamily="34" charset="-122"/>
                <a:cs typeface="Replica LL TT Heavy" pitchFamily="34" charset="-120"/>
              </a:rPr>
              <a:t>I KORTE TREKK</a:t>
            </a:r>
            <a:endParaRPr lang="en-US" sz="9200" dirty="0"/>
          </a:p>
        </p:txBody>
      </p:sp>
      <p:pic>
        <p:nvPicPr>
          <p:cNvPr id="4" name="Image 0" descr="C:\Code\Work\startuplab-partner-presentation\brand-profile\logo\png\SL_signature_white.png">    </p:cNvPr>
          <p:cNvPicPr>
            <a:picLocks noChangeAspect="1"/>
          </p:cNvPicPr>
          <p:nvPr/>
        </p:nvPicPr>
        <p:blipFill>
          <a:blip r:embed="rId1"/>
          <a:stretch>
            <a:fillRect/>
          </a:stretch>
        </p:blipFill>
        <p:spPr>
          <a:xfrm>
            <a:off x="777240" y="6035040"/>
            <a:ext cx="731056" cy="38404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31415"/>
        </a:solidFill>
      </p:bgPr>
    </p:bg>
    <p:spTree>
      <p:nvGrpSpPr>
        <p:cNvPr id="1" name=""/>
        <p:cNvGrpSpPr/>
        <p:nvPr/>
      </p:nvGrpSpPr>
      <p:grpSpPr>
        <a:xfrm>
          <a:off x="0" y="0"/>
          <a:ext cx="0" cy="0"/>
          <a:chOff x="0" y="0"/>
          <a:chExt cx="0" cy="0"/>
        </a:xfrm>
      </p:grpSpPr>
      <p:sp>
        <p:nvSpPr>
          <p:cNvPr id="2" name="Text 0"/>
          <p:cNvSpPr/>
          <p:nvPr/>
        </p:nvSpPr>
        <p:spPr>
          <a:xfrm>
            <a:off x="777240" y="1828800"/>
            <a:ext cx="8229600" cy="292608"/>
          </a:xfrm>
          <a:prstGeom prst="rect">
            <a:avLst/>
          </a:prstGeom>
          <a:noFill/>
          <a:ln/>
        </p:spPr>
        <p:txBody>
          <a:bodyPr wrap="square" lIns="0" tIns="0" rIns="0" bIns="0" rtlCol="0" anchor="ctr"/>
          <a:lstStyle/>
          <a:p>
            <a:pPr indent="0" marL="0">
              <a:buNone/>
            </a:pPr>
            <a:r>
              <a:rPr lang="en-US" sz="1500" b="1" spc="250" kern="0" dirty="0">
                <a:solidFill>
                  <a:srgbClr val="FF3333"/>
                </a:solidFill>
                <a:latin typeface="Inter" pitchFamily="34" charset="0"/>
                <a:ea typeface="Inter" pitchFamily="34" charset="-122"/>
                <a:cs typeface="Inter" pitchFamily="34" charset="-120"/>
              </a:rPr>
              <a:t>SIDEN 2012</a:t>
            </a:r>
            <a:endParaRPr lang="en-US" sz="1500" dirty="0"/>
          </a:p>
        </p:txBody>
      </p:sp>
      <p:sp>
        <p:nvSpPr>
          <p:cNvPr id="3" name="Text 1"/>
          <p:cNvSpPr/>
          <p:nvPr/>
        </p:nvSpPr>
        <p:spPr>
          <a:xfrm>
            <a:off x="777240" y="2121408"/>
            <a:ext cx="5852160" cy="1920240"/>
          </a:xfrm>
          <a:prstGeom prst="rect">
            <a:avLst/>
          </a:prstGeom>
          <a:noFill/>
          <a:ln/>
        </p:spPr>
        <p:txBody>
          <a:bodyPr wrap="square" lIns="0" tIns="0" rIns="0" bIns="0" rtlCol="0" anchor="t"/>
          <a:lstStyle/>
          <a:p>
            <a:pPr indent="0" marL="0">
              <a:lnSpc>
                <a:spcPct val="80000"/>
              </a:lnSpc>
              <a:buNone/>
            </a:pPr>
            <a:r>
              <a:rPr lang="en-US" sz="15000" dirty="0">
                <a:solidFill>
                  <a:srgbClr val="FF3333"/>
                </a:solidFill>
                <a:latin typeface="Replica LL TT Heavy" pitchFamily="34" charset="0"/>
                <a:ea typeface="Replica LL TT Heavy" pitchFamily="34" charset="-122"/>
                <a:cs typeface="Replica LL TT Heavy" pitchFamily="34" charset="-120"/>
              </a:rPr>
              <a:t>200+</a:t>
            </a:r>
            <a:endParaRPr lang="en-US" sz="15000" dirty="0"/>
          </a:p>
        </p:txBody>
      </p:sp>
      <p:sp>
        <p:nvSpPr>
          <p:cNvPr id="4" name="Text 2"/>
          <p:cNvSpPr/>
          <p:nvPr/>
        </p:nvSpPr>
        <p:spPr>
          <a:xfrm>
            <a:off x="777240" y="3950208"/>
            <a:ext cx="5669280" cy="1051560"/>
          </a:xfrm>
          <a:prstGeom prst="rect">
            <a:avLst/>
          </a:prstGeom>
          <a:noFill/>
          <a:ln/>
        </p:spPr>
        <p:txBody>
          <a:bodyPr wrap="square" lIns="0" tIns="0" rIns="0" bIns="0" rtlCol="0" anchor="t"/>
          <a:lstStyle/>
          <a:p>
            <a:pPr indent="0" marL="0">
              <a:lnSpc>
                <a:spcPct val="105000"/>
              </a:lnSpc>
              <a:buNone/>
            </a:pPr>
            <a:r>
              <a:rPr lang="en-US" sz="2700" b="1" dirty="0">
                <a:solidFill>
                  <a:srgbClr val="FFFFFF"/>
                </a:solidFill>
                <a:latin typeface="Replica LL TT" pitchFamily="34" charset="0"/>
                <a:ea typeface="Replica LL TT" pitchFamily="34" charset="-122"/>
                <a:cs typeface="Replica LL TT" pitchFamily="34" charset="-120"/>
              </a:rPr>
              <a:t>investeringer i norske</a:t>
            </a:r>
            <a:endParaRPr lang="en-US" sz="2700" dirty="0"/>
          </a:p>
          <a:p>
            <a:pPr indent="0" marL="0">
              <a:lnSpc>
                <a:spcPct val="105000"/>
              </a:lnSpc>
              <a:buNone/>
            </a:pPr>
            <a:r>
              <a:rPr lang="en-US" sz="2700" b="1" dirty="0">
                <a:solidFill>
                  <a:srgbClr val="FFFFFF"/>
                </a:solidFill>
                <a:latin typeface="Replica LL TT" pitchFamily="34" charset="0"/>
                <a:ea typeface="Replica LL TT" pitchFamily="34" charset="-122"/>
                <a:cs typeface="Replica LL TT" pitchFamily="34" charset="-120"/>
              </a:rPr>
              <a:t>tidligfaseselskaper</a:t>
            </a:r>
            <a:endParaRPr lang="en-US" sz="2700" dirty="0"/>
          </a:p>
        </p:txBody>
      </p:sp>
      <p:sp>
        <p:nvSpPr>
          <p:cNvPr id="5" name="Text 3"/>
          <p:cNvSpPr/>
          <p:nvPr/>
        </p:nvSpPr>
        <p:spPr>
          <a:xfrm>
            <a:off x="7223760" y="2240280"/>
            <a:ext cx="4160520" cy="2103120"/>
          </a:xfrm>
          <a:prstGeom prst="rect">
            <a:avLst/>
          </a:prstGeom>
          <a:noFill/>
          <a:ln/>
        </p:spPr>
        <p:txBody>
          <a:bodyPr wrap="square" lIns="0" tIns="0" rIns="0" bIns="0" rtlCol="0" anchor="t"/>
          <a:lstStyle/>
          <a:p>
            <a:pPr indent="0" marL="0">
              <a:lnSpc>
                <a:spcPct val="135000"/>
              </a:lnSpc>
              <a:buNone/>
            </a:pPr>
            <a:r>
              <a:rPr lang="en-US" sz="2000" dirty="0">
                <a:solidFill>
                  <a:srgbClr val="9BA1A5"/>
                </a:solidFill>
                <a:latin typeface="Inter" pitchFamily="34" charset="0"/>
                <a:ea typeface="Inter" pitchFamily="34" charset="-122"/>
                <a:cs typeface="Inter" pitchFamily="34" charset="-120"/>
              </a:rPr>
              <a:t>Porteføljen har passert 12,2 milliarder kroner i samlet omsetning. Tallet hentes fra Northbase og oppdateres hvert kvartal.</a:t>
            </a:r>
            <a:endParaRPr lang="en-US" sz="2000" dirty="0"/>
          </a:p>
        </p:txBody>
      </p:sp>
      <p:pic>
        <p:nvPicPr>
          <p:cNvPr id="6" name="Image 0" descr="C:\Code\Work\startuplab-partner-presentation\brand-profile\logo\png\SL_signature_white.png">    </p:cNvPr>
          <p:cNvPicPr>
            <a:picLocks noChangeAspect="1"/>
          </p:cNvPicPr>
          <p:nvPr/>
        </p:nvPicPr>
        <p:blipFill>
          <a:blip r:embed="rId1"/>
          <a:stretch>
            <a:fillRect/>
          </a:stretch>
        </p:blipFill>
        <p:spPr>
          <a:xfrm>
            <a:off x="777240" y="6035040"/>
            <a:ext cx="731056" cy="384048"/>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7"/>
        </a:solidFill>
      </p:bgPr>
    </p:bg>
    <p:spTree>
      <p:nvGrpSpPr>
        <p:cNvPr id="1" name=""/>
        <p:cNvGrpSpPr/>
        <p:nvPr/>
      </p:nvGrpSpPr>
      <p:grpSpPr>
        <a:xfrm>
          <a:off x="0" y="0"/>
          <a:ext cx="0" cy="0"/>
          <a:chOff x="0" y="0"/>
          <a:chExt cx="0" cy="0"/>
        </a:xfrm>
      </p:grpSpPr>
      <p:sp>
        <p:nvSpPr>
          <p:cNvPr id="2" name="Text 0"/>
          <p:cNvSpPr/>
          <p:nvPr/>
        </p:nvSpPr>
        <p:spPr>
          <a:xfrm>
            <a:off x="777240" y="1600200"/>
            <a:ext cx="8229600" cy="292608"/>
          </a:xfrm>
          <a:prstGeom prst="rect">
            <a:avLst/>
          </a:prstGeom>
          <a:noFill/>
          <a:ln/>
        </p:spPr>
        <p:txBody>
          <a:bodyPr wrap="square" lIns="0" tIns="0" rIns="0" bIns="0" rtlCol="0" anchor="ctr"/>
          <a:lstStyle/>
          <a:p>
            <a:pPr indent="0" marL="0">
              <a:buNone/>
            </a:pPr>
            <a:r>
              <a:rPr lang="en-US" sz="1500" b="1" spc="250" kern="0" dirty="0">
                <a:solidFill>
                  <a:srgbClr val="FF3333"/>
                </a:solidFill>
                <a:latin typeface="Inter" pitchFamily="34" charset="0"/>
                <a:ea typeface="Inter" pitchFamily="34" charset="-122"/>
                <a:cs typeface="Inter" pitchFamily="34" charset="-120"/>
              </a:rPr>
              <a:t>STARTUPLAB I TALL</a:t>
            </a:r>
            <a:endParaRPr lang="en-US" sz="1500" dirty="0"/>
          </a:p>
        </p:txBody>
      </p:sp>
      <p:sp>
        <p:nvSpPr>
          <p:cNvPr id="3" name="Text 1"/>
          <p:cNvSpPr/>
          <p:nvPr/>
        </p:nvSpPr>
        <p:spPr>
          <a:xfrm>
            <a:off x="777240" y="1965960"/>
            <a:ext cx="10424160" cy="777240"/>
          </a:xfrm>
          <a:prstGeom prst="rect">
            <a:avLst/>
          </a:prstGeom>
          <a:noFill/>
          <a:ln/>
        </p:spPr>
        <p:txBody>
          <a:bodyPr wrap="square" lIns="0" tIns="0" rIns="0" bIns="0" rtlCol="0" anchor="t"/>
          <a:lstStyle/>
          <a:p>
            <a:pPr indent="0" marL="0">
              <a:lnSpc>
                <a:spcPct val="100000"/>
              </a:lnSpc>
              <a:buNone/>
            </a:pPr>
            <a:r>
              <a:rPr lang="en-US" sz="4000" b="1" dirty="0">
                <a:solidFill>
                  <a:srgbClr val="131415"/>
                </a:solidFill>
                <a:latin typeface="Replica LL TT" pitchFamily="34" charset="0"/>
                <a:ea typeface="Replica LL TT" pitchFamily="34" charset="-122"/>
                <a:cs typeface="Replica LL TT" pitchFamily="34" charset="-120"/>
              </a:rPr>
              <a:t>Tretten år med </a:t>
            </a:r>
            <a:pPr indent="0" marL="0">
              <a:lnSpc>
                <a:spcPct val="100000"/>
              </a:lnSpc>
              <a:buNone/>
            </a:pPr>
            <a:r>
              <a:rPr lang="en-US" sz="4000" b="1" dirty="0">
                <a:solidFill>
                  <a:srgbClr val="FF3333"/>
                </a:solidFill>
                <a:latin typeface="Replica LL TT" pitchFamily="34" charset="0"/>
                <a:ea typeface="Replica LL TT" pitchFamily="34" charset="-122"/>
                <a:cs typeface="Replica LL TT" pitchFamily="34" charset="-120"/>
              </a:rPr>
              <a:t>sammensatt</a:t>
            </a:r>
            <a:pPr indent="0" marL="0">
              <a:lnSpc>
                <a:spcPct val="100000"/>
              </a:lnSpc>
              <a:buNone/>
            </a:pPr>
            <a:r>
              <a:rPr lang="en-US" sz="4000" b="1" dirty="0">
                <a:solidFill>
                  <a:srgbClr val="131415"/>
                </a:solidFill>
                <a:latin typeface="Replica LL TT" pitchFamily="34" charset="0"/>
                <a:ea typeface="Replica LL TT" pitchFamily="34" charset="-122"/>
                <a:cs typeface="Replica LL TT" pitchFamily="34" charset="-120"/>
              </a:rPr>
              <a:t> vekst</a:t>
            </a:r>
            <a:endParaRPr lang="en-US" sz="4000" dirty="0"/>
          </a:p>
        </p:txBody>
      </p:sp>
      <p:sp>
        <p:nvSpPr>
          <p:cNvPr id="4" name="Text 2"/>
          <p:cNvSpPr/>
          <p:nvPr/>
        </p:nvSpPr>
        <p:spPr>
          <a:xfrm>
            <a:off x="777240" y="3474720"/>
            <a:ext cx="3058058" cy="1188720"/>
          </a:xfrm>
          <a:prstGeom prst="rect">
            <a:avLst/>
          </a:prstGeom>
          <a:noFill/>
          <a:ln/>
        </p:spPr>
        <p:txBody>
          <a:bodyPr wrap="square" lIns="0" tIns="0" rIns="0" bIns="0" rtlCol="0" anchor="t"/>
          <a:lstStyle/>
          <a:p>
            <a:pPr indent="0" marL="0">
              <a:lnSpc>
                <a:spcPct val="90000"/>
              </a:lnSpc>
              <a:buNone/>
            </a:pPr>
            <a:r>
              <a:rPr lang="en-US" sz="5600" dirty="0">
                <a:solidFill>
                  <a:srgbClr val="FF3333"/>
                </a:solidFill>
                <a:latin typeface="Replica LL TT Heavy" pitchFamily="34" charset="0"/>
                <a:ea typeface="Replica LL TT Heavy" pitchFamily="34" charset="-122"/>
                <a:cs typeface="Replica LL TT Heavy" pitchFamily="34" charset="-120"/>
              </a:rPr>
              <a:t>4 000+</a:t>
            </a:r>
            <a:endParaRPr lang="en-US" sz="5600" dirty="0"/>
          </a:p>
        </p:txBody>
      </p:sp>
      <p:sp>
        <p:nvSpPr>
          <p:cNvPr id="5" name="Text 3"/>
          <p:cNvSpPr/>
          <p:nvPr/>
        </p:nvSpPr>
        <p:spPr>
          <a:xfrm>
            <a:off x="777240" y="4645152"/>
            <a:ext cx="3058058" cy="822960"/>
          </a:xfrm>
          <a:prstGeom prst="rect">
            <a:avLst/>
          </a:prstGeom>
          <a:noFill/>
          <a:ln/>
        </p:spPr>
        <p:txBody>
          <a:bodyPr wrap="square" lIns="0" tIns="0" rIns="0" bIns="0" rtlCol="0" anchor="t"/>
          <a:lstStyle/>
          <a:p>
            <a:pPr indent="0" marL="0">
              <a:lnSpc>
                <a:spcPct val="115000"/>
              </a:lnSpc>
              <a:buNone/>
            </a:pPr>
            <a:r>
              <a:rPr lang="en-US" sz="2200" b="1" dirty="0">
                <a:solidFill>
                  <a:srgbClr val="131415"/>
                </a:solidFill>
                <a:latin typeface="Replica LL TT" pitchFamily="34" charset="0"/>
                <a:ea typeface="Replica LL TT" pitchFamily="34" charset="-122"/>
                <a:cs typeface="Replica LL TT" pitchFamily="34" charset="-120"/>
              </a:rPr>
              <a:t>selskaper i nettverket</a:t>
            </a:r>
            <a:endParaRPr lang="en-US" sz="2200" dirty="0"/>
          </a:p>
        </p:txBody>
      </p:sp>
      <p:sp>
        <p:nvSpPr>
          <p:cNvPr id="6" name="Text 4"/>
          <p:cNvSpPr/>
          <p:nvPr/>
        </p:nvSpPr>
        <p:spPr>
          <a:xfrm>
            <a:off x="4566818" y="3474720"/>
            <a:ext cx="3058058" cy="1188720"/>
          </a:xfrm>
          <a:prstGeom prst="rect">
            <a:avLst/>
          </a:prstGeom>
          <a:noFill/>
          <a:ln/>
        </p:spPr>
        <p:txBody>
          <a:bodyPr wrap="square" lIns="0" tIns="0" rIns="0" bIns="0" rtlCol="0" anchor="t"/>
          <a:lstStyle/>
          <a:p>
            <a:pPr indent="0" marL="0">
              <a:lnSpc>
                <a:spcPct val="90000"/>
              </a:lnSpc>
              <a:buNone/>
            </a:pPr>
            <a:r>
              <a:rPr lang="en-US" sz="5600" dirty="0">
                <a:solidFill>
                  <a:srgbClr val="FF3333"/>
                </a:solidFill>
                <a:latin typeface="Replica LL TT Heavy" pitchFamily="34" charset="0"/>
                <a:ea typeface="Replica LL TT Heavy" pitchFamily="34" charset="-122"/>
                <a:cs typeface="Replica LL TT Heavy" pitchFamily="34" charset="-120"/>
              </a:rPr>
              <a:t>200+</a:t>
            </a:r>
            <a:endParaRPr lang="en-US" sz="5600" dirty="0"/>
          </a:p>
        </p:txBody>
      </p:sp>
      <p:sp>
        <p:nvSpPr>
          <p:cNvPr id="7" name="Text 5"/>
          <p:cNvSpPr/>
          <p:nvPr/>
        </p:nvSpPr>
        <p:spPr>
          <a:xfrm>
            <a:off x="4566818" y="4645152"/>
            <a:ext cx="3058058" cy="822960"/>
          </a:xfrm>
          <a:prstGeom prst="rect">
            <a:avLst/>
          </a:prstGeom>
          <a:noFill/>
          <a:ln/>
        </p:spPr>
        <p:txBody>
          <a:bodyPr wrap="square" lIns="0" tIns="0" rIns="0" bIns="0" rtlCol="0" anchor="t"/>
          <a:lstStyle/>
          <a:p>
            <a:pPr indent="0" marL="0">
              <a:lnSpc>
                <a:spcPct val="115000"/>
              </a:lnSpc>
              <a:buNone/>
            </a:pPr>
            <a:r>
              <a:rPr lang="en-US" sz="2200" b="1" dirty="0">
                <a:solidFill>
                  <a:srgbClr val="131415"/>
                </a:solidFill>
                <a:latin typeface="Replica LL TT" pitchFamily="34" charset="0"/>
                <a:ea typeface="Replica LL TT" pitchFamily="34" charset="-122"/>
                <a:cs typeface="Replica LL TT" pitchFamily="34" charset="-120"/>
              </a:rPr>
              <a:t>investeringer gjort</a:t>
            </a:r>
            <a:endParaRPr lang="en-US" sz="2200" dirty="0"/>
          </a:p>
        </p:txBody>
      </p:sp>
      <p:sp>
        <p:nvSpPr>
          <p:cNvPr id="8" name="Text 6"/>
          <p:cNvSpPr/>
          <p:nvPr/>
        </p:nvSpPr>
        <p:spPr>
          <a:xfrm>
            <a:off x="8356397" y="3474720"/>
            <a:ext cx="3058058" cy="1188720"/>
          </a:xfrm>
          <a:prstGeom prst="rect">
            <a:avLst/>
          </a:prstGeom>
          <a:noFill/>
          <a:ln/>
        </p:spPr>
        <p:txBody>
          <a:bodyPr wrap="square" lIns="0" tIns="0" rIns="0" bIns="0" rtlCol="0" anchor="t"/>
          <a:lstStyle/>
          <a:p>
            <a:pPr indent="0" marL="0">
              <a:lnSpc>
                <a:spcPct val="90000"/>
              </a:lnSpc>
              <a:buNone/>
            </a:pPr>
            <a:r>
              <a:rPr lang="en-US" sz="5600" dirty="0">
                <a:solidFill>
                  <a:srgbClr val="FF3333"/>
                </a:solidFill>
                <a:latin typeface="Replica LL TT Heavy" pitchFamily="34" charset="0"/>
                <a:ea typeface="Replica LL TT Heavy" pitchFamily="34" charset="-122"/>
                <a:cs typeface="Replica LL TT Heavy" pitchFamily="34" charset="-120"/>
              </a:rPr>
              <a:t>12,2 mrd</a:t>
            </a:r>
            <a:endParaRPr lang="en-US" sz="5600" dirty="0"/>
          </a:p>
        </p:txBody>
      </p:sp>
      <p:sp>
        <p:nvSpPr>
          <p:cNvPr id="9" name="Text 7"/>
          <p:cNvSpPr/>
          <p:nvPr/>
        </p:nvSpPr>
        <p:spPr>
          <a:xfrm>
            <a:off x="8356397" y="4645152"/>
            <a:ext cx="3058058" cy="822960"/>
          </a:xfrm>
          <a:prstGeom prst="rect">
            <a:avLst/>
          </a:prstGeom>
          <a:noFill/>
          <a:ln/>
        </p:spPr>
        <p:txBody>
          <a:bodyPr wrap="square" lIns="0" tIns="0" rIns="0" bIns="0" rtlCol="0" anchor="t"/>
          <a:lstStyle/>
          <a:p>
            <a:pPr indent="0" marL="0">
              <a:lnSpc>
                <a:spcPct val="115000"/>
              </a:lnSpc>
              <a:buNone/>
            </a:pPr>
            <a:r>
              <a:rPr lang="en-US" sz="2200" b="1" dirty="0">
                <a:solidFill>
                  <a:srgbClr val="131415"/>
                </a:solidFill>
                <a:latin typeface="Replica LL TT" pitchFamily="34" charset="0"/>
                <a:ea typeface="Replica LL TT" pitchFamily="34" charset="-122"/>
                <a:cs typeface="Replica LL TT" pitchFamily="34" charset="-120"/>
              </a:rPr>
              <a:t>kroner i omsetning</a:t>
            </a:r>
            <a:endParaRPr lang="en-US" sz="2200" dirty="0"/>
          </a:p>
        </p:txBody>
      </p:sp>
      <p:pic>
        <p:nvPicPr>
          <p:cNvPr id="10" name="Image 0" descr="C:\Code\Work\startuplab-partner-presentation\brand-profile\logo\png\SL_signature_red.png">    </p:cNvPr>
          <p:cNvPicPr>
            <a:picLocks noChangeAspect="1"/>
          </p:cNvPicPr>
          <p:nvPr/>
        </p:nvPicPr>
        <p:blipFill>
          <a:blip r:embed="rId1"/>
          <a:stretch>
            <a:fillRect/>
          </a:stretch>
        </p:blipFill>
        <p:spPr>
          <a:xfrm>
            <a:off x="777240" y="6035040"/>
            <a:ext cx="731056" cy="384048"/>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C:\Code\Work\startuplab-partner-presentation\pptx-templates\media\fullbleed.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50505">
              <a:alpha val="62000"/>
            </a:srgbClr>
          </a:solidFill>
          <a:ln/>
        </p:spPr>
      </p:sp>
      <p:sp>
        <p:nvSpPr>
          <p:cNvPr id="4" name="Text 1"/>
          <p:cNvSpPr/>
          <p:nvPr/>
        </p:nvSpPr>
        <p:spPr>
          <a:xfrm>
            <a:off x="777240" y="3931920"/>
            <a:ext cx="8229600" cy="292608"/>
          </a:xfrm>
          <a:prstGeom prst="rect">
            <a:avLst/>
          </a:prstGeom>
          <a:noFill/>
          <a:ln/>
        </p:spPr>
        <p:txBody>
          <a:bodyPr wrap="square" lIns="0" tIns="0" rIns="0" bIns="0" rtlCol="0" anchor="ctr"/>
          <a:lstStyle/>
          <a:p>
            <a:pPr indent="0" marL="0">
              <a:buNone/>
            </a:pPr>
            <a:r>
              <a:rPr lang="en-US" sz="1500" b="1" spc="250" kern="0" dirty="0">
                <a:solidFill>
                  <a:srgbClr val="FF3333"/>
                </a:solidFill>
                <a:latin typeface="Inter" pitchFamily="34" charset="0"/>
                <a:ea typeface="Inter" pitchFamily="34" charset="-122"/>
                <a:cs typeface="Inter" pitchFamily="34" charset="-120"/>
              </a:rPr>
              <a:t>STARTUPLAB SUMMIT</a:t>
            </a:r>
            <a:endParaRPr lang="en-US" sz="1500" dirty="0"/>
          </a:p>
        </p:txBody>
      </p:sp>
      <p:sp>
        <p:nvSpPr>
          <p:cNvPr id="5" name="Text 2"/>
          <p:cNvSpPr/>
          <p:nvPr/>
        </p:nvSpPr>
        <p:spPr>
          <a:xfrm>
            <a:off x="777240" y="4325112"/>
            <a:ext cx="8961120" cy="137160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Replica LL TT" pitchFamily="34" charset="0"/>
                <a:ea typeface="Replica LL TT" pitchFamily="34" charset="-122"/>
                <a:cs typeface="Replica LL TT" pitchFamily="34" charset="-120"/>
              </a:rPr>
              <a:t>Der partnere og gründere</a:t>
            </a:r>
            <a:endParaRPr lang="en-US" sz="4000" dirty="0"/>
          </a:p>
          <a:p>
            <a:pPr indent="0" marL="0">
              <a:lnSpc>
                <a:spcPct val="100000"/>
              </a:lnSpc>
              <a:buNone/>
            </a:pPr>
            <a:r>
              <a:rPr lang="en-US" sz="4000" b="1" dirty="0">
                <a:solidFill>
                  <a:srgbClr val="FFFFFF"/>
                </a:solidFill>
                <a:latin typeface="Replica LL TT" pitchFamily="34" charset="0"/>
                <a:ea typeface="Replica LL TT" pitchFamily="34" charset="-122"/>
                <a:cs typeface="Replica LL TT" pitchFamily="34" charset="-120"/>
              </a:rPr>
              <a:t>faktisk møtes</a:t>
            </a:r>
            <a:endParaRPr lang="en-US" sz="4000" dirty="0"/>
          </a:p>
        </p:txBody>
      </p:sp>
      <p:pic>
        <p:nvPicPr>
          <p:cNvPr id="6" name="Image 1" descr="C:\Code\Work\startuplab-partner-presentation\brand-profile\logo\png\SL_signature_white.png">    </p:cNvPr>
          <p:cNvPicPr>
            <a:picLocks noChangeAspect="1"/>
          </p:cNvPicPr>
          <p:nvPr/>
        </p:nvPicPr>
        <p:blipFill>
          <a:blip r:embed="rId2"/>
          <a:stretch>
            <a:fillRect/>
          </a:stretch>
        </p:blipFill>
        <p:spPr>
          <a:xfrm>
            <a:off x="777240" y="6035040"/>
            <a:ext cx="731056" cy="38404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C:\Code\Work\startuplab-partner-presentation\pptx-templates\media\split.jpg">    </p:cNvPr>
          <p:cNvPicPr>
            <a:picLocks noChangeAspect="1"/>
          </p:cNvPicPr>
          <p:nvPr/>
        </p:nvPicPr>
        <p:blipFill>
          <a:blip r:embed="rId1"/>
          <a:srcRect l="0" r="0" t="0" b="0"/>
          <a:stretch/>
        </p:blipFill>
        <p:spPr>
          <a:xfrm>
            <a:off x="6355080" y="0"/>
            <a:ext cx="5836615" cy="6858000"/>
          </a:xfrm>
          <a:prstGeom prst="rect">
            <a:avLst/>
          </a:prstGeom>
        </p:spPr>
      </p:pic>
      <p:sp>
        <p:nvSpPr>
          <p:cNvPr id="3" name="Text 0"/>
          <p:cNvSpPr/>
          <p:nvPr/>
        </p:nvSpPr>
        <p:spPr>
          <a:xfrm>
            <a:off x="777240" y="1783080"/>
            <a:ext cx="4846320" cy="292608"/>
          </a:xfrm>
          <a:prstGeom prst="rect">
            <a:avLst/>
          </a:prstGeom>
          <a:noFill/>
          <a:ln/>
        </p:spPr>
        <p:txBody>
          <a:bodyPr wrap="square" lIns="0" tIns="0" rIns="0" bIns="0" rtlCol="0" anchor="ctr"/>
          <a:lstStyle/>
          <a:p>
            <a:pPr indent="0" marL="0">
              <a:buNone/>
            </a:pPr>
            <a:r>
              <a:rPr lang="en-US" sz="1500" b="1" spc="250" kern="0" dirty="0">
                <a:solidFill>
                  <a:srgbClr val="FF3333"/>
                </a:solidFill>
                <a:latin typeface="Inter" pitchFamily="34" charset="0"/>
                <a:ea typeface="Inter" pitchFamily="34" charset="-122"/>
                <a:cs typeface="Inter" pitchFamily="34" charset="-120"/>
              </a:rPr>
              <a:t>SLIK JOBBER VI</a:t>
            </a:r>
            <a:endParaRPr lang="en-US" sz="1500" dirty="0"/>
          </a:p>
        </p:txBody>
      </p:sp>
      <p:sp>
        <p:nvSpPr>
          <p:cNvPr id="4" name="Text 1"/>
          <p:cNvSpPr/>
          <p:nvPr/>
        </p:nvSpPr>
        <p:spPr>
          <a:xfrm>
            <a:off x="777240" y="2176272"/>
            <a:ext cx="4937760" cy="1371600"/>
          </a:xfrm>
          <a:prstGeom prst="rect">
            <a:avLst/>
          </a:prstGeom>
          <a:noFill/>
          <a:ln/>
        </p:spPr>
        <p:txBody>
          <a:bodyPr wrap="square" lIns="0" tIns="0" rIns="0" bIns="0" rtlCol="0" anchor="t"/>
          <a:lstStyle/>
          <a:p>
            <a:pPr indent="0" marL="0">
              <a:lnSpc>
                <a:spcPct val="102000"/>
              </a:lnSpc>
              <a:buNone/>
            </a:pPr>
            <a:r>
              <a:rPr lang="en-US" sz="3400" b="1" dirty="0">
                <a:solidFill>
                  <a:srgbClr val="131415"/>
                </a:solidFill>
                <a:latin typeface="Replica LL TT" pitchFamily="34" charset="0"/>
                <a:ea typeface="Replica LL TT" pitchFamily="34" charset="-122"/>
                <a:cs typeface="Replica LL TT" pitchFamily="34" charset="-120"/>
              </a:rPr>
              <a:t>Fra første møte</a:t>
            </a:r>
            <a:endParaRPr lang="en-US" sz="3400" dirty="0"/>
          </a:p>
          <a:p>
            <a:pPr indent="0" marL="0">
              <a:lnSpc>
                <a:spcPct val="102000"/>
              </a:lnSpc>
              <a:buNone/>
            </a:pPr>
            <a:r>
              <a:rPr lang="en-US" sz="3400" b="1" dirty="0">
                <a:solidFill>
                  <a:srgbClr val="131415"/>
                </a:solidFill>
                <a:latin typeface="Replica LL TT" pitchFamily="34" charset="0"/>
                <a:ea typeface="Replica LL TT" pitchFamily="34" charset="-122"/>
                <a:cs typeface="Replica LL TT" pitchFamily="34" charset="-120"/>
              </a:rPr>
              <a:t>til signert </a:t>
            </a:r>
            <a:pPr indent="0" marL="0">
              <a:lnSpc>
                <a:spcPct val="102000"/>
              </a:lnSpc>
              <a:buNone/>
            </a:pPr>
            <a:r>
              <a:rPr lang="en-US" sz="3400" b="1" dirty="0">
                <a:solidFill>
                  <a:srgbClr val="FF3333"/>
                </a:solidFill>
                <a:latin typeface="Replica LL TT" pitchFamily="34" charset="0"/>
                <a:ea typeface="Replica LL TT" pitchFamily="34" charset="-122"/>
                <a:cs typeface="Replica LL TT" pitchFamily="34" charset="-120"/>
              </a:rPr>
              <a:t>pilot</a:t>
            </a:r>
            <a:endParaRPr lang="en-US" sz="3400" dirty="0"/>
          </a:p>
        </p:txBody>
      </p:sp>
      <p:sp>
        <p:nvSpPr>
          <p:cNvPr id="5" name="Text 2"/>
          <p:cNvSpPr/>
          <p:nvPr/>
        </p:nvSpPr>
        <p:spPr>
          <a:xfrm>
            <a:off x="777240" y="3794760"/>
            <a:ext cx="4800600" cy="1645920"/>
          </a:xfrm>
          <a:prstGeom prst="rect">
            <a:avLst/>
          </a:prstGeom>
          <a:noFill/>
          <a:ln/>
        </p:spPr>
        <p:txBody>
          <a:bodyPr wrap="square" lIns="0" tIns="0" rIns="0" bIns="0" rtlCol="0" anchor="t"/>
          <a:lstStyle/>
          <a:p>
            <a:pPr indent="0" marL="0">
              <a:lnSpc>
                <a:spcPct val="140000"/>
              </a:lnSpc>
              <a:buNone/>
            </a:pPr>
            <a:r>
              <a:rPr lang="en-US" sz="2000" dirty="0">
                <a:solidFill>
                  <a:srgbClr val="131415"/>
                </a:solidFill>
                <a:latin typeface="Inter" pitchFamily="34" charset="0"/>
                <a:ea typeface="Inter" pitchFamily="34" charset="-122"/>
                <a:cs typeface="Inter" pitchFamily="34" charset="-120"/>
              </a:rPr>
              <a:t>Vi matcher partnerens konkrete utfordring mot selskaper vi allerede kjenner, og følger prosessen hele veien til en avtale som står på egne bein.</a:t>
            </a:r>
            <a:endParaRPr lang="en-US" sz="2000" dirty="0"/>
          </a:p>
        </p:txBody>
      </p:sp>
      <p:pic>
        <p:nvPicPr>
          <p:cNvPr id="6" name="Image 1" descr="C:\Code\Work\startuplab-partner-presentation\brand-profile\logo\png\SL_signature_red.png">    </p:cNvPr>
          <p:cNvPicPr>
            <a:picLocks noChangeAspect="1"/>
          </p:cNvPicPr>
          <p:nvPr/>
        </p:nvPicPr>
        <p:blipFill>
          <a:blip r:embed="rId2"/>
          <a:stretch>
            <a:fillRect/>
          </a:stretch>
        </p:blipFill>
        <p:spPr>
          <a:xfrm>
            <a:off x="777240" y="6035040"/>
            <a:ext cx="731056" cy="384048"/>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31415"/>
        </a:solidFill>
      </p:bgPr>
    </p:bg>
    <p:spTree>
      <p:nvGrpSpPr>
        <p:cNvPr id="1" name=""/>
        <p:cNvGrpSpPr/>
        <p:nvPr/>
      </p:nvGrpSpPr>
      <p:grpSpPr>
        <a:xfrm>
          <a:off x="0" y="0"/>
          <a:ext cx="0" cy="0"/>
          <a:chOff x="0" y="0"/>
          <a:chExt cx="0" cy="0"/>
        </a:xfrm>
      </p:grpSpPr>
      <p:sp>
        <p:nvSpPr>
          <p:cNvPr id="2" name="Text 0"/>
          <p:cNvSpPr/>
          <p:nvPr/>
        </p:nvSpPr>
        <p:spPr>
          <a:xfrm>
            <a:off x="777240" y="713232"/>
            <a:ext cx="8229600" cy="292608"/>
          </a:xfrm>
          <a:prstGeom prst="rect">
            <a:avLst/>
          </a:prstGeom>
          <a:noFill/>
          <a:ln/>
        </p:spPr>
        <p:txBody>
          <a:bodyPr wrap="square" lIns="0" tIns="0" rIns="0" bIns="0" rtlCol="0" anchor="ctr"/>
          <a:lstStyle/>
          <a:p>
            <a:pPr indent="0" marL="0">
              <a:buNone/>
            </a:pPr>
            <a:r>
              <a:rPr lang="en-US" sz="1500" b="1" spc="250" kern="0" dirty="0">
                <a:solidFill>
                  <a:srgbClr val="FF3333"/>
                </a:solidFill>
                <a:latin typeface="Inter" pitchFamily="34" charset="0"/>
                <a:ea typeface="Inter" pitchFamily="34" charset="-122"/>
                <a:cs typeface="Inter" pitchFamily="34" charset="-120"/>
              </a:rPr>
              <a:t>INDUSTRIPROGRAMMER</a:t>
            </a:r>
            <a:endParaRPr lang="en-US" sz="1500" dirty="0"/>
          </a:p>
        </p:txBody>
      </p:sp>
      <p:sp>
        <p:nvSpPr>
          <p:cNvPr id="3" name="Text 1"/>
          <p:cNvSpPr/>
          <p:nvPr/>
        </p:nvSpPr>
        <p:spPr>
          <a:xfrm>
            <a:off x="777240" y="1051560"/>
            <a:ext cx="10424160" cy="77724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Replica LL TT" pitchFamily="34" charset="0"/>
                <a:ea typeface="Replica LL TT" pitchFamily="34" charset="-122"/>
                <a:cs typeface="Replica LL TT" pitchFamily="34" charset="-120"/>
              </a:rPr>
              <a:t>Fem sektorer, ett </a:t>
            </a:r>
            <a:pPr indent="0" marL="0">
              <a:lnSpc>
                <a:spcPct val="100000"/>
              </a:lnSpc>
              <a:buNone/>
            </a:pPr>
            <a:r>
              <a:rPr lang="en-US" sz="4000" b="1" dirty="0">
                <a:solidFill>
                  <a:srgbClr val="FF3333"/>
                </a:solidFill>
                <a:latin typeface="Replica LL TT" pitchFamily="34" charset="0"/>
                <a:ea typeface="Replica LL TT" pitchFamily="34" charset="-122"/>
                <a:cs typeface="Replica LL TT" pitchFamily="34" charset="-120"/>
              </a:rPr>
              <a:t>nettverk</a:t>
            </a:r>
            <a:endParaRPr lang="en-US" sz="4000" dirty="0"/>
          </a:p>
        </p:txBody>
      </p:sp>
      <p:pic>
        <p:nvPicPr>
          <p:cNvPr id="4" name="Image 0" descr="C:\Code\Work\startuplab-partner-presentation\pptx-templates\media\card-energy.jpg">    </p:cNvPr>
          <p:cNvPicPr>
            <a:picLocks noChangeAspect="1"/>
          </p:cNvPicPr>
          <p:nvPr/>
        </p:nvPicPr>
        <p:blipFill>
          <a:blip r:embed="rId1"/>
          <a:srcRect l="0" r="0" t="0" b="0"/>
          <a:stretch/>
        </p:blipFill>
        <p:spPr>
          <a:xfrm>
            <a:off x="777240" y="2240280"/>
            <a:ext cx="1922617" cy="3063240"/>
          </a:xfrm>
          <a:prstGeom prst="rect">
            <a:avLst/>
          </a:prstGeom>
        </p:spPr>
      </p:pic>
      <p:sp>
        <p:nvSpPr>
          <p:cNvPr id="5" name="Shape 2"/>
          <p:cNvSpPr/>
          <p:nvPr/>
        </p:nvSpPr>
        <p:spPr>
          <a:xfrm>
            <a:off x="777240" y="2240280"/>
            <a:ext cx="1922617" cy="3063240"/>
          </a:xfrm>
          <a:prstGeom prst="rect">
            <a:avLst/>
          </a:prstGeom>
          <a:solidFill>
            <a:srgbClr val="050505">
              <a:alpha val="45000"/>
            </a:srgbClr>
          </a:solidFill>
          <a:ln/>
        </p:spPr>
      </p:sp>
      <p:sp>
        <p:nvSpPr>
          <p:cNvPr id="6" name="Text 3"/>
          <p:cNvSpPr/>
          <p:nvPr/>
        </p:nvSpPr>
        <p:spPr>
          <a:xfrm>
            <a:off x="777240" y="5504688"/>
            <a:ext cx="1922617" cy="402336"/>
          </a:xfrm>
          <a:prstGeom prst="rect">
            <a:avLst/>
          </a:prstGeom>
          <a:noFill/>
          <a:ln/>
        </p:spPr>
        <p:txBody>
          <a:bodyPr wrap="square" lIns="0" tIns="0" rIns="0" bIns="0" rtlCol="0" anchor="ctr"/>
          <a:lstStyle/>
          <a:p>
            <a:pPr algn="ctr" indent="0" marL="0">
              <a:buNone/>
            </a:pPr>
            <a:r>
              <a:rPr lang="en-US" sz="1900" b="1" dirty="0">
                <a:solidFill>
                  <a:srgbClr val="FFFFFF"/>
                </a:solidFill>
                <a:latin typeface="Replica LL TT" pitchFamily="34" charset="0"/>
                <a:ea typeface="Replica LL TT" pitchFamily="34" charset="-122"/>
                <a:cs typeface="Replica LL TT" pitchFamily="34" charset="-120"/>
              </a:rPr>
              <a:t>Energy</a:t>
            </a:r>
            <a:endParaRPr lang="en-US" sz="1900" dirty="0"/>
          </a:p>
        </p:txBody>
      </p:sp>
      <p:pic>
        <p:nvPicPr>
          <p:cNvPr id="7" name="Image 1" descr="C:\Code\Work\startuplab-partner-presentation\pptx-templates\media\card-ocean.jpg">    </p:cNvPr>
          <p:cNvPicPr>
            <a:picLocks noChangeAspect="1"/>
          </p:cNvPicPr>
          <p:nvPr/>
        </p:nvPicPr>
        <p:blipFill>
          <a:blip r:embed="rId2"/>
          <a:srcRect l="0" r="0" t="0" b="0"/>
          <a:stretch/>
        </p:blipFill>
        <p:spPr>
          <a:xfrm>
            <a:off x="2955889" y="2240280"/>
            <a:ext cx="1922617" cy="3063240"/>
          </a:xfrm>
          <a:prstGeom prst="rect">
            <a:avLst/>
          </a:prstGeom>
        </p:spPr>
      </p:pic>
      <p:sp>
        <p:nvSpPr>
          <p:cNvPr id="8" name="Shape 4"/>
          <p:cNvSpPr/>
          <p:nvPr/>
        </p:nvSpPr>
        <p:spPr>
          <a:xfrm>
            <a:off x="2955889" y="2240280"/>
            <a:ext cx="1922617" cy="3063240"/>
          </a:xfrm>
          <a:prstGeom prst="rect">
            <a:avLst/>
          </a:prstGeom>
          <a:solidFill>
            <a:srgbClr val="050505">
              <a:alpha val="45000"/>
            </a:srgbClr>
          </a:solidFill>
          <a:ln/>
        </p:spPr>
      </p:sp>
      <p:sp>
        <p:nvSpPr>
          <p:cNvPr id="9" name="Text 5"/>
          <p:cNvSpPr/>
          <p:nvPr/>
        </p:nvSpPr>
        <p:spPr>
          <a:xfrm>
            <a:off x="2955889" y="5504688"/>
            <a:ext cx="1922617" cy="402336"/>
          </a:xfrm>
          <a:prstGeom prst="rect">
            <a:avLst/>
          </a:prstGeom>
          <a:noFill/>
          <a:ln/>
        </p:spPr>
        <p:txBody>
          <a:bodyPr wrap="square" lIns="0" tIns="0" rIns="0" bIns="0" rtlCol="0" anchor="ctr"/>
          <a:lstStyle/>
          <a:p>
            <a:pPr algn="ctr" indent="0" marL="0">
              <a:buNone/>
            </a:pPr>
            <a:r>
              <a:rPr lang="en-US" sz="1900" b="1" dirty="0">
                <a:solidFill>
                  <a:srgbClr val="FFFFFF"/>
                </a:solidFill>
                <a:latin typeface="Replica LL TT" pitchFamily="34" charset="0"/>
                <a:ea typeface="Replica LL TT" pitchFamily="34" charset="-122"/>
                <a:cs typeface="Replica LL TT" pitchFamily="34" charset="-120"/>
              </a:rPr>
              <a:t>Ocean</a:t>
            </a:r>
            <a:endParaRPr lang="en-US" sz="1900" dirty="0"/>
          </a:p>
        </p:txBody>
      </p:sp>
      <p:pic>
        <p:nvPicPr>
          <p:cNvPr id="10" name="Image 2" descr="C:\Code\Work\startuplab-partner-presentation\pptx-templates\media\card-hardware.jpg">    </p:cNvPr>
          <p:cNvPicPr>
            <a:picLocks noChangeAspect="1"/>
          </p:cNvPicPr>
          <p:nvPr/>
        </p:nvPicPr>
        <p:blipFill>
          <a:blip r:embed="rId3"/>
          <a:srcRect l="0" r="0" t="0" b="0"/>
          <a:stretch/>
        </p:blipFill>
        <p:spPr>
          <a:xfrm>
            <a:off x="5134539" y="2240280"/>
            <a:ext cx="1922617" cy="3063240"/>
          </a:xfrm>
          <a:prstGeom prst="rect">
            <a:avLst/>
          </a:prstGeom>
        </p:spPr>
      </p:pic>
      <p:sp>
        <p:nvSpPr>
          <p:cNvPr id="11" name="Shape 6"/>
          <p:cNvSpPr/>
          <p:nvPr/>
        </p:nvSpPr>
        <p:spPr>
          <a:xfrm>
            <a:off x="5134539" y="2240280"/>
            <a:ext cx="1922617" cy="3063240"/>
          </a:xfrm>
          <a:prstGeom prst="rect">
            <a:avLst/>
          </a:prstGeom>
          <a:solidFill>
            <a:srgbClr val="050505">
              <a:alpha val="45000"/>
            </a:srgbClr>
          </a:solidFill>
          <a:ln/>
        </p:spPr>
      </p:sp>
      <p:sp>
        <p:nvSpPr>
          <p:cNvPr id="12" name="Text 7"/>
          <p:cNvSpPr/>
          <p:nvPr/>
        </p:nvSpPr>
        <p:spPr>
          <a:xfrm>
            <a:off x="5134539" y="5504688"/>
            <a:ext cx="1922617" cy="402336"/>
          </a:xfrm>
          <a:prstGeom prst="rect">
            <a:avLst/>
          </a:prstGeom>
          <a:noFill/>
          <a:ln/>
        </p:spPr>
        <p:txBody>
          <a:bodyPr wrap="square" lIns="0" tIns="0" rIns="0" bIns="0" rtlCol="0" anchor="ctr"/>
          <a:lstStyle/>
          <a:p>
            <a:pPr algn="ctr" indent="0" marL="0">
              <a:buNone/>
            </a:pPr>
            <a:r>
              <a:rPr lang="en-US" sz="1900" b="1" dirty="0">
                <a:solidFill>
                  <a:srgbClr val="FFFFFF"/>
                </a:solidFill>
                <a:latin typeface="Replica LL TT" pitchFamily="34" charset="0"/>
                <a:ea typeface="Replica LL TT" pitchFamily="34" charset="-122"/>
                <a:cs typeface="Replica LL TT" pitchFamily="34" charset="-120"/>
              </a:rPr>
              <a:t>Hardware</a:t>
            </a:r>
            <a:endParaRPr lang="en-US" sz="1900" dirty="0"/>
          </a:p>
        </p:txBody>
      </p:sp>
      <p:pic>
        <p:nvPicPr>
          <p:cNvPr id="13" name="Image 3" descr="C:\Code\Work\startuplab-partner-presentation\pptx-templates\media\card-construction.jpg">    </p:cNvPr>
          <p:cNvPicPr>
            <a:picLocks noChangeAspect="1"/>
          </p:cNvPicPr>
          <p:nvPr/>
        </p:nvPicPr>
        <p:blipFill>
          <a:blip r:embed="rId4"/>
          <a:srcRect l="0" r="0" t="0" b="0"/>
          <a:stretch/>
        </p:blipFill>
        <p:spPr>
          <a:xfrm>
            <a:off x="7313188" y="2240280"/>
            <a:ext cx="1922617" cy="3063240"/>
          </a:xfrm>
          <a:prstGeom prst="rect">
            <a:avLst/>
          </a:prstGeom>
        </p:spPr>
      </p:pic>
      <p:sp>
        <p:nvSpPr>
          <p:cNvPr id="14" name="Shape 8"/>
          <p:cNvSpPr/>
          <p:nvPr/>
        </p:nvSpPr>
        <p:spPr>
          <a:xfrm>
            <a:off x="7313188" y="2240280"/>
            <a:ext cx="1922617" cy="3063240"/>
          </a:xfrm>
          <a:prstGeom prst="rect">
            <a:avLst/>
          </a:prstGeom>
          <a:solidFill>
            <a:srgbClr val="050505">
              <a:alpha val="45000"/>
            </a:srgbClr>
          </a:solidFill>
          <a:ln/>
        </p:spPr>
      </p:sp>
      <p:sp>
        <p:nvSpPr>
          <p:cNvPr id="15" name="Text 9"/>
          <p:cNvSpPr/>
          <p:nvPr/>
        </p:nvSpPr>
        <p:spPr>
          <a:xfrm>
            <a:off x="7313188" y="5504688"/>
            <a:ext cx="1922617" cy="402336"/>
          </a:xfrm>
          <a:prstGeom prst="rect">
            <a:avLst/>
          </a:prstGeom>
          <a:noFill/>
          <a:ln/>
        </p:spPr>
        <p:txBody>
          <a:bodyPr wrap="square" lIns="0" tIns="0" rIns="0" bIns="0" rtlCol="0" anchor="ctr"/>
          <a:lstStyle/>
          <a:p>
            <a:pPr algn="ctr" indent="0" marL="0">
              <a:buNone/>
            </a:pPr>
            <a:r>
              <a:rPr lang="en-US" sz="1900" b="1" dirty="0">
                <a:solidFill>
                  <a:srgbClr val="FFFFFF"/>
                </a:solidFill>
                <a:latin typeface="Replica LL TT" pitchFamily="34" charset="0"/>
                <a:ea typeface="Replica LL TT" pitchFamily="34" charset="-122"/>
                <a:cs typeface="Replica LL TT" pitchFamily="34" charset="-120"/>
              </a:rPr>
              <a:t>Construction</a:t>
            </a:r>
            <a:endParaRPr lang="en-US" sz="1900" dirty="0"/>
          </a:p>
        </p:txBody>
      </p:sp>
      <p:pic>
        <p:nvPicPr>
          <p:cNvPr id="16" name="Image 4" descr="C:\Code\Work\startuplab-partner-presentation\pptx-templates\media\card-defence.jpg">    </p:cNvPr>
          <p:cNvPicPr>
            <a:picLocks noChangeAspect="1"/>
          </p:cNvPicPr>
          <p:nvPr/>
        </p:nvPicPr>
        <p:blipFill>
          <a:blip r:embed="rId5"/>
          <a:srcRect l="0" r="0" t="0" b="0"/>
          <a:stretch/>
        </p:blipFill>
        <p:spPr>
          <a:xfrm>
            <a:off x="9491838" y="2240280"/>
            <a:ext cx="1922617" cy="3063240"/>
          </a:xfrm>
          <a:prstGeom prst="rect">
            <a:avLst/>
          </a:prstGeom>
        </p:spPr>
      </p:pic>
      <p:sp>
        <p:nvSpPr>
          <p:cNvPr id="17" name="Shape 10"/>
          <p:cNvSpPr/>
          <p:nvPr/>
        </p:nvSpPr>
        <p:spPr>
          <a:xfrm>
            <a:off x="9491838" y="2240280"/>
            <a:ext cx="1922617" cy="3063240"/>
          </a:xfrm>
          <a:prstGeom prst="rect">
            <a:avLst/>
          </a:prstGeom>
          <a:solidFill>
            <a:srgbClr val="050505">
              <a:alpha val="45000"/>
            </a:srgbClr>
          </a:solidFill>
          <a:ln/>
        </p:spPr>
      </p:sp>
      <p:sp>
        <p:nvSpPr>
          <p:cNvPr id="18" name="Text 11"/>
          <p:cNvSpPr/>
          <p:nvPr/>
        </p:nvSpPr>
        <p:spPr>
          <a:xfrm>
            <a:off x="9491838" y="5504688"/>
            <a:ext cx="1922617" cy="402336"/>
          </a:xfrm>
          <a:prstGeom prst="rect">
            <a:avLst/>
          </a:prstGeom>
          <a:noFill/>
          <a:ln/>
        </p:spPr>
        <p:txBody>
          <a:bodyPr wrap="square" lIns="0" tIns="0" rIns="0" bIns="0" rtlCol="0" anchor="ctr"/>
          <a:lstStyle/>
          <a:p>
            <a:pPr algn="ctr" indent="0" marL="0">
              <a:buNone/>
            </a:pPr>
            <a:r>
              <a:rPr lang="en-US" sz="1900" b="1" dirty="0">
                <a:solidFill>
                  <a:srgbClr val="FFFFFF"/>
                </a:solidFill>
                <a:latin typeface="Replica LL TT" pitchFamily="34" charset="0"/>
                <a:ea typeface="Replica LL TT" pitchFamily="34" charset="-122"/>
                <a:cs typeface="Replica LL TT" pitchFamily="34" charset="-120"/>
              </a:rPr>
              <a:t>Defence</a:t>
            </a:r>
            <a:endParaRPr lang="en-US" sz="1900" dirty="0"/>
          </a:p>
        </p:txBody>
      </p:sp>
      <p:pic>
        <p:nvPicPr>
          <p:cNvPr id="19" name="Image 5" descr="C:\Code\Work\startuplab-partner-presentation\brand-profile\logo\png\SL_signature_white.png">    </p:cNvPr>
          <p:cNvPicPr>
            <a:picLocks noChangeAspect="1"/>
          </p:cNvPicPr>
          <p:nvPr/>
        </p:nvPicPr>
        <p:blipFill>
          <a:blip r:embed="rId6"/>
          <a:stretch>
            <a:fillRect/>
          </a:stretch>
        </p:blipFill>
        <p:spPr>
          <a:xfrm>
            <a:off x="777240" y="6035040"/>
            <a:ext cx="731056" cy="384048"/>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713232"/>
            <a:ext cx="8229600" cy="292608"/>
          </a:xfrm>
          <a:prstGeom prst="rect">
            <a:avLst/>
          </a:prstGeom>
          <a:noFill/>
          <a:ln/>
        </p:spPr>
        <p:txBody>
          <a:bodyPr wrap="square" lIns="0" tIns="0" rIns="0" bIns="0" rtlCol="0" anchor="ctr"/>
          <a:lstStyle/>
          <a:p>
            <a:pPr indent="0" marL="0">
              <a:buNone/>
            </a:pPr>
            <a:r>
              <a:rPr lang="en-US" sz="1500" b="1" spc="250" kern="0" dirty="0">
                <a:solidFill>
                  <a:srgbClr val="FF3333"/>
                </a:solidFill>
                <a:latin typeface="Inter" pitchFamily="34" charset="0"/>
                <a:ea typeface="Inter" pitchFamily="34" charset="-122"/>
                <a:cs typeface="Inter" pitchFamily="34" charset="-120"/>
              </a:rPr>
              <a:t>HVA PARTNERSKAPET GIR</a:t>
            </a:r>
            <a:endParaRPr lang="en-US" sz="1500" dirty="0"/>
          </a:p>
        </p:txBody>
      </p:sp>
      <p:sp>
        <p:nvSpPr>
          <p:cNvPr id="3" name="Text 1"/>
          <p:cNvSpPr/>
          <p:nvPr/>
        </p:nvSpPr>
        <p:spPr>
          <a:xfrm>
            <a:off x="777240" y="1051560"/>
            <a:ext cx="10424160" cy="777240"/>
          </a:xfrm>
          <a:prstGeom prst="rect">
            <a:avLst/>
          </a:prstGeom>
          <a:noFill/>
          <a:ln/>
        </p:spPr>
        <p:txBody>
          <a:bodyPr wrap="square" lIns="0" tIns="0" rIns="0" bIns="0" rtlCol="0" anchor="t"/>
          <a:lstStyle/>
          <a:p>
            <a:pPr indent="0" marL="0">
              <a:lnSpc>
                <a:spcPct val="100000"/>
              </a:lnSpc>
              <a:buNone/>
            </a:pPr>
            <a:r>
              <a:rPr lang="en-US" sz="4000" b="1" dirty="0">
                <a:solidFill>
                  <a:srgbClr val="131415"/>
                </a:solidFill>
                <a:latin typeface="Replica LL TT" pitchFamily="34" charset="0"/>
                <a:ea typeface="Replica LL TT" pitchFamily="34" charset="-122"/>
                <a:cs typeface="Replica LL TT" pitchFamily="34" charset="-120"/>
              </a:rPr>
              <a:t>Seks konkrete </a:t>
            </a:r>
            <a:pPr indent="0" marL="0">
              <a:lnSpc>
                <a:spcPct val="100000"/>
              </a:lnSpc>
              <a:buNone/>
            </a:pPr>
            <a:r>
              <a:rPr lang="en-US" sz="4000" b="1" dirty="0">
                <a:solidFill>
                  <a:srgbClr val="FF3333"/>
                </a:solidFill>
                <a:latin typeface="Replica LL TT" pitchFamily="34" charset="0"/>
                <a:ea typeface="Replica LL TT" pitchFamily="34" charset="-122"/>
                <a:cs typeface="Replica LL TT" pitchFamily="34" charset="-120"/>
              </a:rPr>
              <a:t>leveranser</a:t>
            </a:r>
            <a:endParaRPr lang="en-US" sz="4000" dirty="0"/>
          </a:p>
        </p:txBody>
      </p:sp>
      <p:sp>
        <p:nvSpPr>
          <p:cNvPr id="4" name="Text 2"/>
          <p:cNvSpPr/>
          <p:nvPr/>
        </p:nvSpPr>
        <p:spPr>
          <a:xfrm>
            <a:off x="777240" y="2331720"/>
            <a:ext cx="3210458" cy="365760"/>
          </a:xfrm>
          <a:prstGeom prst="rect">
            <a:avLst/>
          </a:prstGeom>
          <a:noFill/>
          <a:ln/>
        </p:spPr>
        <p:txBody>
          <a:bodyPr wrap="square" lIns="0" tIns="0" rIns="0" bIns="0" rtlCol="0" anchor="ctr"/>
          <a:lstStyle/>
          <a:p>
            <a:pPr indent="0" marL="0">
              <a:buNone/>
            </a:pPr>
            <a:r>
              <a:rPr lang="en-US" sz="2200" dirty="0">
                <a:solidFill>
                  <a:srgbClr val="FF3333"/>
                </a:solidFill>
                <a:latin typeface="Replica LL TT Heavy" pitchFamily="34" charset="0"/>
                <a:ea typeface="Replica LL TT Heavy" pitchFamily="34" charset="-122"/>
                <a:cs typeface="Replica LL TT Heavy" pitchFamily="34" charset="-120"/>
              </a:rPr>
              <a:t>01</a:t>
            </a:r>
            <a:endParaRPr lang="en-US" sz="2200" dirty="0"/>
          </a:p>
        </p:txBody>
      </p:sp>
      <p:sp>
        <p:nvSpPr>
          <p:cNvPr id="5" name="Text 3"/>
          <p:cNvSpPr/>
          <p:nvPr/>
        </p:nvSpPr>
        <p:spPr>
          <a:xfrm>
            <a:off x="777240" y="2715768"/>
            <a:ext cx="3210458" cy="420624"/>
          </a:xfrm>
          <a:prstGeom prst="rect">
            <a:avLst/>
          </a:prstGeom>
          <a:noFill/>
          <a:ln/>
        </p:spPr>
        <p:txBody>
          <a:bodyPr wrap="square" lIns="0" tIns="0" rIns="0" bIns="0" rtlCol="0" anchor="ctr"/>
          <a:lstStyle/>
          <a:p>
            <a:pPr indent="0" marL="0">
              <a:buNone/>
            </a:pPr>
            <a:r>
              <a:rPr lang="en-US" sz="2300" b="1" dirty="0">
                <a:solidFill>
                  <a:srgbClr val="131415"/>
                </a:solidFill>
                <a:latin typeface="Replica LL TT" pitchFamily="34" charset="0"/>
                <a:ea typeface="Replica LL TT" pitchFamily="34" charset="-122"/>
                <a:cs typeface="Replica LL TT" pitchFamily="34" charset="-120"/>
              </a:rPr>
              <a:t>Matchmaking</a:t>
            </a:r>
            <a:endParaRPr lang="en-US" sz="2300" dirty="0"/>
          </a:p>
        </p:txBody>
      </p:sp>
      <p:sp>
        <p:nvSpPr>
          <p:cNvPr id="6" name="Text 4"/>
          <p:cNvSpPr/>
          <p:nvPr/>
        </p:nvSpPr>
        <p:spPr>
          <a:xfrm>
            <a:off x="777240" y="3154680"/>
            <a:ext cx="3210458" cy="777240"/>
          </a:xfrm>
          <a:prstGeom prst="rect">
            <a:avLst/>
          </a:prstGeom>
          <a:noFill/>
          <a:ln/>
        </p:spPr>
        <p:txBody>
          <a:bodyPr wrap="square" lIns="0" tIns="0" rIns="0" bIns="0" rtlCol="0" anchor="t"/>
          <a:lstStyle/>
          <a:p>
            <a:pPr indent="0" marL="0">
              <a:lnSpc>
                <a:spcPct val="130000"/>
              </a:lnSpc>
              <a:buNone/>
            </a:pPr>
            <a:r>
              <a:rPr lang="en-US" sz="1800" dirty="0">
                <a:solidFill>
                  <a:srgbClr val="9BA1A5"/>
                </a:solidFill>
                <a:latin typeface="Inter" pitchFamily="34" charset="0"/>
                <a:ea typeface="Inter" pitchFamily="34" charset="-122"/>
                <a:cs typeface="Inter" pitchFamily="34" charset="-120"/>
              </a:rPr>
              <a:t>Kuraterte møter med selskaper som treffer.</a:t>
            </a:r>
            <a:endParaRPr lang="en-US" sz="1800" dirty="0"/>
          </a:p>
        </p:txBody>
      </p:sp>
      <p:sp>
        <p:nvSpPr>
          <p:cNvPr id="7" name="Text 5"/>
          <p:cNvSpPr/>
          <p:nvPr/>
        </p:nvSpPr>
        <p:spPr>
          <a:xfrm>
            <a:off x="4490618" y="2331720"/>
            <a:ext cx="3210458" cy="365760"/>
          </a:xfrm>
          <a:prstGeom prst="rect">
            <a:avLst/>
          </a:prstGeom>
          <a:noFill/>
          <a:ln/>
        </p:spPr>
        <p:txBody>
          <a:bodyPr wrap="square" lIns="0" tIns="0" rIns="0" bIns="0" rtlCol="0" anchor="ctr"/>
          <a:lstStyle/>
          <a:p>
            <a:pPr indent="0" marL="0">
              <a:buNone/>
            </a:pPr>
            <a:r>
              <a:rPr lang="en-US" sz="2200" dirty="0">
                <a:solidFill>
                  <a:srgbClr val="FF3333"/>
                </a:solidFill>
                <a:latin typeface="Replica LL TT Heavy" pitchFamily="34" charset="0"/>
                <a:ea typeface="Replica LL TT Heavy" pitchFamily="34" charset="-122"/>
                <a:cs typeface="Replica LL TT Heavy" pitchFamily="34" charset="-120"/>
              </a:rPr>
              <a:t>02</a:t>
            </a:r>
            <a:endParaRPr lang="en-US" sz="2200" dirty="0"/>
          </a:p>
        </p:txBody>
      </p:sp>
      <p:sp>
        <p:nvSpPr>
          <p:cNvPr id="8" name="Text 6"/>
          <p:cNvSpPr/>
          <p:nvPr/>
        </p:nvSpPr>
        <p:spPr>
          <a:xfrm>
            <a:off x="4490618" y="2715768"/>
            <a:ext cx="3210458" cy="420624"/>
          </a:xfrm>
          <a:prstGeom prst="rect">
            <a:avLst/>
          </a:prstGeom>
          <a:noFill/>
          <a:ln/>
        </p:spPr>
        <p:txBody>
          <a:bodyPr wrap="square" lIns="0" tIns="0" rIns="0" bIns="0" rtlCol="0" anchor="ctr"/>
          <a:lstStyle/>
          <a:p>
            <a:pPr indent="0" marL="0">
              <a:buNone/>
            </a:pPr>
            <a:r>
              <a:rPr lang="en-US" sz="2300" b="1" dirty="0">
                <a:solidFill>
                  <a:srgbClr val="131415"/>
                </a:solidFill>
                <a:latin typeface="Replica LL TT" pitchFamily="34" charset="0"/>
                <a:ea typeface="Replica LL TT" pitchFamily="34" charset="-122"/>
                <a:cs typeface="Replica LL TT" pitchFamily="34" charset="-120"/>
              </a:rPr>
              <a:t>Pilotstøtte</a:t>
            </a:r>
            <a:endParaRPr lang="en-US" sz="2300" dirty="0"/>
          </a:p>
        </p:txBody>
      </p:sp>
      <p:sp>
        <p:nvSpPr>
          <p:cNvPr id="9" name="Text 7"/>
          <p:cNvSpPr/>
          <p:nvPr/>
        </p:nvSpPr>
        <p:spPr>
          <a:xfrm>
            <a:off x="4490618" y="3154680"/>
            <a:ext cx="3210458" cy="777240"/>
          </a:xfrm>
          <a:prstGeom prst="rect">
            <a:avLst/>
          </a:prstGeom>
          <a:noFill/>
          <a:ln/>
        </p:spPr>
        <p:txBody>
          <a:bodyPr wrap="square" lIns="0" tIns="0" rIns="0" bIns="0" rtlCol="0" anchor="t"/>
          <a:lstStyle/>
          <a:p>
            <a:pPr indent="0" marL="0">
              <a:lnSpc>
                <a:spcPct val="130000"/>
              </a:lnSpc>
              <a:buNone/>
            </a:pPr>
            <a:r>
              <a:rPr lang="en-US" sz="1800" dirty="0">
                <a:solidFill>
                  <a:srgbClr val="9BA1A5"/>
                </a:solidFill>
                <a:latin typeface="Inter" pitchFamily="34" charset="0"/>
                <a:ea typeface="Inter" pitchFamily="34" charset="-122"/>
                <a:cs typeface="Inter" pitchFamily="34" charset="-120"/>
              </a:rPr>
              <a:t>Vi rigger og følger opp piloten til evaluering.</a:t>
            </a:r>
            <a:endParaRPr lang="en-US" sz="1800" dirty="0"/>
          </a:p>
        </p:txBody>
      </p:sp>
      <p:sp>
        <p:nvSpPr>
          <p:cNvPr id="10" name="Text 8"/>
          <p:cNvSpPr/>
          <p:nvPr/>
        </p:nvSpPr>
        <p:spPr>
          <a:xfrm>
            <a:off x="8203997" y="2331720"/>
            <a:ext cx="3210458" cy="365760"/>
          </a:xfrm>
          <a:prstGeom prst="rect">
            <a:avLst/>
          </a:prstGeom>
          <a:noFill/>
          <a:ln/>
        </p:spPr>
        <p:txBody>
          <a:bodyPr wrap="square" lIns="0" tIns="0" rIns="0" bIns="0" rtlCol="0" anchor="ctr"/>
          <a:lstStyle/>
          <a:p>
            <a:pPr indent="0" marL="0">
              <a:buNone/>
            </a:pPr>
            <a:r>
              <a:rPr lang="en-US" sz="2200" dirty="0">
                <a:solidFill>
                  <a:srgbClr val="FF3333"/>
                </a:solidFill>
                <a:latin typeface="Replica LL TT Heavy" pitchFamily="34" charset="0"/>
                <a:ea typeface="Replica LL TT Heavy" pitchFamily="34" charset="-122"/>
                <a:cs typeface="Replica LL TT Heavy" pitchFamily="34" charset="-120"/>
              </a:rPr>
              <a:t>03</a:t>
            </a:r>
            <a:endParaRPr lang="en-US" sz="2200" dirty="0"/>
          </a:p>
        </p:txBody>
      </p:sp>
      <p:sp>
        <p:nvSpPr>
          <p:cNvPr id="11" name="Text 9"/>
          <p:cNvSpPr/>
          <p:nvPr/>
        </p:nvSpPr>
        <p:spPr>
          <a:xfrm>
            <a:off x="8203997" y="2715768"/>
            <a:ext cx="3210458" cy="420624"/>
          </a:xfrm>
          <a:prstGeom prst="rect">
            <a:avLst/>
          </a:prstGeom>
          <a:noFill/>
          <a:ln/>
        </p:spPr>
        <p:txBody>
          <a:bodyPr wrap="square" lIns="0" tIns="0" rIns="0" bIns="0" rtlCol="0" anchor="ctr"/>
          <a:lstStyle/>
          <a:p>
            <a:pPr indent="0" marL="0">
              <a:buNone/>
            </a:pPr>
            <a:r>
              <a:rPr lang="en-US" sz="2300" b="1" dirty="0">
                <a:solidFill>
                  <a:srgbClr val="131415"/>
                </a:solidFill>
                <a:latin typeface="Replica LL TT" pitchFamily="34" charset="0"/>
                <a:ea typeface="Replica LL TT" pitchFamily="34" charset="-122"/>
                <a:cs typeface="Replica LL TT" pitchFamily="34" charset="-120"/>
              </a:rPr>
              <a:t>Innsikt</a:t>
            </a:r>
            <a:endParaRPr lang="en-US" sz="2300" dirty="0"/>
          </a:p>
        </p:txBody>
      </p:sp>
      <p:sp>
        <p:nvSpPr>
          <p:cNvPr id="12" name="Text 10"/>
          <p:cNvSpPr/>
          <p:nvPr/>
        </p:nvSpPr>
        <p:spPr>
          <a:xfrm>
            <a:off x="8203997" y="3154680"/>
            <a:ext cx="3210458" cy="777240"/>
          </a:xfrm>
          <a:prstGeom prst="rect">
            <a:avLst/>
          </a:prstGeom>
          <a:noFill/>
          <a:ln/>
        </p:spPr>
        <p:txBody>
          <a:bodyPr wrap="square" lIns="0" tIns="0" rIns="0" bIns="0" rtlCol="0" anchor="t"/>
          <a:lstStyle/>
          <a:p>
            <a:pPr indent="0" marL="0">
              <a:lnSpc>
                <a:spcPct val="130000"/>
              </a:lnSpc>
              <a:buNone/>
            </a:pPr>
            <a:r>
              <a:rPr lang="en-US" sz="1800" dirty="0">
                <a:solidFill>
                  <a:srgbClr val="9BA1A5"/>
                </a:solidFill>
                <a:latin typeface="Inter" pitchFamily="34" charset="0"/>
                <a:ea typeface="Inter" pitchFamily="34" charset="-122"/>
                <a:cs typeface="Inter" pitchFamily="34" charset="-120"/>
              </a:rPr>
              <a:t>Kvartalsvise rapporter fra porteføljen.</a:t>
            </a:r>
            <a:endParaRPr lang="en-US" sz="1800" dirty="0"/>
          </a:p>
        </p:txBody>
      </p:sp>
      <p:sp>
        <p:nvSpPr>
          <p:cNvPr id="13" name="Text 11"/>
          <p:cNvSpPr/>
          <p:nvPr/>
        </p:nvSpPr>
        <p:spPr>
          <a:xfrm>
            <a:off x="777240" y="4069080"/>
            <a:ext cx="3210458" cy="365760"/>
          </a:xfrm>
          <a:prstGeom prst="rect">
            <a:avLst/>
          </a:prstGeom>
          <a:noFill/>
          <a:ln/>
        </p:spPr>
        <p:txBody>
          <a:bodyPr wrap="square" lIns="0" tIns="0" rIns="0" bIns="0" rtlCol="0" anchor="ctr"/>
          <a:lstStyle/>
          <a:p>
            <a:pPr indent="0" marL="0">
              <a:buNone/>
            </a:pPr>
            <a:r>
              <a:rPr lang="en-US" sz="2200" dirty="0">
                <a:solidFill>
                  <a:srgbClr val="FF3333"/>
                </a:solidFill>
                <a:latin typeface="Replica LL TT Heavy" pitchFamily="34" charset="0"/>
                <a:ea typeface="Replica LL TT Heavy" pitchFamily="34" charset="-122"/>
                <a:cs typeface="Replica LL TT Heavy" pitchFamily="34" charset="-120"/>
              </a:rPr>
              <a:t>04</a:t>
            </a:r>
            <a:endParaRPr lang="en-US" sz="2200" dirty="0"/>
          </a:p>
        </p:txBody>
      </p:sp>
      <p:sp>
        <p:nvSpPr>
          <p:cNvPr id="14" name="Text 12"/>
          <p:cNvSpPr/>
          <p:nvPr/>
        </p:nvSpPr>
        <p:spPr>
          <a:xfrm>
            <a:off x="777240" y="4453128"/>
            <a:ext cx="3210458" cy="420624"/>
          </a:xfrm>
          <a:prstGeom prst="rect">
            <a:avLst/>
          </a:prstGeom>
          <a:noFill/>
          <a:ln/>
        </p:spPr>
        <p:txBody>
          <a:bodyPr wrap="square" lIns="0" tIns="0" rIns="0" bIns="0" rtlCol="0" anchor="ctr"/>
          <a:lstStyle/>
          <a:p>
            <a:pPr indent="0" marL="0">
              <a:buNone/>
            </a:pPr>
            <a:r>
              <a:rPr lang="en-US" sz="2300" b="1" dirty="0">
                <a:solidFill>
                  <a:srgbClr val="131415"/>
                </a:solidFill>
                <a:latin typeface="Replica LL TT" pitchFamily="34" charset="0"/>
                <a:ea typeface="Replica LL TT" pitchFamily="34" charset="-122"/>
                <a:cs typeface="Replica LL TT" pitchFamily="34" charset="-120"/>
              </a:rPr>
              <a:t>Nettverk</a:t>
            </a:r>
            <a:endParaRPr lang="en-US" sz="2300" dirty="0"/>
          </a:p>
        </p:txBody>
      </p:sp>
      <p:sp>
        <p:nvSpPr>
          <p:cNvPr id="15" name="Text 13"/>
          <p:cNvSpPr/>
          <p:nvPr/>
        </p:nvSpPr>
        <p:spPr>
          <a:xfrm>
            <a:off x="777240" y="4892040"/>
            <a:ext cx="3210458" cy="777240"/>
          </a:xfrm>
          <a:prstGeom prst="rect">
            <a:avLst/>
          </a:prstGeom>
          <a:noFill/>
          <a:ln/>
        </p:spPr>
        <p:txBody>
          <a:bodyPr wrap="square" lIns="0" tIns="0" rIns="0" bIns="0" rtlCol="0" anchor="t"/>
          <a:lstStyle/>
          <a:p>
            <a:pPr indent="0" marL="0">
              <a:lnSpc>
                <a:spcPct val="130000"/>
              </a:lnSpc>
              <a:buNone/>
            </a:pPr>
            <a:r>
              <a:rPr lang="en-US" sz="1800" dirty="0">
                <a:solidFill>
                  <a:srgbClr val="9BA1A5"/>
                </a:solidFill>
                <a:latin typeface="Inter" pitchFamily="34" charset="0"/>
                <a:ea typeface="Inter" pitchFamily="34" charset="-122"/>
                <a:cs typeface="Inter" pitchFamily="34" charset="-120"/>
              </a:rPr>
              <a:t>Tilgang til 4 000+ gründere og fagmiljøer.</a:t>
            </a:r>
            <a:endParaRPr lang="en-US" sz="1800" dirty="0"/>
          </a:p>
        </p:txBody>
      </p:sp>
      <p:sp>
        <p:nvSpPr>
          <p:cNvPr id="16" name="Text 14"/>
          <p:cNvSpPr/>
          <p:nvPr/>
        </p:nvSpPr>
        <p:spPr>
          <a:xfrm>
            <a:off x="4490618" y="4069080"/>
            <a:ext cx="3210458" cy="365760"/>
          </a:xfrm>
          <a:prstGeom prst="rect">
            <a:avLst/>
          </a:prstGeom>
          <a:noFill/>
          <a:ln/>
        </p:spPr>
        <p:txBody>
          <a:bodyPr wrap="square" lIns="0" tIns="0" rIns="0" bIns="0" rtlCol="0" anchor="ctr"/>
          <a:lstStyle/>
          <a:p>
            <a:pPr indent="0" marL="0">
              <a:buNone/>
            </a:pPr>
            <a:r>
              <a:rPr lang="en-US" sz="2200" dirty="0">
                <a:solidFill>
                  <a:srgbClr val="FF3333"/>
                </a:solidFill>
                <a:latin typeface="Replica LL TT Heavy" pitchFamily="34" charset="0"/>
                <a:ea typeface="Replica LL TT Heavy" pitchFamily="34" charset="-122"/>
                <a:cs typeface="Replica LL TT Heavy" pitchFamily="34" charset="-120"/>
              </a:rPr>
              <a:t>05</a:t>
            </a:r>
            <a:endParaRPr lang="en-US" sz="2200" dirty="0"/>
          </a:p>
        </p:txBody>
      </p:sp>
      <p:sp>
        <p:nvSpPr>
          <p:cNvPr id="17" name="Text 15"/>
          <p:cNvSpPr/>
          <p:nvPr/>
        </p:nvSpPr>
        <p:spPr>
          <a:xfrm>
            <a:off x="4490618" y="4453128"/>
            <a:ext cx="3210458" cy="420624"/>
          </a:xfrm>
          <a:prstGeom prst="rect">
            <a:avLst/>
          </a:prstGeom>
          <a:noFill/>
          <a:ln/>
        </p:spPr>
        <p:txBody>
          <a:bodyPr wrap="square" lIns="0" tIns="0" rIns="0" bIns="0" rtlCol="0" anchor="ctr"/>
          <a:lstStyle/>
          <a:p>
            <a:pPr indent="0" marL="0">
              <a:buNone/>
            </a:pPr>
            <a:r>
              <a:rPr lang="en-US" sz="2300" b="1" dirty="0">
                <a:solidFill>
                  <a:srgbClr val="131415"/>
                </a:solidFill>
                <a:latin typeface="Replica LL TT" pitchFamily="34" charset="0"/>
                <a:ea typeface="Replica LL TT" pitchFamily="34" charset="-122"/>
                <a:cs typeface="Replica LL TT" pitchFamily="34" charset="-120"/>
              </a:rPr>
              <a:t>Synlighet</a:t>
            </a:r>
            <a:endParaRPr lang="en-US" sz="2300" dirty="0"/>
          </a:p>
        </p:txBody>
      </p:sp>
      <p:sp>
        <p:nvSpPr>
          <p:cNvPr id="18" name="Text 16"/>
          <p:cNvSpPr/>
          <p:nvPr/>
        </p:nvSpPr>
        <p:spPr>
          <a:xfrm>
            <a:off x="4490618" y="4892040"/>
            <a:ext cx="3210458" cy="777240"/>
          </a:xfrm>
          <a:prstGeom prst="rect">
            <a:avLst/>
          </a:prstGeom>
          <a:noFill/>
          <a:ln/>
        </p:spPr>
        <p:txBody>
          <a:bodyPr wrap="square" lIns="0" tIns="0" rIns="0" bIns="0" rtlCol="0" anchor="t"/>
          <a:lstStyle/>
          <a:p>
            <a:pPr indent="0" marL="0">
              <a:lnSpc>
                <a:spcPct val="130000"/>
              </a:lnSpc>
              <a:buNone/>
            </a:pPr>
            <a:r>
              <a:rPr lang="en-US" sz="1800" dirty="0">
                <a:solidFill>
                  <a:srgbClr val="9BA1A5"/>
                </a:solidFill>
                <a:latin typeface="Inter" pitchFamily="34" charset="0"/>
                <a:ea typeface="Inter" pitchFamily="34" charset="-122"/>
                <a:cs typeface="Inter" pitchFamily="34" charset="-120"/>
              </a:rPr>
              <a:t>Profilering på våre arrangementer og kanaler.</a:t>
            </a:r>
            <a:endParaRPr lang="en-US" sz="1800" dirty="0"/>
          </a:p>
        </p:txBody>
      </p:sp>
      <p:sp>
        <p:nvSpPr>
          <p:cNvPr id="19" name="Text 17"/>
          <p:cNvSpPr/>
          <p:nvPr/>
        </p:nvSpPr>
        <p:spPr>
          <a:xfrm>
            <a:off x="8203997" y="4069080"/>
            <a:ext cx="3210458" cy="365760"/>
          </a:xfrm>
          <a:prstGeom prst="rect">
            <a:avLst/>
          </a:prstGeom>
          <a:noFill/>
          <a:ln/>
        </p:spPr>
        <p:txBody>
          <a:bodyPr wrap="square" lIns="0" tIns="0" rIns="0" bIns="0" rtlCol="0" anchor="ctr"/>
          <a:lstStyle/>
          <a:p>
            <a:pPr indent="0" marL="0">
              <a:buNone/>
            </a:pPr>
            <a:r>
              <a:rPr lang="en-US" sz="2200" dirty="0">
                <a:solidFill>
                  <a:srgbClr val="FF3333"/>
                </a:solidFill>
                <a:latin typeface="Replica LL TT Heavy" pitchFamily="34" charset="0"/>
                <a:ea typeface="Replica LL TT Heavy" pitchFamily="34" charset="-122"/>
                <a:cs typeface="Replica LL TT Heavy" pitchFamily="34" charset="-120"/>
              </a:rPr>
              <a:t>06</a:t>
            </a:r>
            <a:endParaRPr lang="en-US" sz="2200" dirty="0"/>
          </a:p>
        </p:txBody>
      </p:sp>
      <p:sp>
        <p:nvSpPr>
          <p:cNvPr id="20" name="Text 18"/>
          <p:cNvSpPr/>
          <p:nvPr/>
        </p:nvSpPr>
        <p:spPr>
          <a:xfrm>
            <a:off x="8203997" y="4453128"/>
            <a:ext cx="3210458" cy="420624"/>
          </a:xfrm>
          <a:prstGeom prst="rect">
            <a:avLst/>
          </a:prstGeom>
          <a:noFill/>
          <a:ln/>
        </p:spPr>
        <p:txBody>
          <a:bodyPr wrap="square" lIns="0" tIns="0" rIns="0" bIns="0" rtlCol="0" anchor="ctr"/>
          <a:lstStyle/>
          <a:p>
            <a:pPr indent="0" marL="0">
              <a:buNone/>
            </a:pPr>
            <a:r>
              <a:rPr lang="en-US" sz="2300" b="1" dirty="0">
                <a:solidFill>
                  <a:srgbClr val="131415"/>
                </a:solidFill>
                <a:latin typeface="Replica LL TT" pitchFamily="34" charset="0"/>
                <a:ea typeface="Replica LL TT" pitchFamily="34" charset="-122"/>
                <a:cs typeface="Replica LL TT" pitchFamily="34" charset="-120"/>
              </a:rPr>
              <a:t>Kompetanse</a:t>
            </a:r>
            <a:endParaRPr lang="en-US" sz="2300" dirty="0"/>
          </a:p>
        </p:txBody>
      </p:sp>
      <p:sp>
        <p:nvSpPr>
          <p:cNvPr id="21" name="Text 19"/>
          <p:cNvSpPr/>
          <p:nvPr/>
        </p:nvSpPr>
        <p:spPr>
          <a:xfrm>
            <a:off x="8203997" y="4892040"/>
            <a:ext cx="3210458" cy="777240"/>
          </a:xfrm>
          <a:prstGeom prst="rect">
            <a:avLst/>
          </a:prstGeom>
          <a:noFill/>
          <a:ln/>
        </p:spPr>
        <p:txBody>
          <a:bodyPr wrap="square" lIns="0" tIns="0" rIns="0" bIns="0" rtlCol="0" anchor="t"/>
          <a:lstStyle/>
          <a:p>
            <a:pPr indent="0" marL="0">
              <a:lnSpc>
                <a:spcPct val="130000"/>
              </a:lnSpc>
              <a:buNone/>
            </a:pPr>
            <a:r>
              <a:rPr lang="en-US" sz="1800" dirty="0">
                <a:solidFill>
                  <a:srgbClr val="9BA1A5"/>
                </a:solidFill>
                <a:latin typeface="Inter" pitchFamily="34" charset="0"/>
                <a:ea typeface="Inter" pitchFamily="34" charset="-122"/>
                <a:cs typeface="Inter" pitchFamily="34" charset="-120"/>
              </a:rPr>
              <a:t>Workshops og kurs for teamene deres.</a:t>
            </a:r>
            <a:endParaRPr lang="en-US" sz="1800" dirty="0"/>
          </a:p>
        </p:txBody>
      </p:sp>
      <p:pic>
        <p:nvPicPr>
          <p:cNvPr id="22" name="Image 0" descr="C:\Code\Work\startuplab-partner-presentation\brand-profile\logo\png\SL_signature_red.png">    </p:cNvPr>
          <p:cNvPicPr>
            <a:picLocks noChangeAspect="1"/>
          </p:cNvPicPr>
          <p:nvPr/>
        </p:nvPicPr>
        <p:blipFill>
          <a:blip r:embed="rId1"/>
          <a:stretch>
            <a:fillRect/>
          </a:stretch>
        </p:blipFill>
        <p:spPr>
          <a:xfrm>
            <a:off x="777240" y="6035040"/>
            <a:ext cx="731056" cy="38404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50505"/>
        </a:solidFill>
      </p:bgPr>
    </p:bg>
    <p:spTree>
      <p:nvGrpSpPr>
        <p:cNvPr id="1" name=""/>
        <p:cNvGrpSpPr/>
        <p:nvPr/>
      </p:nvGrpSpPr>
      <p:grpSpPr>
        <a:xfrm>
          <a:off x="0" y="0"/>
          <a:ext cx="0" cy="0"/>
          <a:chOff x="0" y="0"/>
          <a:chExt cx="0" cy="0"/>
        </a:xfrm>
      </p:grpSpPr>
      <p:sp>
        <p:nvSpPr>
          <p:cNvPr id="2" name="Text 0"/>
          <p:cNvSpPr/>
          <p:nvPr/>
        </p:nvSpPr>
        <p:spPr>
          <a:xfrm>
            <a:off x="777240" y="1965960"/>
            <a:ext cx="8229600" cy="292608"/>
          </a:xfrm>
          <a:prstGeom prst="rect">
            <a:avLst/>
          </a:prstGeom>
          <a:noFill/>
          <a:ln/>
        </p:spPr>
        <p:txBody>
          <a:bodyPr wrap="square" lIns="0" tIns="0" rIns="0" bIns="0" rtlCol="0" anchor="ctr"/>
          <a:lstStyle/>
          <a:p>
            <a:pPr indent="0" marL="0">
              <a:buNone/>
            </a:pPr>
            <a:r>
              <a:rPr lang="en-US" sz="1500" b="1" spc="250" kern="0" dirty="0">
                <a:solidFill>
                  <a:srgbClr val="FF3333"/>
                </a:solidFill>
                <a:latin typeface="Inter" pitchFamily="34" charset="0"/>
                <a:ea typeface="Inter" pitchFamily="34" charset="-122"/>
                <a:cs typeface="Inter" pitchFamily="34" charset="-120"/>
              </a:rPr>
              <a:t>VÅRT STANDPUNKT</a:t>
            </a:r>
            <a:endParaRPr lang="en-US" sz="1500" dirty="0"/>
          </a:p>
        </p:txBody>
      </p:sp>
      <p:sp>
        <p:nvSpPr>
          <p:cNvPr id="3" name="Text 1"/>
          <p:cNvSpPr/>
          <p:nvPr/>
        </p:nvSpPr>
        <p:spPr>
          <a:xfrm>
            <a:off x="777240" y="2377440"/>
            <a:ext cx="10424160" cy="2651760"/>
          </a:xfrm>
          <a:prstGeom prst="rect">
            <a:avLst/>
          </a:prstGeom>
          <a:noFill/>
          <a:ln/>
        </p:spPr>
        <p:txBody>
          <a:bodyPr wrap="square" lIns="0" tIns="0" rIns="0" bIns="0" rtlCol="0" anchor="t"/>
          <a:lstStyle/>
          <a:p>
            <a:pPr indent="0" marL="0">
              <a:lnSpc>
                <a:spcPct val="98000"/>
              </a:lnSpc>
              <a:buNone/>
            </a:pPr>
            <a:r>
              <a:rPr lang="en-US" sz="5200" dirty="0">
                <a:solidFill>
                  <a:srgbClr val="FFFFFF"/>
                </a:solidFill>
                <a:latin typeface="Replica LL TT Heavy" pitchFamily="34" charset="0"/>
                <a:ea typeface="Replica LL TT Heavy" pitchFamily="34" charset="-122"/>
                <a:cs typeface="Replica LL TT Heavy" pitchFamily="34" charset="-120"/>
              </a:rPr>
              <a:t>Vi bygger ikke</a:t>
            </a:r>
            <a:endParaRPr lang="en-US" sz="5200" dirty="0"/>
          </a:p>
          <a:p>
            <a:pPr indent="0" marL="0">
              <a:lnSpc>
                <a:spcPct val="98000"/>
              </a:lnSpc>
              <a:buNone/>
            </a:pPr>
            <a:r>
              <a:rPr lang="en-US" sz="5200" dirty="0">
                <a:solidFill>
                  <a:srgbClr val="FFFFFF"/>
                </a:solidFill>
                <a:latin typeface="Replica LL TT Heavy" pitchFamily="34" charset="0"/>
                <a:ea typeface="Replica LL TT Heavy" pitchFamily="34" charset="-122"/>
                <a:cs typeface="Replica LL TT Heavy" pitchFamily="34" charset="-120"/>
              </a:rPr>
              <a:t>pilotprosjekter.</a:t>
            </a:r>
            <a:endParaRPr lang="en-US" sz="5200" dirty="0"/>
          </a:p>
          <a:p>
            <a:pPr indent="0" marL="0">
              <a:lnSpc>
                <a:spcPct val="98000"/>
              </a:lnSpc>
              <a:buNone/>
            </a:pPr>
            <a:r>
              <a:rPr lang="en-US" sz="5200" dirty="0">
                <a:solidFill>
                  <a:srgbClr val="FFFFFF"/>
                </a:solidFill>
                <a:latin typeface="Replica LL TT Heavy" pitchFamily="34" charset="0"/>
                <a:ea typeface="Replica LL TT Heavy" pitchFamily="34" charset="-122"/>
                <a:cs typeface="Replica LL TT Heavy" pitchFamily="34" charset="-120"/>
              </a:rPr>
              <a:t>Vi bygger </a:t>
            </a:r>
            <a:pPr indent="0" marL="0">
              <a:lnSpc>
                <a:spcPct val="98000"/>
              </a:lnSpc>
              <a:buNone/>
            </a:pPr>
            <a:r>
              <a:rPr lang="en-US" sz="5200" dirty="0">
                <a:solidFill>
                  <a:srgbClr val="FF3333"/>
                </a:solidFill>
                <a:latin typeface="Replica LL TT Heavy" pitchFamily="34" charset="0"/>
                <a:ea typeface="Replica LL TT Heavy" pitchFamily="34" charset="-122"/>
                <a:cs typeface="Replica LL TT Heavy" pitchFamily="34" charset="-120"/>
              </a:rPr>
              <a:t>selskaper</a:t>
            </a:r>
            <a:pPr indent="0" marL="0">
              <a:lnSpc>
                <a:spcPct val="98000"/>
              </a:lnSpc>
              <a:buNone/>
            </a:pPr>
            <a:r>
              <a:rPr lang="en-US" sz="5200" dirty="0">
                <a:solidFill>
                  <a:srgbClr val="FFFFFF"/>
                </a:solidFill>
                <a:latin typeface="Replica LL TT Heavy" pitchFamily="34" charset="0"/>
                <a:ea typeface="Replica LL TT Heavy" pitchFamily="34" charset="-122"/>
                <a:cs typeface="Replica LL TT Heavy" pitchFamily="34" charset="-120"/>
              </a:rPr>
              <a:t>.</a:t>
            </a:r>
            <a:endParaRPr lang="en-US" sz="5200" dirty="0"/>
          </a:p>
        </p:txBody>
      </p:sp>
      <p:pic>
        <p:nvPicPr>
          <p:cNvPr id="4" name="Image 0" descr="C:\Code\Work\startuplab-partner-presentation\brand-profile\logo\png\SL_signature_white.png">    </p:cNvPr>
          <p:cNvPicPr>
            <a:picLocks noChangeAspect="1"/>
          </p:cNvPicPr>
          <p:nvPr/>
        </p:nvPicPr>
        <p:blipFill>
          <a:blip r:embed="rId1"/>
          <a:stretch>
            <a:fillRect/>
          </a:stretch>
        </p:blipFill>
        <p:spPr>
          <a:xfrm>
            <a:off x="777240" y="6035040"/>
            <a:ext cx="731056" cy="384048"/>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7"/>
        </a:solidFill>
      </p:bgPr>
    </p:bg>
    <p:spTree>
      <p:nvGrpSpPr>
        <p:cNvPr id="1" name=""/>
        <p:cNvGrpSpPr/>
        <p:nvPr/>
      </p:nvGrpSpPr>
      <p:grpSpPr>
        <a:xfrm>
          <a:off x="0" y="0"/>
          <a:ext cx="0" cy="0"/>
          <a:chOff x="0" y="0"/>
          <a:chExt cx="0" cy="0"/>
        </a:xfrm>
      </p:grpSpPr>
      <p:sp>
        <p:nvSpPr>
          <p:cNvPr id="2" name="Text 0"/>
          <p:cNvSpPr/>
          <p:nvPr/>
        </p:nvSpPr>
        <p:spPr>
          <a:xfrm>
            <a:off x="777240" y="1600200"/>
            <a:ext cx="7406640" cy="2194560"/>
          </a:xfrm>
          <a:prstGeom prst="rect">
            <a:avLst/>
          </a:prstGeom>
          <a:noFill/>
          <a:ln/>
        </p:spPr>
        <p:txBody>
          <a:bodyPr wrap="square" lIns="0" tIns="0" rIns="0" bIns="0" rtlCol="0" anchor="t"/>
          <a:lstStyle/>
          <a:p>
            <a:pPr indent="0" marL="0">
              <a:lnSpc>
                <a:spcPct val="115000"/>
              </a:lnSpc>
              <a:buNone/>
            </a:pPr>
            <a:r>
              <a:rPr lang="en-US" sz="3400" b="1" dirty="0">
                <a:solidFill>
                  <a:srgbClr val="131415"/>
                </a:solidFill>
                <a:latin typeface="Replica LL TT" pitchFamily="34" charset="0"/>
                <a:ea typeface="Replica LL TT" pitchFamily="34" charset="-122"/>
                <a:cs typeface="Replica LL TT" pitchFamily="34" charset="-120"/>
              </a:rPr>
              <a:t>«Startuplab er ikke bare et kontor. Det er et fellesskap som forstår hva det vil si å bygge fra null.»</a:t>
            </a:r>
            <a:endParaRPr lang="en-US" sz="3400" dirty="0"/>
          </a:p>
        </p:txBody>
      </p:sp>
      <p:sp>
        <p:nvSpPr>
          <p:cNvPr id="3" name="Text 1"/>
          <p:cNvSpPr/>
          <p:nvPr/>
        </p:nvSpPr>
        <p:spPr>
          <a:xfrm>
            <a:off x="777240" y="3977640"/>
            <a:ext cx="6400800" cy="402336"/>
          </a:xfrm>
          <a:prstGeom prst="rect">
            <a:avLst/>
          </a:prstGeom>
          <a:noFill/>
          <a:ln/>
        </p:spPr>
        <p:txBody>
          <a:bodyPr wrap="square" lIns="0" tIns="0" rIns="0" bIns="0" rtlCol="0" anchor="ctr"/>
          <a:lstStyle/>
          <a:p>
            <a:pPr indent="0" marL="0">
              <a:buNone/>
            </a:pPr>
            <a:r>
              <a:rPr lang="en-US" sz="2200" b="1" dirty="0">
                <a:solidFill>
                  <a:srgbClr val="131415"/>
                </a:solidFill>
                <a:latin typeface="Replica LL TT" pitchFamily="34" charset="0"/>
                <a:ea typeface="Replica LL TT" pitchFamily="34" charset="-122"/>
                <a:cs typeface="Replica LL TT" pitchFamily="34" charset="-120"/>
              </a:rPr>
              <a:t>Anniken Fjelberg</a:t>
            </a:r>
            <a:endParaRPr lang="en-US" sz="2200" dirty="0"/>
          </a:p>
        </p:txBody>
      </p:sp>
      <p:sp>
        <p:nvSpPr>
          <p:cNvPr id="4" name="Text 2"/>
          <p:cNvSpPr/>
          <p:nvPr/>
        </p:nvSpPr>
        <p:spPr>
          <a:xfrm>
            <a:off x="777240" y="4407408"/>
            <a:ext cx="6400800" cy="384048"/>
          </a:xfrm>
          <a:prstGeom prst="rect">
            <a:avLst/>
          </a:prstGeom>
          <a:noFill/>
          <a:ln/>
        </p:spPr>
        <p:txBody>
          <a:bodyPr wrap="square" lIns="0" tIns="0" rIns="0" bIns="0" rtlCol="0" anchor="ctr"/>
          <a:lstStyle/>
          <a:p>
            <a:pPr indent="0" marL="0">
              <a:buNone/>
            </a:pPr>
            <a:r>
              <a:rPr lang="en-US" sz="2000" dirty="0">
                <a:solidFill>
                  <a:srgbClr val="9BA1A5"/>
                </a:solidFill>
                <a:latin typeface="Inter" pitchFamily="34" charset="0"/>
                <a:ea typeface="Inter" pitchFamily="34" charset="-122"/>
                <a:cs typeface="Inter" pitchFamily="34" charset="-120"/>
              </a:rPr>
              <a:t>Partner, Startuplab</a:t>
            </a:r>
            <a:endParaRPr lang="en-US" sz="2000" dirty="0"/>
          </a:p>
        </p:txBody>
      </p:sp>
      <p:pic>
        <p:nvPicPr>
          <p:cNvPr id="5" name="Image 0" descr="C:\Code\Work\startuplab-partner-presentation\pptx-templates\media\portrait-2.jpg">    </p:cNvPr>
          <p:cNvPicPr>
            <a:picLocks noChangeAspect="1"/>
          </p:cNvPicPr>
          <p:nvPr/>
        </p:nvPicPr>
        <p:blipFill>
          <a:blip r:embed="rId1"/>
          <a:srcRect l="0" r="0" t="0" b="0"/>
          <a:stretch/>
        </p:blipFill>
        <p:spPr>
          <a:xfrm>
            <a:off x="8778240" y="1874520"/>
            <a:ext cx="2286000" cy="2286000"/>
          </a:xfrm>
          <a:prstGeom prst="ellipse">
            <a:avLst/>
          </a:prstGeom>
        </p:spPr>
      </p:pic>
      <p:pic>
        <p:nvPicPr>
          <p:cNvPr id="6" name="Image 1" descr="C:\Code\Work\startuplab-partner-presentation\brand-profile\logo\png\SL_signature_red.png">    </p:cNvPr>
          <p:cNvPicPr>
            <a:picLocks noChangeAspect="1"/>
          </p:cNvPicPr>
          <p:nvPr/>
        </p:nvPicPr>
        <p:blipFill>
          <a:blip r:embed="rId2"/>
          <a:stretch>
            <a:fillRect/>
          </a:stretch>
        </p:blipFill>
        <p:spPr>
          <a:xfrm>
            <a:off x="777240" y="6035040"/>
            <a:ext cx="731056" cy="384048"/>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713232"/>
            <a:ext cx="8229600" cy="292608"/>
          </a:xfrm>
          <a:prstGeom prst="rect">
            <a:avLst/>
          </a:prstGeom>
          <a:noFill/>
          <a:ln/>
        </p:spPr>
        <p:txBody>
          <a:bodyPr wrap="square" lIns="0" tIns="0" rIns="0" bIns="0" rtlCol="0" anchor="ctr"/>
          <a:lstStyle/>
          <a:p>
            <a:pPr indent="0" marL="0">
              <a:buNone/>
            </a:pPr>
            <a:r>
              <a:rPr lang="en-US" sz="1500" b="1" spc="250" kern="0" dirty="0">
                <a:solidFill>
                  <a:srgbClr val="FF3333"/>
                </a:solidFill>
                <a:latin typeface="Inter" pitchFamily="34" charset="0"/>
                <a:ea typeface="Inter" pitchFamily="34" charset="-122"/>
                <a:cs typeface="Inter" pitchFamily="34" charset="-120"/>
              </a:rPr>
              <a:t>SLIK GÅR VI FREM</a:t>
            </a:r>
            <a:endParaRPr lang="en-US" sz="1500" dirty="0"/>
          </a:p>
        </p:txBody>
      </p:sp>
      <p:sp>
        <p:nvSpPr>
          <p:cNvPr id="3" name="Text 1"/>
          <p:cNvSpPr/>
          <p:nvPr/>
        </p:nvSpPr>
        <p:spPr>
          <a:xfrm>
            <a:off x="777240" y="1051560"/>
            <a:ext cx="10424160" cy="777240"/>
          </a:xfrm>
          <a:prstGeom prst="rect">
            <a:avLst/>
          </a:prstGeom>
          <a:noFill/>
          <a:ln/>
        </p:spPr>
        <p:txBody>
          <a:bodyPr wrap="square" lIns="0" tIns="0" rIns="0" bIns="0" rtlCol="0" anchor="t"/>
          <a:lstStyle/>
          <a:p>
            <a:pPr indent="0" marL="0">
              <a:lnSpc>
                <a:spcPct val="100000"/>
              </a:lnSpc>
              <a:buNone/>
            </a:pPr>
            <a:r>
              <a:rPr lang="en-US" sz="4000" b="1" dirty="0">
                <a:solidFill>
                  <a:srgbClr val="131415"/>
                </a:solidFill>
                <a:latin typeface="Replica LL TT" pitchFamily="34" charset="0"/>
                <a:ea typeface="Replica LL TT" pitchFamily="34" charset="-122"/>
                <a:cs typeface="Replica LL TT" pitchFamily="34" charset="-120"/>
              </a:rPr>
              <a:t>Fire steg fra idé til pilot</a:t>
            </a:r>
            <a:endParaRPr lang="en-US" sz="4000" dirty="0"/>
          </a:p>
        </p:txBody>
      </p:sp>
      <p:sp>
        <p:nvSpPr>
          <p:cNvPr id="4" name="Text 2"/>
          <p:cNvSpPr/>
          <p:nvPr/>
        </p:nvSpPr>
        <p:spPr>
          <a:xfrm>
            <a:off x="777240" y="2423160"/>
            <a:ext cx="2247824" cy="914400"/>
          </a:xfrm>
          <a:prstGeom prst="rect">
            <a:avLst/>
          </a:prstGeom>
          <a:noFill/>
          <a:ln/>
        </p:spPr>
        <p:txBody>
          <a:bodyPr wrap="square" lIns="0" tIns="0" rIns="0" bIns="0" rtlCol="0" anchor="t"/>
          <a:lstStyle/>
          <a:p>
            <a:pPr indent="0" marL="0">
              <a:buNone/>
            </a:pPr>
            <a:r>
              <a:rPr lang="en-US" sz="5600" dirty="0">
                <a:solidFill>
                  <a:srgbClr val="FF3333"/>
                </a:solidFill>
                <a:latin typeface="Replica LL TT Heavy" pitchFamily="34" charset="0"/>
                <a:ea typeface="Replica LL TT Heavy" pitchFamily="34" charset="-122"/>
                <a:cs typeface="Replica LL TT Heavy" pitchFamily="34" charset="-120"/>
              </a:rPr>
              <a:t>01</a:t>
            </a:r>
            <a:endParaRPr lang="en-US" sz="5600" dirty="0"/>
          </a:p>
        </p:txBody>
      </p:sp>
      <p:sp>
        <p:nvSpPr>
          <p:cNvPr id="5" name="Text 3"/>
          <p:cNvSpPr/>
          <p:nvPr/>
        </p:nvSpPr>
        <p:spPr>
          <a:xfrm>
            <a:off x="777240" y="3355848"/>
            <a:ext cx="2247824" cy="457200"/>
          </a:xfrm>
          <a:prstGeom prst="rect">
            <a:avLst/>
          </a:prstGeom>
          <a:noFill/>
          <a:ln/>
        </p:spPr>
        <p:txBody>
          <a:bodyPr wrap="square" lIns="0" tIns="0" rIns="0" bIns="0" rtlCol="0" anchor="ctr"/>
          <a:lstStyle/>
          <a:p>
            <a:pPr indent="0" marL="0">
              <a:buNone/>
            </a:pPr>
            <a:r>
              <a:rPr lang="en-US" sz="2500" b="1" dirty="0">
                <a:solidFill>
                  <a:srgbClr val="131415"/>
                </a:solidFill>
                <a:latin typeface="Replica LL TT" pitchFamily="34" charset="0"/>
                <a:ea typeface="Replica LL TT" pitchFamily="34" charset="-122"/>
                <a:cs typeface="Replica LL TT" pitchFamily="34" charset="-120"/>
              </a:rPr>
              <a:t>Kartlegg</a:t>
            </a:r>
            <a:endParaRPr lang="en-US" sz="2500" dirty="0"/>
          </a:p>
        </p:txBody>
      </p:sp>
      <p:sp>
        <p:nvSpPr>
          <p:cNvPr id="6" name="Text 4"/>
          <p:cNvSpPr/>
          <p:nvPr/>
        </p:nvSpPr>
        <p:spPr>
          <a:xfrm>
            <a:off x="777240" y="3840480"/>
            <a:ext cx="2247824" cy="1005840"/>
          </a:xfrm>
          <a:prstGeom prst="rect">
            <a:avLst/>
          </a:prstGeom>
          <a:noFill/>
          <a:ln/>
        </p:spPr>
        <p:txBody>
          <a:bodyPr wrap="square" lIns="0" tIns="0" rIns="0" bIns="0" rtlCol="0" anchor="t"/>
          <a:lstStyle/>
          <a:p>
            <a:pPr indent="0" marL="0">
              <a:lnSpc>
                <a:spcPct val="130000"/>
              </a:lnSpc>
              <a:buNone/>
            </a:pPr>
            <a:r>
              <a:rPr lang="en-US" sz="1800" dirty="0">
                <a:solidFill>
                  <a:srgbClr val="9BA1A5"/>
                </a:solidFill>
                <a:latin typeface="Inter" pitchFamily="34" charset="0"/>
                <a:ea typeface="Inter" pitchFamily="34" charset="-122"/>
                <a:cs typeface="Inter" pitchFamily="34" charset="-120"/>
              </a:rPr>
              <a:t>Vi finner utfordringen som er verdt å løse.</a:t>
            </a:r>
            <a:endParaRPr lang="en-US" sz="1800" dirty="0"/>
          </a:p>
        </p:txBody>
      </p:sp>
      <p:sp>
        <p:nvSpPr>
          <p:cNvPr id="7" name="Text 5"/>
          <p:cNvSpPr/>
          <p:nvPr/>
        </p:nvSpPr>
        <p:spPr>
          <a:xfrm>
            <a:off x="3573704" y="2423160"/>
            <a:ext cx="2247824" cy="914400"/>
          </a:xfrm>
          <a:prstGeom prst="rect">
            <a:avLst/>
          </a:prstGeom>
          <a:noFill/>
          <a:ln/>
        </p:spPr>
        <p:txBody>
          <a:bodyPr wrap="square" lIns="0" tIns="0" rIns="0" bIns="0" rtlCol="0" anchor="t"/>
          <a:lstStyle/>
          <a:p>
            <a:pPr indent="0" marL="0">
              <a:buNone/>
            </a:pPr>
            <a:r>
              <a:rPr lang="en-US" sz="5600" dirty="0">
                <a:solidFill>
                  <a:srgbClr val="CBD1D5"/>
                </a:solidFill>
                <a:latin typeface="Replica LL TT Heavy" pitchFamily="34" charset="0"/>
                <a:ea typeface="Replica LL TT Heavy" pitchFamily="34" charset="-122"/>
                <a:cs typeface="Replica LL TT Heavy" pitchFamily="34" charset="-120"/>
              </a:rPr>
              <a:t>02</a:t>
            </a:r>
            <a:endParaRPr lang="en-US" sz="5600" dirty="0"/>
          </a:p>
        </p:txBody>
      </p:sp>
      <p:sp>
        <p:nvSpPr>
          <p:cNvPr id="8" name="Text 6"/>
          <p:cNvSpPr/>
          <p:nvPr/>
        </p:nvSpPr>
        <p:spPr>
          <a:xfrm>
            <a:off x="3573704" y="3355848"/>
            <a:ext cx="2247824" cy="457200"/>
          </a:xfrm>
          <a:prstGeom prst="rect">
            <a:avLst/>
          </a:prstGeom>
          <a:noFill/>
          <a:ln/>
        </p:spPr>
        <p:txBody>
          <a:bodyPr wrap="square" lIns="0" tIns="0" rIns="0" bIns="0" rtlCol="0" anchor="ctr"/>
          <a:lstStyle/>
          <a:p>
            <a:pPr indent="0" marL="0">
              <a:buNone/>
            </a:pPr>
            <a:r>
              <a:rPr lang="en-US" sz="2500" b="1" dirty="0">
                <a:solidFill>
                  <a:srgbClr val="131415"/>
                </a:solidFill>
                <a:latin typeface="Replica LL TT" pitchFamily="34" charset="0"/>
                <a:ea typeface="Replica LL TT" pitchFamily="34" charset="-122"/>
                <a:cs typeface="Replica LL TT" pitchFamily="34" charset="-120"/>
              </a:rPr>
              <a:t>Match</a:t>
            </a:r>
            <a:endParaRPr lang="en-US" sz="2500" dirty="0"/>
          </a:p>
        </p:txBody>
      </p:sp>
      <p:sp>
        <p:nvSpPr>
          <p:cNvPr id="9" name="Text 7"/>
          <p:cNvSpPr/>
          <p:nvPr/>
        </p:nvSpPr>
        <p:spPr>
          <a:xfrm>
            <a:off x="3573704" y="3840480"/>
            <a:ext cx="2247824" cy="1005840"/>
          </a:xfrm>
          <a:prstGeom prst="rect">
            <a:avLst/>
          </a:prstGeom>
          <a:noFill/>
          <a:ln/>
        </p:spPr>
        <p:txBody>
          <a:bodyPr wrap="square" lIns="0" tIns="0" rIns="0" bIns="0" rtlCol="0" anchor="t"/>
          <a:lstStyle/>
          <a:p>
            <a:pPr indent="0" marL="0">
              <a:lnSpc>
                <a:spcPct val="130000"/>
              </a:lnSpc>
              <a:buNone/>
            </a:pPr>
            <a:r>
              <a:rPr lang="en-US" sz="1800" dirty="0">
                <a:solidFill>
                  <a:srgbClr val="9BA1A5"/>
                </a:solidFill>
                <a:latin typeface="Inter" pitchFamily="34" charset="0"/>
                <a:ea typeface="Inter" pitchFamily="34" charset="-122"/>
                <a:cs typeface="Inter" pitchFamily="34" charset="-120"/>
              </a:rPr>
              <a:t>Vi henter inn selskapene som treffer den.</a:t>
            </a:r>
            <a:endParaRPr lang="en-US" sz="1800" dirty="0"/>
          </a:p>
        </p:txBody>
      </p:sp>
      <p:sp>
        <p:nvSpPr>
          <p:cNvPr id="10" name="Text 8"/>
          <p:cNvSpPr/>
          <p:nvPr/>
        </p:nvSpPr>
        <p:spPr>
          <a:xfrm>
            <a:off x="6370168" y="2423160"/>
            <a:ext cx="2247824" cy="914400"/>
          </a:xfrm>
          <a:prstGeom prst="rect">
            <a:avLst/>
          </a:prstGeom>
          <a:noFill/>
          <a:ln/>
        </p:spPr>
        <p:txBody>
          <a:bodyPr wrap="square" lIns="0" tIns="0" rIns="0" bIns="0" rtlCol="0" anchor="t"/>
          <a:lstStyle/>
          <a:p>
            <a:pPr indent="0" marL="0">
              <a:buNone/>
            </a:pPr>
            <a:r>
              <a:rPr lang="en-US" sz="5600" dirty="0">
                <a:solidFill>
                  <a:srgbClr val="CBD1D5"/>
                </a:solidFill>
                <a:latin typeface="Replica LL TT Heavy" pitchFamily="34" charset="0"/>
                <a:ea typeface="Replica LL TT Heavy" pitchFamily="34" charset="-122"/>
                <a:cs typeface="Replica LL TT Heavy" pitchFamily="34" charset="-120"/>
              </a:rPr>
              <a:t>03</a:t>
            </a:r>
            <a:endParaRPr lang="en-US" sz="5600" dirty="0"/>
          </a:p>
        </p:txBody>
      </p:sp>
      <p:sp>
        <p:nvSpPr>
          <p:cNvPr id="11" name="Text 9"/>
          <p:cNvSpPr/>
          <p:nvPr/>
        </p:nvSpPr>
        <p:spPr>
          <a:xfrm>
            <a:off x="6370168" y="3355848"/>
            <a:ext cx="2247824" cy="457200"/>
          </a:xfrm>
          <a:prstGeom prst="rect">
            <a:avLst/>
          </a:prstGeom>
          <a:noFill/>
          <a:ln/>
        </p:spPr>
        <p:txBody>
          <a:bodyPr wrap="square" lIns="0" tIns="0" rIns="0" bIns="0" rtlCol="0" anchor="ctr"/>
          <a:lstStyle/>
          <a:p>
            <a:pPr indent="0" marL="0">
              <a:buNone/>
            </a:pPr>
            <a:r>
              <a:rPr lang="en-US" sz="2500" b="1" dirty="0">
                <a:solidFill>
                  <a:srgbClr val="131415"/>
                </a:solidFill>
                <a:latin typeface="Replica LL TT" pitchFamily="34" charset="0"/>
                <a:ea typeface="Replica LL TT" pitchFamily="34" charset="-122"/>
                <a:cs typeface="Replica LL TT" pitchFamily="34" charset="-120"/>
              </a:rPr>
              <a:t>Pilot</a:t>
            </a:r>
            <a:endParaRPr lang="en-US" sz="2500" dirty="0"/>
          </a:p>
        </p:txBody>
      </p:sp>
      <p:sp>
        <p:nvSpPr>
          <p:cNvPr id="12" name="Text 10"/>
          <p:cNvSpPr/>
          <p:nvPr/>
        </p:nvSpPr>
        <p:spPr>
          <a:xfrm>
            <a:off x="6370168" y="3840480"/>
            <a:ext cx="2247824" cy="1005840"/>
          </a:xfrm>
          <a:prstGeom prst="rect">
            <a:avLst/>
          </a:prstGeom>
          <a:noFill/>
          <a:ln/>
        </p:spPr>
        <p:txBody>
          <a:bodyPr wrap="square" lIns="0" tIns="0" rIns="0" bIns="0" rtlCol="0" anchor="t"/>
          <a:lstStyle/>
          <a:p>
            <a:pPr indent="0" marL="0">
              <a:lnSpc>
                <a:spcPct val="130000"/>
              </a:lnSpc>
              <a:buNone/>
            </a:pPr>
            <a:r>
              <a:rPr lang="en-US" sz="1800" dirty="0">
                <a:solidFill>
                  <a:srgbClr val="9BA1A5"/>
                </a:solidFill>
                <a:latin typeface="Inter" pitchFamily="34" charset="0"/>
                <a:ea typeface="Inter" pitchFamily="34" charset="-122"/>
                <a:cs typeface="Inter" pitchFamily="34" charset="-120"/>
              </a:rPr>
              <a:t>Vi rigger et forsøk med tydelige kriterier.</a:t>
            </a:r>
            <a:endParaRPr lang="en-US" sz="1800" dirty="0"/>
          </a:p>
        </p:txBody>
      </p:sp>
      <p:sp>
        <p:nvSpPr>
          <p:cNvPr id="13" name="Text 11"/>
          <p:cNvSpPr/>
          <p:nvPr/>
        </p:nvSpPr>
        <p:spPr>
          <a:xfrm>
            <a:off x="9166631" y="2423160"/>
            <a:ext cx="2247824" cy="914400"/>
          </a:xfrm>
          <a:prstGeom prst="rect">
            <a:avLst/>
          </a:prstGeom>
          <a:noFill/>
          <a:ln/>
        </p:spPr>
        <p:txBody>
          <a:bodyPr wrap="square" lIns="0" tIns="0" rIns="0" bIns="0" rtlCol="0" anchor="t"/>
          <a:lstStyle/>
          <a:p>
            <a:pPr indent="0" marL="0">
              <a:buNone/>
            </a:pPr>
            <a:r>
              <a:rPr lang="en-US" sz="5600" dirty="0">
                <a:solidFill>
                  <a:srgbClr val="CBD1D5"/>
                </a:solidFill>
                <a:latin typeface="Replica LL TT Heavy" pitchFamily="34" charset="0"/>
                <a:ea typeface="Replica LL TT Heavy" pitchFamily="34" charset="-122"/>
                <a:cs typeface="Replica LL TT Heavy" pitchFamily="34" charset="-120"/>
              </a:rPr>
              <a:t>04</a:t>
            </a:r>
            <a:endParaRPr lang="en-US" sz="5600" dirty="0"/>
          </a:p>
        </p:txBody>
      </p:sp>
      <p:sp>
        <p:nvSpPr>
          <p:cNvPr id="14" name="Text 12"/>
          <p:cNvSpPr/>
          <p:nvPr/>
        </p:nvSpPr>
        <p:spPr>
          <a:xfrm>
            <a:off x="9166631" y="3355848"/>
            <a:ext cx="2247824" cy="457200"/>
          </a:xfrm>
          <a:prstGeom prst="rect">
            <a:avLst/>
          </a:prstGeom>
          <a:noFill/>
          <a:ln/>
        </p:spPr>
        <p:txBody>
          <a:bodyPr wrap="square" lIns="0" tIns="0" rIns="0" bIns="0" rtlCol="0" anchor="ctr"/>
          <a:lstStyle/>
          <a:p>
            <a:pPr indent="0" marL="0">
              <a:buNone/>
            </a:pPr>
            <a:r>
              <a:rPr lang="en-US" sz="2500" b="1" dirty="0">
                <a:solidFill>
                  <a:srgbClr val="131415"/>
                </a:solidFill>
                <a:latin typeface="Replica LL TT" pitchFamily="34" charset="0"/>
                <a:ea typeface="Replica LL TT" pitchFamily="34" charset="-122"/>
                <a:cs typeface="Replica LL TT" pitchFamily="34" charset="-120"/>
              </a:rPr>
              <a:t>Skaler</a:t>
            </a:r>
            <a:endParaRPr lang="en-US" sz="2500" dirty="0"/>
          </a:p>
        </p:txBody>
      </p:sp>
      <p:sp>
        <p:nvSpPr>
          <p:cNvPr id="15" name="Text 13"/>
          <p:cNvSpPr/>
          <p:nvPr/>
        </p:nvSpPr>
        <p:spPr>
          <a:xfrm>
            <a:off x="9166631" y="3840480"/>
            <a:ext cx="2247824" cy="1005840"/>
          </a:xfrm>
          <a:prstGeom prst="rect">
            <a:avLst/>
          </a:prstGeom>
          <a:noFill/>
          <a:ln/>
        </p:spPr>
        <p:txBody>
          <a:bodyPr wrap="square" lIns="0" tIns="0" rIns="0" bIns="0" rtlCol="0" anchor="t"/>
          <a:lstStyle/>
          <a:p>
            <a:pPr indent="0" marL="0">
              <a:lnSpc>
                <a:spcPct val="130000"/>
              </a:lnSpc>
              <a:buNone/>
            </a:pPr>
            <a:r>
              <a:rPr lang="en-US" sz="1800" dirty="0">
                <a:solidFill>
                  <a:srgbClr val="9BA1A5"/>
                </a:solidFill>
                <a:latin typeface="Inter" pitchFamily="34" charset="0"/>
                <a:ea typeface="Inter" pitchFamily="34" charset="-122"/>
                <a:cs typeface="Inter" pitchFamily="34" charset="-120"/>
              </a:rPr>
              <a:t>Det som virker, settes i drift.</a:t>
            </a:r>
            <a:endParaRPr lang="en-US" sz="1800" dirty="0"/>
          </a:p>
        </p:txBody>
      </p:sp>
      <p:pic>
        <p:nvPicPr>
          <p:cNvPr id="16" name="Image 0" descr="C:\Code\Work\startuplab-partner-presentation\brand-profile\logo\png\SL_signature_red.png">    </p:cNvPr>
          <p:cNvPicPr>
            <a:picLocks noChangeAspect="1"/>
          </p:cNvPicPr>
          <p:nvPr/>
        </p:nvPicPr>
        <p:blipFill>
          <a:blip r:embed="rId1"/>
          <a:stretch>
            <a:fillRect/>
          </a:stretch>
        </p:blipFill>
        <p:spPr>
          <a:xfrm>
            <a:off x="777240" y="6035040"/>
            <a:ext cx="731056" cy="38404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713232"/>
            <a:ext cx="8229600" cy="292608"/>
          </a:xfrm>
          <a:prstGeom prst="rect">
            <a:avLst/>
          </a:prstGeom>
          <a:noFill/>
          <a:ln/>
        </p:spPr>
        <p:txBody>
          <a:bodyPr wrap="square" lIns="0" tIns="0" rIns="0" bIns="0" rtlCol="0" anchor="ctr"/>
          <a:lstStyle/>
          <a:p>
            <a:pPr indent="0" marL="0">
              <a:buNone/>
            </a:pPr>
            <a:r>
              <a:rPr lang="en-US" sz="1500" b="1" spc="250" kern="0" dirty="0">
                <a:solidFill>
                  <a:srgbClr val="FF3333"/>
                </a:solidFill>
                <a:latin typeface="Inter" pitchFamily="34" charset="0"/>
                <a:ea typeface="Inter" pitchFamily="34" charset="-122"/>
                <a:cs typeface="Inter" pitchFamily="34" charset="-120"/>
              </a:rPr>
              <a:t>TEAMET</a:t>
            </a:r>
            <a:endParaRPr lang="en-US" sz="1500" dirty="0"/>
          </a:p>
        </p:txBody>
      </p:sp>
      <p:sp>
        <p:nvSpPr>
          <p:cNvPr id="3" name="Text 1"/>
          <p:cNvSpPr/>
          <p:nvPr/>
        </p:nvSpPr>
        <p:spPr>
          <a:xfrm>
            <a:off x="777240" y="1051560"/>
            <a:ext cx="10424160" cy="777240"/>
          </a:xfrm>
          <a:prstGeom prst="rect">
            <a:avLst/>
          </a:prstGeom>
          <a:noFill/>
          <a:ln/>
        </p:spPr>
        <p:txBody>
          <a:bodyPr wrap="square" lIns="0" tIns="0" rIns="0" bIns="0" rtlCol="0" anchor="t"/>
          <a:lstStyle/>
          <a:p>
            <a:pPr indent="0" marL="0">
              <a:lnSpc>
                <a:spcPct val="100000"/>
              </a:lnSpc>
              <a:buNone/>
            </a:pPr>
            <a:r>
              <a:rPr lang="en-US" sz="4000" b="1" dirty="0">
                <a:solidFill>
                  <a:srgbClr val="131415"/>
                </a:solidFill>
                <a:latin typeface="Replica LL TT" pitchFamily="34" charset="0"/>
                <a:ea typeface="Replica LL TT" pitchFamily="34" charset="-122"/>
                <a:cs typeface="Replica LL TT" pitchFamily="34" charset="-120"/>
              </a:rPr>
              <a:t>Folkene du kommer til å </a:t>
            </a:r>
            <a:pPr indent="0" marL="0">
              <a:lnSpc>
                <a:spcPct val="100000"/>
              </a:lnSpc>
              <a:buNone/>
            </a:pPr>
            <a:r>
              <a:rPr lang="en-US" sz="4000" b="1" dirty="0">
                <a:solidFill>
                  <a:srgbClr val="FF3333"/>
                </a:solidFill>
                <a:latin typeface="Replica LL TT" pitchFamily="34" charset="0"/>
                <a:ea typeface="Replica LL TT" pitchFamily="34" charset="-122"/>
                <a:cs typeface="Replica LL TT" pitchFamily="34" charset="-120"/>
              </a:rPr>
              <a:t>jobbe med</a:t>
            </a:r>
            <a:endParaRPr lang="en-US" sz="4000" dirty="0"/>
          </a:p>
        </p:txBody>
      </p:sp>
      <p:pic>
        <p:nvPicPr>
          <p:cNvPr id="4" name="Image 0" descr="C:\Code\Work\startuplab-partner-presentation\pptx-templates\media\portrait-1.jpg">    </p:cNvPr>
          <p:cNvPicPr>
            <a:picLocks noChangeAspect="1"/>
          </p:cNvPicPr>
          <p:nvPr/>
        </p:nvPicPr>
        <p:blipFill>
          <a:blip r:embed="rId1"/>
          <a:srcRect l="0" r="0" t="0" b="0"/>
          <a:stretch/>
        </p:blipFill>
        <p:spPr>
          <a:xfrm>
            <a:off x="655168" y="2377440"/>
            <a:ext cx="2240280" cy="2240280"/>
          </a:xfrm>
          <a:prstGeom prst="ellipse">
            <a:avLst/>
          </a:prstGeom>
        </p:spPr>
      </p:pic>
      <p:sp>
        <p:nvSpPr>
          <p:cNvPr id="5" name="Text 2"/>
          <p:cNvSpPr/>
          <p:nvPr/>
        </p:nvSpPr>
        <p:spPr>
          <a:xfrm>
            <a:off x="426568" y="4837176"/>
            <a:ext cx="2697480" cy="365760"/>
          </a:xfrm>
          <a:prstGeom prst="rect">
            <a:avLst/>
          </a:prstGeom>
          <a:noFill/>
          <a:ln/>
        </p:spPr>
        <p:txBody>
          <a:bodyPr wrap="square" lIns="0" tIns="0" rIns="0" bIns="0" rtlCol="0" anchor="ctr"/>
          <a:lstStyle/>
          <a:p>
            <a:pPr algn="ctr" indent="0" marL="0">
              <a:buNone/>
            </a:pPr>
            <a:r>
              <a:rPr lang="en-US" sz="2100" b="1" dirty="0">
                <a:solidFill>
                  <a:srgbClr val="131415"/>
                </a:solidFill>
                <a:latin typeface="Replica LL TT" pitchFamily="34" charset="0"/>
                <a:ea typeface="Replica LL TT" pitchFamily="34" charset="-122"/>
                <a:cs typeface="Replica LL TT" pitchFamily="34" charset="-120"/>
              </a:rPr>
              <a:t>Christina Wiig</a:t>
            </a:r>
            <a:endParaRPr lang="en-US" sz="2100" dirty="0"/>
          </a:p>
        </p:txBody>
      </p:sp>
      <p:sp>
        <p:nvSpPr>
          <p:cNvPr id="6" name="Text 3"/>
          <p:cNvSpPr/>
          <p:nvPr/>
        </p:nvSpPr>
        <p:spPr>
          <a:xfrm>
            <a:off x="426568" y="5202936"/>
            <a:ext cx="2697480" cy="347472"/>
          </a:xfrm>
          <a:prstGeom prst="rect">
            <a:avLst/>
          </a:prstGeom>
          <a:noFill/>
          <a:ln/>
        </p:spPr>
        <p:txBody>
          <a:bodyPr wrap="square" lIns="0" tIns="0" rIns="0" bIns="0" rtlCol="0" anchor="ctr"/>
          <a:lstStyle/>
          <a:p>
            <a:pPr algn="ctr" indent="0" marL="0">
              <a:buNone/>
            </a:pPr>
            <a:r>
              <a:rPr lang="en-US" sz="1700" dirty="0">
                <a:solidFill>
                  <a:srgbClr val="9BA1A5"/>
                </a:solidFill>
                <a:latin typeface="Inter" pitchFamily="34" charset="0"/>
                <a:ea typeface="Inter" pitchFamily="34" charset="-122"/>
                <a:cs typeface="Inter" pitchFamily="34" charset="-120"/>
              </a:rPr>
              <a:t>Partner, Corporate</a:t>
            </a:r>
            <a:endParaRPr lang="en-US" sz="1700" dirty="0"/>
          </a:p>
        </p:txBody>
      </p:sp>
      <p:pic>
        <p:nvPicPr>
          <p:cNvPr id="7" name="Image 1" descr="C:\Code\Work\startuplab-partner-presentation\pptx-templates\media\portrait-2.jpg">    </p:cNvPr>
          <p:cNvPicPr>
            <a:picLocks noChangeAspect="1"/>
          </p:cNvPicPr>
          <p:nvPr/>
        </p:nvPicPr>
        <p:blipFill>
          <a:blip r:embed="rId2"/>
          <a:srcRect l="0" r="0" t="0" b="0"/>
          <a:stretch/>
        </p:blipFill>
        <p:spPr>
          <a:xfrm>
            <a:off x="3535528" y="2377440"/>
            <a:ext cx="2240280" cy="2240280"/>
          </a:xfrm>
          <a:prstGeom prst="ellipse">
            <a:avLst/>
          </a:prstGeom>
        </p:spPr>
      </p:pic>
      <p:sp>
        <p:nvSpPr>
          <p:cNvPr id="8" name="Text 4"/>
          <p:cNvSpPr/>
          <p:nvPr/>
        </p:nvSpPr>
        <p:spPr>
          <a:xfrm>
            <a:off x="3306928" y="4837176"/>
            <a:ext cx="2697480" cy="365760"/>
          </a:xfrm>
          <a:prstGeom prst="rect">
            <a:avLst/>
          </a:prstGeom>
          <a:noFill/>
          <a:ln/>
        </p:spPr>
        <p:txBody>
          <a:bodyPr wrap="square" lIns="0" tIns="0" rIns="0" bIns="0" rtlCol="0" anchor="ctr"/>
          <a:lstStyle/>
          <a:p>
            <a:pPr algn="ctr" indent="0" marL="0">
              <a:buNone/>
            </a:pPr>
            <a:r>
              <a:rPr lang="en-US" sz="2100" b="1" dirty="0">
                <a:solidFill>
                  <a:srgbClr val="131415"/>
                </a:solidFill>
                <a:latin typeface="Replica LL TT" pitchFamily="34" charset="0"/>
                <a:ea typeface="Replica LL TT" pitchFamily="34" charset="-122"/>
                <a:cs typeface="Replica LL TT" pitchFamily="34" charset="-120"/>
              </a:rPr>
              <a:t>Anniken Fjelberg</a:t>
            </a:r>
            <a:endParaRPr lang="en-US" sz="2100" dirty="0"/>
          </a:p>
        </p:txBody>
      </p:sp>
      <p:sp>
        <p:nvSpPr>
          <p:cNvPr id="9" name="Text 5"/>
          <p:cNvSpPr/>
          <p:nvPr/>
        </p:nvSpPr>
        <p:spPr>
          <a:xfrm>
            <a:off x="3306928" y="5202936"/>
            <a:ext cx="2697480" cy="347472"/>
          </a:xfrm>
          <a:prstGeom prst="rect">
            <a:avLst/>
          </a:prstGeom>
          <a:noFill/>
          <a:ln/>
        </p:spPr>
        <p:txBody>
          <a:bodyPr wrap="square" lIns="0" tIns="0" rIns="0" bIns="0" rtlCol="0" anchor="ctr"/>
          <a:lstStyle/>
          <a:p>
            <a:pPr algn="ctr" indent="0" marL="0">
              <a:buNone/>
            </a:pPr>
            <a:r>
              <a:rPr lang="en-US" sz="1700" dirty="0">
                <a:solidFill>
                  <a:srgbClr val="9BA1A5"/>
                </a:solidFill>
                <a:latin typeface="Inter" pitchFamily="34" charset="0"/>
                <a:ea typeface="Inter" pitchFamily="34" charset="-122"/>
                <a:cs typeface="Inter" pitchFamily="34" charset="-120"/>
              </a:rPr>
              <a:t>Partner</a:t>
            </a:r>
            <a:endParaRPr lang="en-US" sz="1700" dirty="0"/>
          </a:p>
        </p:txBody>
      </p:sp>
      <p:pic>
        <p:nvPicPr>
          <p:cNvPr id="10" name="Image 2" descr="C:\Code\Work\startuplab-partner-presentation\pptx-templates\media\portrait-3.jpg">    </p:cNvPr>
          <p:cNvPicPr>
            <a:picLocks noChangeAspect="1"/>
          </p:cNvPicPr>
          <p:nvPr/>
        </p:nvPicPr>
        <p:blipFill>
          <a:blip r:embed="rId3"/>
          <a:srcRect l="0" r="0" t="0" b="0"/>
          <a:stretch/>
        </p:blipFill>
        <p:spPr>
          <a:xfrm>
            <a:off x="6415888" y="2377440"/>
            <a:ext cx="2240280" cy="2240280"/>
          </a:xfrm>
          <a:prstGeom prst="ellipse">
            <a:avLst/>
          </a:prstGeom>
        </p:spPr>
      </p:pic>
      <p:sp>
        <p:nvSpPr>
          <p:cNvPr id="11" name="Text 6"/>
          <p:cNvSpPr/>
          <p:nvPr/>
        </p:nvSpPr>
        <p:spPr>
          <a:xfrm>
            <a:off x="6187288" y="4837176"/>
            <a:ext cx="2697480" cy="365760"/>
          </a:xfrm>
          <a:prstGeom prst="rect">
            <a:avLst/>
          </a:prstGeom>
          <a:noFill/>
          <a:ln/>
        </p:spPr>
        <p:txBody>
          <a:bodyPr wrap="square" lIns="0" tIns="0" rIns="0" bIns="0" rtlCol="0" anchor="ctr"/>
          <a:lstStyle/>
          <a:p>
            <a:pPr algn="ctr" indent="0" marL="0">
              <a:buNone/>
            </a:pPr>
            <a:r>
              <a:rPr lang="en-US" sz="2100" b="1" dirty="0">
                <a:solidFill>
                  <a:srgbClr val="131415"/>
                </a:solidFill>
                <a:latin typeface="Replica LL TT" pitchFamily="34" charset="0"/>
                <a:ea typeface="Replica LL TT" pitchFamily="34" charset="-122"/>
                <a:cs typeface="Replica LL TT" pitchFamily="34" charset="-120"/>
              </a:rPr>
              <a:t>Ola Borten Moe</a:t>
            </a:r>
            <a:endParaRPr lang="en-US" sz="2100" dirty="0"/>
          </a:p>
        </p:txBody>
      </p:sp>
      <p:sp>
        <p:nvSpPr>
          <p:cNvPr id="12" name="Text 7"/>
          <p:cNvSpPr/>
          <p:nvPr/>
        </p:nvSpPr>
        <p:spPr>
          <a:xfrm>
            <a:off x="6187288" y="5202936"/>
            <a:ext cx="2697480" cy="347472"/>
          </a:xfrm>
          <a:prstGeom prst="rect">
            <a:avLst/>
          </a:prstGeom>
          <a:noFill/>
          <a:ln/>
        </p:spPr>
        <p:txBody>
          <a:bodyPr wrap="square" lIns="0" tIns="0" rIns="0" bIns="0" rtlCol="0" anchor="ctr"/>
          <a:lstStyle/>
          <a:p>
            <a:pPr algn="ctr" indent="0" marL="0">
              <a:buNone/>
            </a:pPr>
            <a:r>
              <a:rPr lang="en-US" sz="1700" dirty="0">
                <a:solidFill>
                  <a:srgbClr val="9BA1A5"/>
                </a:solidFill>
                <a:latin typeface="Inter" pitchFamily="34" charset="0"/>
                <a:ea typeface="Inter" pitchFamily="34" charset="-122"/>
                <a:cs typeface="Inter" pitchFamily="34" charset="-120"/>
              </a:rPr>
              <a:t>Head of Programs</a:t>
            </a:r>
            <a:endParaRPr lang="en-US" sz="1700" dirty="0"/>
          </a:p>
        </p:txBody>
      </p:sp>
      <p:sp>
        <p:nvSpPr>
          <p:cNvPr id="13" name="Shape 8"/>
          <p:cNvSpPr/>
          <p:nvPr/>
        </p:nvSpPr>
        <p:spPr>
          <a:xfrm>
            <a:off x="9296248" y="2377440"/>
            <a:ext cx="2240280" cy="2240280"/>
          </a:xfrm>
          <a:prstGeom prst="ellipse">
            <a:avLst/>
          </a:prstGeom>
          <a:solidFill>
            <a:srgbClr val="F0F0F0"/>
          </a:solidFill>
          <a:ln w="12700">
            <a:solidFill>
              <a:srgbClr val="CBD1D5"/>
            </a:solidFill>
            <a:prstDash val="solid"/>
          </a:ln>
        </p:spPr>
      </p:sp>
      <p:sp>
        <p:nvSpPr>
          <p:cNvPr id="14" name="Text 9"/>
          <p:cNvSpPr/>
          <p:nvPr/>
        </p:nvSpPr>
        <p:spPr>
          <a:xfrm>
            <a:off x="9296248" y="3086100"/>
            <a:ext cx="2240280" cy="822960"/>
          </a:xfrm>
          <a:prstGeom prst="rect">
            <a:avLst/>
          </a:prstGeom>
          <a:noFill/>
          <a:ln/>
        </p:spPr>
        <p:txBody>
          <a:bodyPr wrap="square" lIns="0" tIns="0" rIns="0" bIns="0" rtlCol="0" anchor="ctr"/>
          <a:lstStyle/>
          <a:p>
            <a:pPr algn="ctr" indent="0" marL="0">
              <a:lnSpc>
                <a:spcPct val="120000"/>
              </a:lnSpc>
              <a:buNone/>
            </a:pPr>
            <a:r>
              <a:rPr lang="en-US" sz="1600" dirty="0">
                <a:solidFill>
                  <a:srgbClr val="9BA1A5"/>
                </a:solidFill>
                <a:latin typeface="Inter" pitchFamily="34" charset="0"/>
                <a:ea typeface="Inter" pitchFamily="34" charset="-122"/>
                <a:cs typeface="Inter" pitchFamily="34" charset="-120"/>
              </a:rPr>
              <a:t>Sett inn</a:t>
            </a:r>
            <a:endParaRPr lang="en-US" sz="1600" dirty="0"/>
          </a:p>
          <a:p>
            <a:pPr algn="ctr" indent="0" marL="0">
              <a:lnSpc>
                <a:spcPct val="120000"/>
              </a:lnSpc>
              <a:buNone/>
            </a:pPr>
            <a:r>
              <a:rPr lang="en-US" sz="1600" dirty="0">
                <a:solidFill>
                  <a:srgbClr val="9BA1A5"/>
                </a:solidFill>
                <a:latin typeface="Inter" pitchFamily="34" charset="0"/>
                <a:ea typeface="Inter" pitchFamily="34" charset="-122"/>
                <a:cs typeface="Inter" pitchFamily="34" charset="-120"/>
              </a:rPr>
              <a:t>portrett</a:t>
            </a:r>
            <a:endParaRPr lang="en-US" sz="1600" dirty="0"/>
          </a:p>
        </p:txBody>
      </p:sp>
      <p:sp>
        <p:nvSpPr>
          <p:cNvPr id="15" name="Text 10"/>
          <p:cNvSpPr/>
          <p:nvPr/>
        </p:nvSpPr>
        <p:spPr>
          <a:xfrm>
            <a:off x="9067648" y="4837176"/>
            <a:ext cx="2697480" cy="365760"/>
          </a:xfrm>
          <a:prstGeom prst="rect">
            <a:avLst/>
          </a:prstGeom>
          <a:noFill/>
          <a:ln/>
        </p:spPr>
        <p:txBody>
          <a:bodyPr wrap="square" lIns="0" tIns="0" rIns="0" bIns="0" rtlCol="0" anchor="ctr"/>
          <a:lstStyle/>
          <a:p>
            <a:pPr algn="ctr" indent="0" marL="0">
              <a:buNone/>
            </a:pPr>
            <a:r>
              <a:rPr lang="en-US" sz="2100" b="1" dirty="0">
                <a:solidFill>
                  <a:srgbClr val="131415"/>
                </a:solidFill>
                <a:latin typeface="Replica LL TT" pitchFamily="34" charset="0"/>
                <a:ea typeface="Replica LL TT" pitchFamily="34" charset="-122"/>
                <a:cs typeface="Replica LL TT" pitchFamily="34" charset="-120"/>
              </a:rPr>
              <a:t>Navn Navnesen</a:t>
            </a:r>
            <a:endParaRPr lang="en-US" sz="2100" dirty="0"/>
          </a:p>
        </p:txBody>
      </p:sp>
      <p:sp>
        <p:nvSpPr>
          <p:cNvPr id="16" name="Text 11"/>
          <p:cNvSpPr/>
          <p:nvPr/>
        </p:nvSpPr>
        <p:spPr>
          <a:xfrm>
            <a:off x="9067648" y="5202936"/>
            <a:ext cx="2697480" cy="347472"/>
          </a:xfrm>
          <a:prstGeom prst="rect">
            <a:avLst/>
          </a:prstGeom>
          <a:noFill/>
          <a:ln/>
        </p:spPr>
        <p:txBody>
          <a:bodyPr wrap="square" lIns="0" tIns="0" rIns="0" bIns="0" rtlCol="0" anchor="ctr"/>
          <a:lstStyle/>
          <a:p>
            <a:pPr algn="ctr" indent="0" marL="0">
              <a:buNone/>
            </a:pPr>
            <a:r>
              <a:rPr lang="en-US" sz="1700" dirty="0">
                <a:solidFill>
                  <a:srgbClr val="9BA1A5"/>
                </a:solidFill>
                <a:latin typeface="Inter" pitchFamily="34" charset="0"/>
                <a:ea typeface="Inter" pitchFamily="34" charset="-122"/>
                <a:cs typeface="Inter" pitchFamily="34" charset="-120"/>
              </a:rPr>
              <a:t>Rolle her</a:t>
            </a:r>
            <a:endParaRPr lang="en-US" sz="1700" dirty="0"/>
          </a:p>
        </p:txBody>
      </p:sp>
      <p:pic>
        <p:nvPicPr>
          <p:cNvPr id="17" name="Image 3" descr="C:\Code\Work\startuplab-partner-presentation\brand-profile\logo\png\SL_signature_red.png">    </p:cNvPr>
          <p:cNvPicPr>
            <a:picLocks noChangeAspect="1"/>
          </p:cNvPicPr>
          <p:nvPr/>
        </p:nvPicPr>
        <p:blipFill>
          <a:blip r:embed="rId4"/>
          <a:stretch>
            <a:fillRect/>
          </a:stretch>
        </p:blipFill>
        <p:spPr>
          <a:xfrm>
            <a:off x="777240" y="6035040"/>
            <a:ext cx="731056" cy="384048"/>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50505"/>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00000"/>
          </a:solidFill>
          <a:ln/>
        </p:spPr>
      </p:sp>
      <p:sp>
        <p:nvSpPr>
          <p:cNvPr id="3" name="Shape 1"/>
          <p:cNvSpPr/>
          <p:nvPr/>
        </p:nvSpPr>
        <p:spPr>
          <a:xfrm>
            <a:off x="5592928" y="2926080"/>
            <a:ext cx="1005840" cy="1005840"/>
          </a:xfrm>
          <a:prstGeom prst="ellipse">
            <a:avLst/>
          </a:prstGeom>
          <a:solidFill>
            <a:srgbClr val="FF3333"/>
          </a:solidFill>
          <a:ln/>
        </p:spPr>
      </p:sp>
      <p:sp>
        <p:nvSpPr>
          <p:cNvPr id="4" name="Shape 2"/>
          <p:cNvSpPr/>
          <p:nvPr/>
        </p:nvSpPr>
        <p:spPr>
          <a:xfrm rot="5400000">
            <a:off x="5940400" y="3218688"/>
            <a:ext cx="384048" cy="420624"/>
          </a:xfrm>
          <a:prstGeom prst="triangle">
            <a:avLst/>
          </a:prstGeom>
          <a:solidFill>
            <a:srgbClr val="FFFFFF"/>
          </a:solidFill>
          <a:ln/>
        </p:spPr>
      </p:sp>
      <p:sp>
        <p:nvSpPr>
          <p:cNvPr id="5" name="Text 3"/>
          <p:cNvSpPr/>
          <p:nvPr/>
        </p:nvSpPr>
        <p:spPr>
          <a:xfrm>
            <a:off x="777240" y="713232"/>
            <a:ext cx="8229600" cy="292608"/>
          </a:xfrm>
          <a:prstGeom prst="rect">
            <a:avLst/>
          </a:prstGeom>
          <a:noFill/>
          <a:ln/>
        </p:spPr>
        <p:txBody>
          <a:bodyPr wrap="square" lIns="0" tIns="0" rIns="0" bIns="0" rtlCol="0" anchor="ctr"/>
          <a:lstStyle/>
          <a:p>
            <a:pPr indent="0" marL="0">
              <a:buNone/>
            </a:pPr>
            <a:r>
              <a:rPr lang="en-US" sz="1500" b="1" spc="250" kern="0" dirty="0">
                <a:solidFill>
                  <a:srgbClr val="FF3333"/>
                </a:solidFill>
                <a:latin typeface="Inter" pitchFamily="34" charset="0"/>
                <a:ea typeface="Inter" pitchFamily="34" charset="-122"/>
                <a:cs typeface="Inter" pitchFamily="34" charset="-120"/>
              </a:rPr>
              <a:t>SE FILMEN</a:t>
            </a:r>
            <a:endParaRPr lang="en-US" sz="1500" dirty="0"/>
          </a:p>
        </p:txBody>
      </p:sp>
      <p:sp>
        <p:nvSpPr>
          <p:cNvPr id="6" name="Text 4"/>
          <p:cNvSpPr/>
          <p:nvPr/>
        </p:nvSpPr>
        <p:spPr>
          <a:xfrm>
            <a:off x="777240" y="1078992"/>
            <a:ext cx="9144000" cy="731520"/>
          </a:xfrm>
          <a:prstGeom prst="rect">
            <a:avLst/>
          </a:prstGeom>
          <a:noFill/>
          <a:ln/>
        </p:spPr>
        <p:txBody>
          <a:bodyPr wrap="square" lIns="0" tIns="0" rIns="0" bIns="0" rtlCol="0" anchor="t"/>
          <a:lstStyle/>
          <a:p>
            <a:pPr indent="0" marL="0">
              <a:buNone/>
            </a:pPr>
            <a:r>
              <a:rPr lang="en-US" sz="4000" b="1" dirty="0">
                <a:solidFill>
                  <a:srgbClr val="FFFFFF"/>
                </a:solidFill>
                <a:latin typeface="Replica LL TT" pitchFamily="34" charset="0"/>
                <a:ea typeface="Replica LL TT" pitchFamily="34" charset="-122"/>
                <a:cs typeface="Replica LL TT" pitchFamily="34" charset="-120"/>
              </a:rPr>
              <a:t>Året i </a:t>
            </a:r>
            <a:pPr indent="0" marL="0">
              <a:buNone/>
            </a:pPr>
            <a:r>
              <a:rPr lang="en-US" sz="4000" b="1" dirty="0">
                <a:solidFill>
                  <a:srgbClr val="FF3333"/>
                </a:solidFill>
                <a:latin typeface="Replica LL TT" pitchFamily="34" charset="0"/>
                <a:ea typeface="Replica LL TT" pitchFamily="34" charset="-122"/>
                <a:cs typeface="Replica LL TT" pitchFamily="34" charset="-120"/>
              </a:rPr>
              <a:t>bevegelse</a:t>
            </a:r>
            <a:endParaRPr lang="en-US" sz="4000" dirty="0"/>
          </a:p>
        </p:txBody>
      </p:sp>
      <p:pic>
        <p:nvPicPr>
          <p:cNvPr id="7" name="Image 0" descr="C:\Code\Work\startuplab-partner-presentation\brand-profile\logo\png\SL_signature_white.png">    </p:cNvPr>
          <p:cNvPicPr>
            <a:picLocks noChangeAspect="1"/>
          </p:cNvPicPr>
          <p:nvPr/>
        </p:nvPicPr>
        <p:blipFill>
          <a:blip r:embed="rId1"/>
          <a:stretch>
            <a:fillRect/>
          </a:stretch>
        </p:blipFill>
        <p:spPr>
          <a:xfrm>
            <a:off x="777240" y="6035040"/>
            <a:ext cx="731056" cy="384048"/>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3333"/>
        </a:solidFill>
      </p:bgPr>
    </p:bg>
    <p:spTree>
      <p:nvGrpSpPr>
        <p:cNvPr id="1" name=""/>
        <p:cNvGrpSpPr/>
        <p:nvPr/>
      </p:nvGrpSpPr>
      <p:grpSpPr>
        <a:xfrm>
          <a:off x="0" y="0"/>
          <a:ext cx="0" cy="0"/>
          <a:chOff x="0" y="0"/>
          <a:chExt cx="0" cy="0"/>
        </a:xfrm>
      </p:grpSpPr>
      <p:pic>
        <p:nvPicPr>
          <p:cNvPr id="2" name="Image 0" descr="C:\Code\Work\startuplab-partner-presentation\brand-profile\logo\png\SL_signature_white.png">    </p:cNvPr>
          <p:cNvPicPr>
            <a:picLocks noChangeAspect="1"/>
          </p:cNvPicPr>
          <p:nvPr/>
        </p:nvPicPr>
        <p:blipFill>
          <a:blip r:embed="rId1"/>
          <a:stretch>
            <a:fillRect/>
          </a:stretch>
        </p:blipFill>
        <p:spPr>
          <a:xfrm>
            <a:off x="777240" y="2331720"/>
            <a:ext cx="4206240" cy="2209678"/>
          </a:xfrm>
          <a:prstGeom prst="rect">
            <a:avLst/>
          </a:prstGeom>
        </p:spPr>
      </p:pic>
      <p:sp>
        <p:nvSpPr>
          <p:cNvPr id="3" name="Text 0"/>
          <p:cNvSpPr/>
          <p:nvPr/>
        </p:nvSpPr>
        <p:spPr>
          <a:xfrm>
            <a:off x="777240" y="4160520"/>
            <a:ext cx="9144000" cy="548640"/>
          </a:xfrm>
          <a:prstGeom prst="rect">
            <a:avLst/>
          </a:prstGeom>
          <a:noFill/>
          <a:ln/>
        </p:spPr>
        <p:txBody>
          <a:bodyPr wrap="square" lIns="0" tIns="0" rIns="0" bIns="0" rtlCol="0" anchor="ctr"/>
          <a:lstStyle/>
          <a:p>
            <a:pPr indent="0" marL="0">
              <a:buNone/>
            </a:pPr>
            <a:r>
              <a:rPr lang="en-US" sz="2800" dirty="0">
                <a:solidFill>
                  <a:srgbClr val="FFFFFF"/>
                </a:solidFill>
                <a:latin typeface="Replica LL TT" pitchFamily="34" charset="0"/>
                <a:ea typeface="Replica LL TT" pitchFamily="34" charset="-122"/>
                <a:cs typeface="Replica LL TT" pitchFamily="34" charset="-120"/>
              </a:rPr>
              <a:t>Empowering Tech Founders to Go Further</a:t>
            </a:r>
            <a:endParaRPr lang="en-US" sz="2800" dirty="0"/>
          </a:p>
        </p:txBody>
      </p:sp>
      <p:sp>
        <p:nvSpPr>
          <p:cNvPr id="4" name="Text 1"/>
          <p:cNvSpPr/>
          <p:nvPr/>
        </p:nvSpPr>
        <p:spPr>
          <a:xfrm>
            <a:off x="777240" y="4846320"/>
            <a:ext cx="9144000" cy="411480"/>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startuplab.no</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Startuplab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Startuplab — slidemaler</dc:title>
  <dc:subject>PptxGenJS Presentation</dc:subject>
  <dc:creator>Startuplab</dc:creator>
  <cp:lastModifiedBy>Startuplab</cp:lastModifiedBy>
  <cp:revision>1</cp:revision>
  <dcterms:created xsi:type="dcterms:W3CDTF">2026-08-19T23:33:37Z</dcterms:created>
  <dcterms:modified xsi:type="dcterms:W3CDTF">2026-08-19T23:33:37Z</dcterms:modified>
</cp:coreProperties>
</file>